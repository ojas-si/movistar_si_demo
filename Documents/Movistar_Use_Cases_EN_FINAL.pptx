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Title. Frame it immediately as use-case led: three concrete things we can do for Telefónica, each with the exact data fields it needs and how Structural Intelligence solves it. Depth over breadth.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Shape 2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one concept the room must accept before the use cases: a customer's experience is a property of the whole path, so a fault shows up as a shape on the graph. A home fault is alone; an access fault is a cluster on one node; a core fault is nodes along a path; a content fault is one source across many nodes. Reading that shape is how we localize. Every use case is an application of this.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0" name="Shape 2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data foundation. Walk the layers quickly. Set-top box, home/router and customer/household are available today; topology, access, core and CDN/platform need integration with Telefónica. Each use case names the subset it draws on — this is the data-assumptions discipline from the MoM (Suman's action item: define data requirements).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3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9" name="Shape 3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Graph construction &amp; service-path data — the structural centrepiece, added after a network-architect review. The point to land: events tell us what happened, but PATH IDENTITY and explicit RELATIONSHIPS tell us what 2,000 affected customers share. Walk the service path (STB→Household→ONT→OLT→Aggregation→BNG/Core→CDN Edge→Content). Then the two field cards: graph construction and path identity. Without these you have labels, not a graph — this is what a traditional observability platform cannot do.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8" name="Shape 4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UC1 overview — network nodes. The problem: node faults surface as scattered pixelation/freeze complaints and wrong-place dispatches. The promise: detect the early structural signature, name the exact node, recommend the fix before the complaint wave. The next two slides are the data depth.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Shape 4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6" name="Shape 4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UC1 mechanism. Four steps: stream and baseline; find the shared structure (co-movement on one node/path = signature); predict the spread before customers notice; prescribe the action naming the node and cause. Output is the concrete deliverable an operator sees.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4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5" name="Shape 4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UC2 overview — individual customers. The problem: a customer is only visible when they call, after days of silent decline. The promise: score each household against its own baseline, detect early, recommend the specific per-customer action.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5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3" name="Shape 5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UC2 mechanism. Baseline each household; confirm it's the home by checking neighbours on the node; predict the tipping point into churn risk; prescribe per-customer. Output: a specific household, a time-to-churn estimate, and an action that often avoids a truck roll.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Shape 5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2" name="Shape 5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UC3 overview — invisible faults. Directly answers Future Space's point about problems that persist even after a box swap, and the MoM tension that pixelation may have no label. The promise: reason on structure and behaviour, not a single labelled error.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hape 6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0" name="Shape 6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UC3 mechanism. Learn normal behaviour rather than waiting for a known error code; test against the box (same signature on a new STB exonerates the box); localize the real cause via path identity; surface with a certified diagnosis. Output: recurring impairment persisting across STB replacement — stop dispatching box swaps.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1" name="Shape 6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Close. Be explicit and honest about data. Deliverable today: STB, home/router, customer mapping — enough to start UC2 and UC3 at their first level. Unlocked by integration: the graph/path fields and topology (the UC1 core), then access/core/CDN/encoder. The concrete next step is a data-fields workshop with Telefónica to confirm exactly which fields exist per layer, with special focus on path identity and relationship fields.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8978" y="6232199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1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1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7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1463038" y="1188719"/>
            <a:ext cx="1280163" cy="64008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2743199" y="1188719"/>
            <a:ext cx="1280162" cy="82296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1463038" y="1828799"/>
            <a:ext cx="731523" cy="128016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2194560" y="3108960"/>
            <a:ext cx="1371602" cy="18288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3566159" y="2011678"/>
            <a:ext cx="457202" cy="128016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9143999" y="1371599"/>
            <a:ext cx="1371602" cy="82296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>
            <a:off x="8595359" y="1371599"/>
            <a:ext cx="548642" cy="1371603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" name="Shape 7"/>
          <p:cNvSpPr/>
          <p:nvPr/>
        </p:nvSpPr>
        <p:spPr>
          <a:xfrm>
            <a:off x="8595359" y="2743199"/>
            <a:ext cx="1463042" cy="73152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" name="Shape 8"/>
          <p:cNvSpPr/>
          <p:nvPr/>
        </p:nvSpPr>
        <p:spPr>
          <a:xfrm>
            <a:off x="10058399" y="2194560"/>
            <a:ext cx="457202" cy="128016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" name="Shape 9"/>
          <p:cNvSpPr/>
          <p:nvPr/>
        </p:nvSpPr>
        <p:spPr>
          <a:xfrm>
            <a:off x="9144000" y="1280160"/>
            <a:ext cx="2011680" cy="9144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" name="Shape 10"/>
          <p:cNvSpPr/>
          <p:nvPr/>
        </p:nvSpPr>
        <p:spPr>
          <a:xfrm>
            <a:off x="4846318" y="5120640"/>
            <a:ext cx="1280162" cy="54864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" name="Shape 11"/>
          <p:cNvSpPr/>
          <p:nvPr/>
        </p:nvSpPr>
        <p:spPr>
          <a:xfrm>
            <a:off x="6126479" y="5120640"/>
            <a:ext cx="1280162" cy="36576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" name="Shape 12"/>
          <p:cNvSpPr/>
          <p:nvPr/>
        </p:nvSpPr>
        <p:spPr>
          <a:xfrm>
            <a:off x="3566159" y="3291840"/>
            <a:ext cx="2560322" cy="1828802"/>
          </a:xfrm>
          <a:prstGeom prst="line">
            <a:avLst/>
          </a:prstGeom>
          <a:ln w="17780">
            <a:solidFill>
              <a:srgbClr val="1C3D78">
                <a:alpha val="64999"/>
              </a:srgbClr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" name="Shape 13"/>
          <p:cNvSpPr/>
          <p:nvPr/>
        </p:nvSpPr>
        <p:spPr>
          <a:xfrm>
            <a:off x="1403602" y="1769364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" name="Shape 14"/>
          <p:cNvSpPr/>
          <p:nvPr/>
        </p:nvSpPr>
        <p:spPr>
          <a:xfrm>
            <a:off x="2683764" y="1129283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" name="Shape 15"/>
          <p:cNvSpPr/>
          <p:nvPr/>
        </p:nvSpPr>
        <p:spPr>
          <a:xfrm>
            <a:off x="3963923" y="1952244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" name="Shape 16"/>
          <p:cNvSpPr/>
          <p:nvPr/>
        </p:nvSpPr>
        <p:spPr>
          <a:xfrm>
            <a:off x="2135122" y="3049522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" name="Shape 17"/>
          <p:cNvSpPr/>
          <p:nvPr/>
        </p:nvSpPr>
        <p:spPr>
          <a:xfrm>
            <a:off x="3506723" y="3232404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" name="Shape 18"/>
          <p:cNvSpPr/>
          <p:nvPr/>
        </p:nvSpPr>
        <p:spPr>
          <a:xfrm>
            <a:off x="9084564" y="1312163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" name="Shape 19"/>
          <p:cNvSpPr/>
          <p:nvPr/>
        </p:nvSpPr>
        <p:spPr>
          <a:xfrm>
            <a:off x="10456164" y="2135122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Shape 20"/>
          <p:cNvSpPr/>
          <p:nvPr/>
        </p:nvSpPr>
        <p:spPr>
          <a:xfrm>
            <a:off x="8535923" y="2683764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" name="Shape 21"/>
          <p:cNvSpPr/>
          <p:nvPr/>
        </p:nvSpPr>
        <p:spPr>
          <a:xfrm>
            <a:off x="9998964" y="3415284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" name="Shape 22"/>
          <p:cNvSpPr/>
          <p:nvPr/>
        </p:nvSpPr>
        <p:spPr>
          <a:xfrm>
            <a:off x="11096242" y="1220724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" name="Shape 23"/>
          <p:cNvSpPr/>
          <p:nvPr/>
        </p:nvSpPr>
        <p:spPr>
          <a:xfrm>
            <a:off x="6067044" y="5061203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" name="Shape 24"/>
          <p:cNvSpPr/>
          <p:nvPr/>
        </p:nvSpPr>
        <p:spPr>
          <a:xfrm>
            <a:off x="4786884" y="5609844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" name="Shape 25"/>
          <p:cNvSpPr/>
          <p:nvPr/>
        </p:nvSpPr>
        <p:spPr>
          <a:xfrm>
            <a:off x="7347204" y="5426964"/>
            <a:ext cx="118875" cy="118875"/>
          </a:xfrm>
          <a:prstGeom prst="ellipse">
            <a:avLst/>
          </a:prstGeom>
          <a:solidFill>
            <a:srgbClr val="14326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7240" y="868680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47" name="Text 26"/>
          <p:cNvSpPr txBox="1"/>
          <p:nvPr/>
        </p:nvSpPr>
        <p:spPr>
          <a:xfrm>
            <a:off x="1307590" y="987753"/>
            <a:ext cx="2926084" cy="219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700">
                <a:solidFill>
                  <a:srgbClr val="FFFFFF"/>
                </a:solidFill>
              </a:defRPr>
            </a:pPr>
            <a:r>
              <a:t>Future</a:t>
            </a:r>
            <a:r>
              <a:rPr b="0">
                <a:solidFill>
                  <a:srgbClr val="BBD2FF"/>
                </a:solidFill>
              </a:rPr>
              <a:t>Space</a:t>
            </a:r>
          </a:p>
        </p:txBody>
      </p:sp>
      <p:sp>
        <p:nvSpPr>
          <p:cNvPr id="48" name="Text 27"/>
          <p:cNvSpPr txBox="1"/>
          <p:nvPr/>
        </p:nvSpPr>
        <p:spPr>
          <a:xfrm>
            <a:off x="731519" y="2324735"/>
            <a:ext cx="10698482" cy="654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5000"/>
              </a:lnSpc>
              <a:defRPr b="1" sz="4600">
                <a:solidFill>
                  <a:srgbClr val="FFFFFF"/>
                </a:solidFill>
              </a:defRPr>
            </a:lvl1pPr>
          </a:lstStyle>
          <a:p>
            <a:pPr/>
            <a:r>
              <a:t>Movistar Service Intelligence</a:t>
            </a:r>
          </a:p>
        </p:txBody>
      </p:sp>
      <p:sp>
        <p:nvSpPr>
          <p:cNvPr id="49" name="Text 28"/>
          <p:cNvSpPr txBox="1"/>
          <p:nvPr/>
        </p:nvSpPr>
        <p:spPr>
          <a:xfrm>
            <a:off x="749808" y="3275462"/>
            <a:ext cx="10515601" cy="398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65FF"/>
                </a:solidFill>
              </a:defRPr>
            </a:lvl1pPr>
          </a:lstStyle>
          <a:p>
            <a:pPr/>
            <a:r>
              <a:t>Three use cases, in depth</a:t>
            </a:r>
          </a:p>
        </p:txBody>
      </p:sp>
      <p:sp>
        <p:nvSpPr>
          <p:cNvPr id="50" name="Shape 29"/>
          <p:cNvSpPr/>
          <p:nvPr/>
        </p:nvSpPr>
        <p:spPr>
          <a:xfrm>
            <a:off x="804671" y="3977640"/>
            <a:ext cx="3840483" cy="2"/>
          </a:xfrm>
          <a:prstGeom prst="line">
            <a:avLst/>
          </a:prstGeom>
          <a:ln w="25400">
            <a:solidFill>
              <a:srgbClr val="1265FF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" name="Text 30"/>
          <p:cNvSpPr txBox="1"/>
          <p:nvPr/>
        </p:nvSpPr>
        <p:spPr>
          <a:xfrm>
            <a:off x="777240" y="4342446"/>
            <a:ext cx="10058401" cy="550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200"/>
              </a:lnSpc>
              <a:defRPr sz="1500">
                <a:solidFill>
                  <a:srgbClr val="D7E2F4"/>
                </a:solidFill>
              </a:defRPr>
            </a:lvl1pPr>
          </a:lstStyle>
          <a:p>
            <a:pPr/>
            <a:r>
              <a:t>Predicting node failures · predicting per-customer degradation · detecting faults today's tools miss — with the data each one needs, and how Structural Intelligence solves it.</a:t>
            </a:r>
          </a:p>
        </p:txBody>
      </p:sp>
      <p:sp>
        <p:nvSpPr>
          <p:cNvPr id="52" name="Text 31"/>
          <p:cNvSpPr txBox="1"/>
          <p:nvPr/>
        </p:nvSpPr>
        <p:spPr>
          <a:xfrm>
            <a:off x="777238" y="6423704"/>
            <a:ext cx="1078992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E8FC9"/>
                </a:solidFill>
              </a:defRPr>
            </a:lvl1pPr>
          </a:lstStyle>
          <a:p>
            <a:pPr/>
            <a:r>
              <a:t>Prepared for the Telefónica engagement  ·  Future Space SA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" name="TextBox 2"/>
          <p:cNvSpPr txBox="1"/>
          <p:nvPr/>
        </p:nvSpPr>
        <p:spPr>
          <a:xfrm>
            <a:off x="502919" y="310895"/>
            <a:ext cx="111556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STRUCTURAL INTELLIGENCE</a:t>
            </a:r>
          </a:p>
        </p:txBody>
      </p:sp>
      <p:sp>
        <p:nvSpPr>
          <p:cNvPr id="58" name="TextBox 3"/>
          <p:cNvSpPr txBox="1"/>
          <p:nvPr/>
        </p:nvSpPr>
        <p:spPr>
          <a:xfrm>
            <a:off x="502919" y="566927"/>
            <a:ext cx="1115568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0A275C"/>
                </a:solidFill>
              </a:defRPr>
            </a:lvl1pPr>
          </a:lstStyle>
          <a:p>
            <a:pPr/>
            <a:r>
              <a:t>What it is — and why it's different</a:t>
            </a:r>
          </a:p>
        </p:txBody>
      </p:sp>
      <p:sp>
        <p:nvSpPr>
          <p:cNvPr id="59" name="Rounded Rectangle 4"/>
          <p:cNvSpPr/>
          <p:nvPr/>
        </p:nvSpPr>
        <p:spPr>
          <a:xfrm>
            <a:off x="502919" y="1417319"/>
            <a:ext cx="11183113" cy="13716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" name="TextBox 5"/>
          <p:cNvSpPr txBox="1"/>
          <p:nvPr/>
        </p:nvSpPr>
        <p:spPr>
          <a:xfrm>
            <a:off x="822960" y="1936426"/>
            <a:ext cx="10515601" cy="369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0A275C"/>
                </a:solidFill>
              </a:defRPr>
            </a:pPr>
            <a:r>
              <a:t>An AI that reasons on </a:t>
            </a:r>
            <a:r>
              <a:rPr b="1">
                <a:solidFill>
                  <a:srgbClr val="1265FF"/>
                </a:solidFill>
              </a:rPr>
              <a:t>physical rules and network topology</a:t>
            </a:r>
            <a:r>
              <a:t>, not on large labelled histories. </a:t>
            </a:r>
            <a:r>
              <a:rPr b="1"/>
              <a:t>It reads a fault as a “shape” on the service graph</a:t>
            </a:r>
            <a:r>
              <a:t>, so it learns from little data and is ideal for critical infrastructures where data is scarce or sensitive.</a:t>
            </a:r>
          </a:p>
        </p:txBody>
      </p:sp>
      <p:sp>
        <p:nvSpPr>
          <p:cNvPr id="61" name="TextBox 6"/>
          <p:cNvSpPr txBox="1"/>
          <p:nvPr/>
        </p:nvSpPr>
        <p:spPr>
          <a:xfrm>
            <a:off x="502919" y="3035807"/>
            <a:ext cx="109728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KEY BENEFITS FOR TELEFÓNICA</a:t>
            </a:r>
          </a:p>
        </p:txBody>
      </p:sp>
      <p:sp>
        <p:nvSpPr>
          <p:cNvPr id="62" name="Rounded Rectangle 7"/>
          <p:cNvSpPr/>
          <p:nvPr/>
        </p:nvSpPr>
        <p:spPr>
          <a:xfrm>
            <a:off x="502919" y="3346703"/>
            <a:ext cx="3520442" cy="13716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5" name="Oval 8"/>
          <p:cNvGrpSpPr/>
          <p:nvPr/>
        </p:nvGrpSpPr>
        <p:grpSpPr>
          <a:xfrm>
            <a:off x="704087" y="3493006"/>
            <a:ext cx="512065" cy="512065"/>
            <a:chOff x="0" y="0"/>
            <a:chExt cx="512063" cy="512063"/>
          </a:xfrm>
        </p:grpSpPr>
        <p:sp>
          <p:nvSpPr>
            <p:cNvPr id="63" name="Circle"/>
            <p:cNvSpPr/>
            <p:nvPr/>
          </p:nvSpPr>
          <p:spPr>
            <a:xfrm>
              <a:off x="0" y="0"/>
              <a:ext cx="512064" cy="512064"/>
            </a:xfrm>
            <a:prstGeom prst="ellipse">
              <a:avLst/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4" name="⏱"/>
            <p:cNvSpPr txBox="1"/>
            <p:nvPr/>
          </p:nvSpPr>
          <p:spPr>
            <a:xfrm>
              <a:off x="74989" y="179832"/>
              <a:ext cx="362086" cy="152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⏱</a:t>
              </a:r>
            </a:p>
          </p:txBody>
        </p:sp>
      </p:grpSp>
      <p:sp>
        <p:nvSpPr>
          <p:cNvPr id="66" name="TextBox 9"/>
          <p:cNvSpPr txBox="1"/>
          <p:nvPr/>
        </p:nvSpPr>
        <p:spPr>
          <a:xfrm>
            <a:off x="1371600" y="3679751"/>
            <a:ext cx="25146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Early prediction</a:t>
            </a:r>
          </a:p>
        </p:txBody>
      </p:sp>
      <p:sp>
        <p:nvSpPr>
          <p:cNvPr id="67" name="TextBox 10"/>
          <p:cNvSpPr txBox="1"/>
          <p:nvPr/>
        </p:nvSpPr>
        <p:spPr>
          <a:xfrm>
            <a:off x="777240" y="4114799"/>
            <a:ext cx="2971801" cy="309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000">
                <a:solidFill>
                  <a:srgbClr val="5B6B86"/>
                </a:solidFill>
              </a:defRPr>
            </a:lvl1pPr>
          </a:lstStyle>
          <a:p>
            <a:pPr/>
            <a:r>
              <a:t>Detects degradation of STBs, routers and service before the customer notices or calls.</a:t>
            </a:r>
          </a:p>
        </p:txBody>
      </p:sp>
      <p:sp>
        <p:nvSpPr>
          <p:cNvPr id="68" name="Rounded Rectangle 11"/>
          <p:cNvSpPr/>
          <p:nvPr/>
        </p:nvSpPr>
        <p:spPr>
          <a:xfrm>
            <a:off x="4306823" y="3346703"/>
            <a:ext cx="3520442" cy="13716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71" name="Oval 12"/>
          <p:cNvGrpSpPr/>
          <p:nvPr/>
        </p:nvGrpSpPr>
        <p:grpSpPr>
          <a:xfrm>
            <a:off x="4507991" y="3493006"/>
            <a:ext cx="512065" cy="512065"/>
            <a:chOff x="0" y="0"/>
            <a:chExt cx="512063" cy="512063"/>
          </a:xfrm>
        </p:grpSpPr>
        <p:sp>
          <p:nvSpPr>
            <p:cNvPr id="69" name="Circle"/>
            <p:cNvSpPr/>
            <p:nvPr/>
          </p:nvSpPr>
          <p:spPr>
            <a:xfrm>
              <a:off x="0" y="0"/>
              <a:ext cx="512064" cy="512064"/>
            </a:xfrm>
            <a:prstGeom prst="ellipse">
              <a:avLst/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0" name="○"/>
            <p:cNvSpPr txBox="1"/>
            <p:nvPr/>
          </p:nvSpPr>
          <p:spPr>
            <a:xfrm>
              <a:off x="74989" y="177599"/>
              <a:ext cx="362086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○</a:t>
              </a:r>
            </a:p>
          </p:txBody>
        </p:sp>
      </p:grpSp>
      <p:sp>
        <p:nvSpPr>
          <p:cNvPr id="72" name="TextBox 13"/>
          <p:cNvSpPr txBox="1"/>
          <p:nvPr/>
        </p:nvSpPr>
        <p:spPr>
          <a:xfrm>
            <a:off x="5175503" y="3679751"/>
            <a:ext cx="2514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No mass labelling</a:t>
            </a:r>
          </a:p>
        </p:txBody>
      </p:sp>
      <p:sp>
        <p:nvSpPr>
          <p:cNvPr id="73" name="TextBox 14"/>
          <p:cNvSpPr txBox="1"/>
          <p:nvPr/>
        </p:nvSpPr>
        <p:spPr>
          <a:xfrm>
            <a:off x="4581144" y="4114799"/>
            <a:ext cx="2971801" cy="309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000">
                <a:solidFill>
                  <a:srgbClr val="5B6B86"/>
                </a:solidFill>
              </a:defRPr>
            </a:lvl1pPr>
          </a:lstStyle>
          <a:p>
            <a:pPr/>
            <a:r>
              <a:t>Less reliance on long data-labelling projects — starts with what already exists.</a:t>
            </a:r>
          </a:p>
        </p:txBody>
      </p:sp>
      <p:sp>
        <p:nvSpPr>
          <p:cNvPr id="74" name="Rounded Rectangle 15"/>
          <p:cNvSpPr/>
          <p:nvPr/>
        </p:nvSpPr>
        <p:spPr>
          <a:xfrm>
            <a:off x="8110726" y="3346703"/>
            <a:ext cx="3520441" cy="13716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77" name="Oval 16"/>
          <p:cNvGrpSpPr/>
          <p:nvPr/>
        </p:nvGrpSpPr>
        <p:grpSpPr>
          <a:xfrm>
            <a:off x="8311894" y="3493006"/>
            <a:ext cx="512065" cy="512065"/>
            <a:chOff x="0" y="0"/>
            <a:chExt cx="512063" cy="512063"/>
          </a:xfrm>
        </p:grpSpPr>
        <p:sp>
          <p:nvSpPr>
            <p:cNvPr id="75" name="Circle"/>
            <p:cNvSpPr/>
            <p:nvPr/>
          </p:nvSpPr>
          <p:spPr>
            <a:xfrm>
              <a:off x="0" y="0"/>
              <a:ext cx="512064" cy="512064"/>
            </a:xfrm>
            <a:prstGeom prst="ellipse">
              <a:avLst/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6" name="→"/>
            <p:cNvSpPr txBox="1"/>
            <p:nvPr/>
          </p:nvSpPr>
          <p:spPr>
            <a:xfrm>
              <a:off x="74989" y="177599"/>
              <a:ext cx="362086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→</a:t>
              </a:r>
            </a:p>
          </p:txBody>
        </p:sp>
      </p:grpSp>
      <p:sp>
        <p:nvSpPr>
          <p:cNvPr id="78" name="TextBox 17"/>
          <p:cNvSpPr txBox="1"/>
          <p:nvPr/>
        </p:nvSpPr>
        <p:spPr>
          <a:xfrm>
            <a:off x="8979406" y="3679751"/>
            <a:ext cx="2514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Minimal integration</a:t>
            </a:r>
          </a:p>
        </p:txBody>
      </p:sp>
      <p:sp>
        <p:nvSpPr>
          <p:cNvPr id="79" name="TextBox 18"/>
          <p:cNvSpPr txBox="1"/>
          <p:nvPr/>
        </p:nvSpPr>
        <p:spPr>
          <a:xfrm>
            <a:off x="8385047" y="4114799"/>
            <a:ext cx="2971801" cy="309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000">
                <a:solidFill>
                  <a:srgbClr val="5B6B86"/>
                </a:solidFill>
              </a:defRPr>
            </a:lvl1pPr>
          </a:lstStyle>
          <a:p>
            <a:pPr/>
            <a:r>
              <a:t>Can start offline on already-stored data; low initial complexity.</a:t>
            </a:r>
          </a:p>
        </p:txBody>
      </p:sp>
      <p:sp>
        <p:nvSpPr>
          <p:cNvPr id="80" name="Rounded Rectangle 19"/>
          <p:cNvSpPr/>
          <p:nvPr/>
        </p:nvSpPr>
        <p:spPr>
          <a:xfrm>
            <a:off x="502919" y="4992623"/>
            <a:ext cx="11183113" cy="1078993"/>
          </a:xfrm>
          <a:prstGeom prst="roundRect">
            <a:avLst>
              <a:gd name="adj" fmla="val 10000"/>
            </a:avLst>
          </a:prstGeom>
          <a:solidFill>
            <a:srgbClr val="1025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83" name="Oval 20"/>
          <p:cNvGrpSpPr/>
          <p:nvPr/>
        </p:nvGrpSpPr>
        <p:grpSpPr>
          <a:xfrm>
            <a:off x="795527" y="5230367"/>
            <a:ext cx="603505" cy="603505"/>
            <a:chOff x="0" y="0"/>
            <a:chExt cx="603504" cy="603504"/>
          </a:xfrm>
        </p:grpSpPr>
        <p:sp>
          <p:nvSpPr>
            <p:cNvPr id="81" name="Circle"/>
            <p:cNvSpPr/>
            <p:nvPr/>
          </p:nvSpPr>
          <p:spPr>
            <a:xfrm>
              <a:off x="-1" y="-1"/>
              <a:ext cx="603506" cy="603506"/>
            </a:xfrm>
            <a:prstGeom prst="ellipse">
              <a:avLst/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2" name="✓"/>
            <p:cNvSpPr txBox="1"/>
            <p:nvPr/>
          </p:nvSpPr>
          <p:spPr>
            <a:xfrm>
              <a:off x="88380" y="206502"/>
              <a:ext cx="426744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✓</a:t>
              </a:r>
            </a:p>
          </p:txBody>
        </p:sp>
      </p:grpSp>
      <p:sp>
        <p:nvSpPr>
          <p:cNvPr id="84" name="TextBox 21"/>
          <p:cNvSpPr txBox="1"/>
          <p:nvPr/>
        </p:nvSpPr>
        <p:spPr>
          <a:xfrm>
            <a:off x="1600199" y="5483274"/>
            <a:ext cx="987552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8FB0F5"/>
                </a:solidFill>
              </a:defRPr>
            </a:pPr>
            <a:r>
              <a:t>Concrete example:  </a:t>
            </a:r>
            <a:r>
              <a:rPr b="0">
                <a:solidFill>
                  <a:srgbClr val="FFFFFF"/>
                </a:solidFill>
              </a:rPr>
              <a:t>predicting the degradation of TV set-top boxes (pixelation, quality loss) </a:t>
            </a:r>
            <a:r>
              <a:rPr>
                <a:solidFill>
                  <a:srgbClr val="FFFFFF"/>
                </a:solidFill>
              </a:rPr>
              <a:t>with ≈ 1 month of historical data</a:t>
            </a:r>
            <a:r>
              <a:rPr b="0">
                <a:solidFill>
                  <a:srgbClr val="FFFFFF"/>
                </a:solidFill>
              </a:rPr>
              <a:t> — without a custom labelled dataset.</a:t>
            </a:r>
          </a:p>
        </p:txBody>
      </p:sp>
      <p:sp>
        <p:nvSpPr>
          <p:cNvPr id="85" name="TextBox 22"/>
          <p:cNvSpPr txBox="1"/>
          <p:nvPr/>
        </p:nvSpPr>
        <p:spPr>
          <a:xfrm>
            <a:off x="502919" y="6455664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86" name="TextBox 23"/>
          <p:cNvSpPr txBox="1"/>
          <p:nvPr/>
        </p:nvSpPr>
        <p:spPr>
          <a:xfrm>
            <a:off x="9875519" y="645566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N1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 txBox="1"/>
          <p:nvPr/>
        </p:nvSpPr>
        <p:spPr>
          <a:xfrm>
            <a:off x="548640" y="481505"/>
            <a:ext cx="10058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1265FF"/>
                </a:solidFill>
              </a:defRPr>
            </a:lvl1pPr>
          </a:lstStyle>
          <a:p>
            <a:pPr/>
            <a:r>
              <a:t>THE ONE IDEA THE USE CASES REST ON</a:t>
            </a:r>
          </a:p>
        </p:txBody>
      </p:sp>
      <p:sp>
        <p:nvSpPr>
          <p:cNvPr id="89" name="Text 1"/>
          <p:cNvSpPr txBox="1"/>
          <p:nvPr/>
        </p:nvSpPr>
        <p:spPr>
          <a:xfrm>
            <a:off x="548638" y="713230"/>
            <a:ext cx="11064244" cy="41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800">
                <a:solidFill>
                  <a:srgbClr val="0A275C"/>
                </a:solidFill>
              </a:defRPr>
            </a:lvl1pPr>
          </a:lstStyle>
          <a:p>
            <a:pPr/>
            <a:r>
              <a:t>A fault is a shape on the graph — that is how we localize it</a:t>
            </a:r>
          </a:p>
        </p:txBody>
      </p:sp>
      <p:sp>
        <p:nvSpPr>
          <p:cNvPr id="90" name="Text 2"/>
          <p:cNvSpPr txBox="1"/>
          <p:nvPr/>
        </p:nvSpPr>
        <p:spPr>
          <a:xfrm>
            <a:off x="640080" y="1783078"/>
            <a:ext cx="4480560" cy="2025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sz="1400">
                <a:solidFill>
                  <a:srgbClr val="0A275C"/>
                </a:solidFill>
              </a:defRPr>
            </a:pPr>
            <a:r>
              <a:t>Per-layer dashboards can't explain a customer's experience, because the experience is a property of the whole path, not any one layer.</a:t>
            </a:r>
          </a:p>
          <a:p>
            <a:pPr>
              <a:lnSpc>
                <a:spcPts val="2000"/>
              </a:lnSpc>
              <a:defRPr sz="1400">
                <a:solidFill>
                  <a:srgbClr val="0A275C"/>
                </a:solidFill>
              </a:defRPr>
            </a:pPr>
          </a:p>
          <a:p>
            <a:pPr>
              <a:lnSpc>
                <a:spcPts val="2000"/>
              </a:lnSpc>
              <a:defRPr b="1" sz="1400">
                <a:solidFill>
                  <a:srgbClr val="0A275C"/>
                </a:solidFill>
              </a:defRPr>
            </a:pPr>
            <a:r>
              <a:t>Structural Intelligence models the ecosystem as one graph</a:t>
            </a:r>
            <a:r>
              <a:rPr b="0"/>
              <a:t> — customers, devices, routers, access nodes, core paths, CDN edges — and reads the </a:t>
            </a:r>
            <a:r>
              <a:t>shape of who-is-affected-sharing-what</a:t>
            </a:r>
            <a:r>
              <a:rPr b="0"/>
              <a:t> to place the fault in the layer it lives in.</a:t>
            </a:r>
          </a:p>
        </p:txBody>
      </p:sp>
      <p:sp>
        <p:nvSpPr>
          <p:cNvPr id="91" name="Shape 3"/>
          <p:cNvSpPr/>
          <p:nvPr/>
        </p:nvSpPr>
        <p:spPr>
          <a:xfrm>
            <a:off x="640080" y="5029200"/>
            <a:ext cx="4480560" cy="1143000"/>
          </a:xfrm>
          <a:prstGeom prst="roundRect">
            <a:avLst>
              <a:gd name="adj" fmla="val 7200"/>
            </a:avLst>
          </a:prstGeom>
          <a:solidFill>
            <a:srgbClr val="0A275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92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8680" y="5285232"/>
            <a:ext cx="457202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Text 4"/>
          <p:cNvSpPr txBox="1"/>
          <p:nvPr/>
        </p:nvSpPr>
        <p:spPr>
          <a:xfrm>
            <a:off x="1463038" y="5297168"/>
            <a:ext cx="3566161" cy="607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600"/>
              </a:lnSpc>
              <a:defRPr b="1" sz="1200">
                <a:solidFill>
                  <a:srgbClr val="FFFFFF"/>
                </a:solidFill>
              </a:defRPr>
            </a:pPr>
            <a:r>
              <a:t>The richer the graph, the sharper the attribution. </a:t>
            </a:r>
            <a:r>
              <a:rPr b="0">
                <a:solidFill>
                  <a:srgbClr val="BBD2FF"/>
                </a:solidFill>
              </a:rPr>
              <a:t>Every use case that follows is an application of this one mechanism.</a:t>
            </a:r>
          </a:p>
        </p:txBody>
      </p:sp>
      <p:sp>
        <p:nvSpPr>
          <p:cNvPr id="94" name="Shape 5"/>
          <p:cNvSpPr/>
          <p:nvPr/>
        </p:nvSpPr>
        <p:spPr>
          <a:xfrm>
            <a:off x="5486400" y="1783078"/>
            <a:ext cx="3063240" cy="2148842"/>
          </a:xfrm>
          <a:prstGeom prst="roundRect">
            <a:avLst>
              <a:gd name="adj" fmla="val 383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" name="Text 6"/>
          <p:cNvSpPr txBox="1"/>
          <p:nvPr/>
        </p:nvSpPr>
        <p:spPr>
          <a:xfrm>
            <a:off x="5715000" y="1988111"/>
            <a:ext cx="260604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65FF"/>
                </a:solidFill>
              </a:defRPr>
            </a:lvl1pPr>
          </a:lstStyle>
          <a:p>
            <a:pPr/>
            <a:r>
              <a:t>Home fault</a:t>
            </a:r>
          </a:p>
        </p:txBody>
      </p:sp>
      <p:sp>
        <p:nvSpPr>
          <p:cNvPr id="96" name="Shape 7"/>
          <p:cNvSpPr/>
          <p:nvPr/>
        </p:nvSpPr>
        <p:spPr>
          <a:xfrm>
            <a:off x="5897879" y="2423160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" name="Shape 8"/>
          <p:cNvSpPr/>
          <p:nvPr/>
        </p:nvSpPr>
        <p:spPr>
          <a:xfrm>
            <a:off x="6644640" y="2423160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" name="Shape 9"/>
          <p:cNvSpPr/>
          <p:nvPr/>
        </p:nvSpPr>
        <p:spPr>
          <a:xfrm>
            <a:off x="7391399" y="2423160"/>
            <a:ext cx="746763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" name="Shape 10"/>
          <p:cNvSpPr/>
          <p:nvPr/>
        </p:nvSpPr>
        <p:spPr>
          <a:xfrm>
            <a:off x="5897879" y="2807206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" name="Shape 11"/>
          <p:cNvSpPr/>
          <p:nvPr/>
        </p:nvSpPr>
        <p:spPr>
          <a:xfrm>
            <a:off x="6644640" y="2807206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" name="Shape 12"/>
          <p:cNvSpPr/>
          <p:nvPr/>
        </p:nvSpPr>
        <p:spPr>
          <a:xfrm>
            <a:off x="7391399" y="2807206"/>
            <a:ext cx="746763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" name="Shape 13"/>
          <p:cNvSpPr/>
          <p:nvPr/>
        </p:nvSpPr>
        <p:spPr>
          <a:xfrm>
            <a:off x="5897879" y="3191255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" name="Shape 14"/>
          <p:cNvSpPr/>
          <p:nvPr/>
        </p:nvSpPr>
        <p:spPr>
          <a:xfrm>
            <a:off x="6644640" y="3191255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" name="Shape 15"/>
          <p:cNvSpPr/>
          <p:nvPr/>
        </p:nvSpPr>
        <p:spPr>
          <a:xfrm>
            <a:off x="7391399" y="3191255"/>
            <a:ext cx="746763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" name="Shape 16"/>
          <p:cNvSpPr/>
          <p:nvPr/>
        </p:nvSpPr>
        <p:spPr>
          <a:xfrm>
            <a:off x="5897879" y="2423160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" name="Shape 17"/>
          <p:cNvSpPr/>
          <p:nvPr/>
        </p:nvSpPr>
        <p:spPr>
          <a:xfrm>
            <a:off x="6644640" y="2423160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" name="Shape 18"/>
          <p:cNvSpPr/>
          <p:nvPr/>
        </p:nvSpPr>
        <p:spPr>
          <a:xfrm>
            <a:off x="7391400" y="2423160"/>
            <a:ext cx="0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" name="Shape 19"/>
          <p:cNvSpPr/>
          <p:nvPr/>
        </p:nvSpPr>
        <p:spPr>
          <a:xfrm>
            <a:off x="8138159" y="2423160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" name="Shape 20"/>
          <p:cNvSpPr/>
          <p:nvPr/>
        </p:nvSpPr>
        <p:spPr>
          <a:xfrm>
            <a:off x="5897879" y="2807206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" name="Shape 21"/>
          <p:cNvSpPr/>
          <p:nvPr/>
        </p:nvSpPr>
        <p:spPr>
          <a:xfrm>
            <a:off x="6644640" y="2807206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" name="Shape 22"/>
          <p:cNvSpPr/>
          <p:nvPr/>
        </p:nvSpPr>
        <p:spPr>
          <a:xfrm>
            <a:off x="7391400" y="2807206"/>
            <a:ext cx="0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" name="Shape 23"/>
          <p:cNvSpPr/>
          <p:nvPr/>
        </p:nvSpPr>
        <p:spPr>
          <a:xfrm>
            <a:off x="8138159" y="2807206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" name="Shape 24"/>
          <p:cNvSpPr/>
          <p:nvPr/>
        </p:nvSpPr>
        <p:spPr>
          <a:xfrm>
            <a:off x="5843015" y="236829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Shape 25"/>
          <p:cNvSpPr/>
          <p:nvPr/>
        </p:nvSpPr>
        <p:spPr>
          <a:xfrm>
            <a:off x="6589776" y="236829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Shape 26"/>
          <p:cNvSpPr/>
          <p:nvPr/>
        </p:nvSpPr>
        <p:spPr>
          <a:xfrm>
            <a:off x="7336535" y="236829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" name="Shape 27"/>
          <p:cNvSpPr/>
          <p:nvPr/>
        </p:nvSpPr>
        <p:spPr>
          <a:xfrm>
            <a:off x="8083294" y="236829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" name="Shape 28"/>
          <p:cNvSpPr/>
          <p:nvPr/>
        </p:nvSpPr>
        <p:spPr>
          <a:xfrm>
            <a:off x="5843015" y="275234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Shape 29"/>
          <p:cNvSpPr/>
          <p:nvPr/>
        </p:nvSpPr>
        <p:spPr>
          <a:xfrm>
            <a:off x="6553199" y="2715766"/>
            <a:ext cx="182883" cy="182883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" name="Shape 30"/>
          <p:cNvSpPr/>
          <p:nvPr/>
        </p:nvSpPr>
        <p:spPr>
          <a:xfrm>
            <a:off x="7336535" y="275234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" name="Shape 31"/>
          <p:cNvSpPr/>
          <p:nvPr/>
        </p:nvSpPr>
        <p:spPr>
          <a:xfrm>
            <a:off x="8083294" y="275234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" name="Shape 32"/>
          <p:cNvSpPr/>
          <p:nvPr/>
        </p:nvSpPr>
        <p:spPr>
          <a:xfrm>
            <a:off x="5843015" y="313639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" name="Shape 33"/>
          <p:cNvSpPr/>
          <p:nvPr/>
        </p:nvSpPr>
        <p:spPr>
          <a:xfrm>
            <a:off x="6589776" y="313639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" name="Shape 34"/>
          <p:cNvSpPr/>
          <p:nvPr/>
        </p:nvSpPr>
        <p:spPr>
          <a:xfrm>
            <a:off x="7336535" y="313639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" name="Shape 35"/>
          <p:cNvSpPr/>
          <p:nvPr/>
        </p:nvSpPr>
        <p:spPr>
          <a:xfrm>
            <a:off x="8083294" y="313639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" name="Text 36"/>
          <p:cNvSpPr txBox="1"/>
          <p:nvPr/>
        </p:nvSpPr>
        <p:spPr>
          <a:xfrm>
            <a:off x="5669279" y="3611924"/>
            <a:ext cx="26974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BBD2FF"/>
                </a:solidFill>
              </a:defRPr>
            </a:lvl1pPr>
          </a:lstStyle>
          <a:p>
            <a:pPr/>
            <a:r>
              <a:t>alone</a:t>
            </a:r>
          </a:p>
        </p:txBody>
      </p:sp>
      <p:sp>
        <p:nvSpPr>
          <p:cNvPr id="126" name="Shape 37"/>
          <p:cNvSpPr/>
          <p:nvPr/>
        </p:nvSpPr>
        <p:spPr>
          <a:xfrm>
            <a:off x="8778240" y="1783078"/>
            <a:ext cx="3063242" cy="2148842"/>
          </a:xfrm>
          <a:prstGeom prst="roundRect">
            <a:avLst>
              <a:gd name="adj" fmla="val 383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" name="Text 38"/>
          <p:cNvSpPr txBox="1"/>
          <p:nvPr/>
        </p:nvSpPr>
        <p:spPr>
          <a:xfrm>
            <a:off x="9006840" y="1988111"/>
            <a:ext cx="260604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65FF"/>
                </a:solidFill>
              </a:defRPr>
            </a:lvl1pPr>
          </a:lstStyle>
          <a:p>
            <a:pPr/>
            <a:r>
              <a:t>Access node fault</a:t>
            </a:r>
          </a:p>
        </p:txBody>
      </p:sp>
      <p:sp>
        <p:nvSpPr>
          <p:cNvPr id="128" name="Shape 39"/>
          <p:cNvSpPr/>
          <p:nvPr/>
        </p:nvSpPr>
        <p:spPr>
          <a:xfrm>
            <a:off x="9189718" y="2423160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" name="Shape 40"/>
          <p:cNvSpPr/>
          <p:nvPr/>
        </p:nvSpPr>
        <p:spPr>
          <a:xfrm>
            <a:off x="9936480" y="2423160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" name="Shape 41"/>
          <p:cNvSpPr/>
          <p:nvPr/>
        </p:nvSpPr>
        <p:spPr>
          <a:xfrm>
            <a:off x="10683240" y="2423160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" name="Shape 42"/>
          <p:cNvSpPr/>
          <p:nvPr/>
        </p:nvSpPr>
        <p:spPr>
          <a:xfrm>
            <a:off x="9189718" y="2807206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" name="Shape 43"/>
          <p:cNvSpPr/>
          <p:nvPr/>
        </p:nvSpPr>
        <p:spPr>
          <a:xfrm>
            <a:off x="9936480" y="2807206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" name="Shape 44"/>
          <p:cNvSpPr/>
          <p:nvPr/>
        </p:nvSpPr>
        <p:spPr>
          <a:xfrm>
            <a:off x="10683240" y="2807206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Shape 45"/>
          <p:cNvSpPr/>
          <p:nvPr/>
        </p:nvSpPr>
        <p:spPr>
          <a:xfrm>
            <a:off x="9189718" y="3191255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Shape 46"/>
          <p:cNvSpPr/>
          <p:nvPr/>
        </p:nvSpPr>
        <p:spPr>
          <a:xfrm>
            <a:off x="9936480" y="3191255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Shape 47"/>
          <p:cNvSpPr/>
          <p:nvPr/>
        </p:nvSpPr>
        <p:spPr>
          <a:xfrm>
            <a:off x="10683240" y="3191255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Shape 48"/>
          <p:cNvSpPr/>
          <p:nvPr/>
        </p:nvSpPr>
        <p:spPr>
          <a:xfrm>
            <a:off x="9189718" y="2423160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" name="Shape 49"/>
          <p:cNvSpPr/>
          <p:nvPr/>
        </p:nvSpPr>
        <p:spPr>
          <a:xfrm>
            <a:off x="9936480" y="2423160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" name="Shape 50"/>
          <p:cNvSpPr/>
          <p:nvPr/>
        </p:nvSpPr>
        <p:spPr>
          <a:xfrm>
            <a:off x="10683240" y="2423160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" name="Shape 51"/>
          <p:cNvSpPr/>
          <p:nvPr/>
        </p:nvSpPr>
        <p:spPr>
          <a:xfrm>
            <a:off x="11430000" y="2423160"/>
            <a:ext cx="0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" name="Shape 52"/>
          <p:cNvSpPr/>
          <p:nvPr/>
        </p:nvSpPr>
        <p:spPr>
          <a:xfrm>
            <a:off x="9189718" y="2807206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" name="Shape 53"/>
          <p:cNvSpPr/>
          <p:nvPr/>
        </p:nvSpPr>
        <p:spPr>
          <a:xfrm>
            <a:off x="9936480" y="2807206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" name="Shape 54"/>
          <p:cNvSpPr/>
          <p:nvPr/>
        </p:nvSpPr>
        <p:spPr>
          <a:xfrm>
            <a:off x="10683240" y="2807206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" name="Shape 55"/>
          <p:cNvSpPr/>
          <p:nvPr/>
        </p:nvSpPr>
        <p:spPr>
          <a:xfrm>
            <a:off x="11430000" y="2807206"/>
            <a:ext cx="0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Shape 56"/>
          <p:cNvSpPr/>
          <p:nvPr/>
        </p:nvSpPr>
        <p:spPr>
          <a:xfrm>
            <a:off x="9134856" y="236829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Shape 57"/>
          <p:cNvSpPr/>
          <p:nvPr/>
        </p:nvSpPr>
        <p:spPr>
          <a:xfrm>
            <a:off x="9881616" y="236829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Shape 58"/>
          <p:cNvSpPr/>
          <p:nvPr/>
        </p:nvSpPr>
        <p:spPr>
          <a:xfrm>
            <a:off x="10628376" y="236829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" name="Shape 59"/>
          <p:cNvSpPr/>
          <p:nvPr/>
        </p:nvSpPr>
        <p:spPr>
          <a:xfrm>
            <a:off x="11375135" y="236829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" name="Shape 60"/>
          <p:cNvSpPr/>
          <p:nvPr/>
        </p:nvSpPr>
        <p:spPr>
          <a:xfrm>
            <a:off x="9107423" y="2724911"/>
            <a:ext cx="164595" cy="164594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" name="Shape 61"/>
          <p:cNvSpPr/>
          <p:nvPr/>
        </p:nvSpPr>
        <p:spPr>
          <a:xfrm>
            <a:off x="9854183" y="2724911"/>
            <a:ext cx="164595" cy="164594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" name="Shape 62"/>
          <p:cNvSpPr/>
          <p:nvPr/>
        </p:nvSpPr>
        <p:spPr>
          <a:xfrm>
            <a:off x="10628376" y="275234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" name="Shape 63"/>
          <p:cNvSpPr/>
          <p:nvPr/>
        </p:nvSpPr>
        <p:spPr>
          <a:xfrm>
            <a:off x="11375135" y="275234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" name="Shape 64"/>
          <p:cNvSpPr/>
          <p:nvPr/>
        </p:nvSpPr>
        <p:spPr>
          <a:xfrm>
            <a:off x="9107423" y="3108960"/>
            <a:ext cx="164595" cy="164595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Shape 65"/>
          <p:cNvSpPr/>
          <p:nvPr/>
        </p:nvSpPr>
        <p:spPr>
          <a:xfrm>
            <a:off x="9854183" y="3108960"/>
            <a:ext cx="164595" cy="164595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Shape 66"/>
          <p:cNvSpPr/>
          <p:nvPr/>
        </p:nvSpPr>
        <p:spPr>
          <a:xfrm>
            <a:off x="10628376" y="313639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" name="Shape 67"/>
          <p:cNvSpPr/>
          <p:nvPr/>
        </p:nvSpPr>
        <p:spPr>
          <a:xfrm>
            <a:off x="11375135" y="313639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" name="Text 68"/>
          <p:cNvSpPr txBox="1"/>
          <p:nvPr/>
        </p:nvSpPr>
        <p:spPr>
          <a:xfrm>
            <a:off x="8961118" y="3611924"/>
            <a:ext cx="26974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BBD2FF"/>
                </a:solidFill>
              </a:defRPr>
            </a:lvl1pPr>
          </a:lstStyle>
          <a:p>
            <a:pPr/>
            <a:r>
              <a:t>a cluster on one node</a:t>
            </a:r>
          </a:p>
        </p:txBody>
      </p:sp>
      <p:sp>
        <p:nvSpPr>
          <p:cNvPr id="158" name="Shape 69"/>
          <p:cNvSpPr/>
          <p:nvPr/>
        </p:nvSpPr>
        <p:spPr>
          <a:xfrm>
            <a:off x="5486400" y="4160520"/>
            <a:ext cx="3063240" cy="2148842"/>
          </a:xfrm>
          <a:prstGeom prst="roundRect">
            <a:avLst>
              <a:gd name="adj" fmla="val 383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" name="Text 70"/>
          <p:cNvSpPr txBox="1"/>
          <p:nvPr/>
        </p:nvSpPr>
        <p:spPr>
          <a:xfrm>
            <a:off x="5715000" y="4365550"/>
            <a:ext cx="260604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65FF"/>
                </a:solidFill>
              </a:defRPr>
            </a:lvl1pPr>
          </a:lstStyle>
          <a:p>
            <a:pPr/>
            <a:r>
              <a:t>Core fault</a:t>
            </a:r>
          </a:p>
        </p:txBody>
      </p:sp>
      <p:sp>
        <p:nvSpPr>
          <p:cNvPr id="160" name="Shape 71"/>
          <p:cNvSpPr/>
          <p:nvPr/>
        </p:nvSpPr>
        <p:spPr>
          <a:xfrm>
            <a:off x="5897879" y="4800600"/>
            <a:ext cx="746762" cy="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" name="Shape 72"/>
          <p:cNvSpPr/>
          <p:nvPr/>
        </p:nvSpPr>
        <p:spPr>
          <a:xfrm>
            <a:off x="6644640" y="4800600"/>
            <a:ext cx="746762" cy="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" name="Shape 73"/>
          <p:cNvSpPr/>
          <p:nvPr/>
        </p:nvSpPr>
        <p:spPr>
          <a:xfrm>
            <a:off x="7391399" y="4800600"/>
            <a:ext cx="746763" cy="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" name="Shape 74"/>
          <p:cNvSpPr/>
          <p:nvPr/>
        </p:nvSpPr>
        <p:spPr>
          <a:xfrm>
            <a:off x="5897879" y="5184647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4" name="Shape 75"/>
          <p:cNvSpPr/>
          <p:nvPr/>
        </p:nvSpPr>
        <p:spPr>
          <a:xfrm>
            <a:off x="6644640" y="5184647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" name="Shape 76"/>
          <p:cNvSpPr/>
          <p:nvPr/>
        </p:nvSpPr>
        <p:spPr>
          <a:xfrm>
            <a:off x="7391399" y="5184647"/>
            <a:ext cx="746763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" name="Shape 77"/>
          <p:cNvSpPr/>
          <p:nvPr/>
        </p:nvSpPr>
        <p:spPr>
          <a:xfrm>
            <a:off x="5897879" y="5568696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" name="Shape 78"/>
          <p:cNvSpPr/>
          <p:nvPr/>
        </p:nvSpPr>
        <p:spPr>
          <a:xfrm>
            <a:off x="6644640" y="5568696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Shape 79"/>
          <p:cNvSpPr/>
          <p:nvPr/>
        </p:nvSpPr>
        <p:spPr>
          <a:xfrm>
            <a:off x="7391399" y="5568696"/>
            <a:ext cx="746763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Shape 80"/>
          <p:cNvSpPr/>
          <p:nvPr/>
        </p:nvSpPr>
        <p:spPr>
          <a:xfrm>
            <a:off x="5897879" y="4800599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Shape 81"/>
          <p:cNvSpPr/>
          <p:nvPr/>
        </p:nvSpPr>
        <p:spPr>
          <a:xfrm>
            <a:off x="6644640" y="4800599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" name="Shape 82"/>
          <p:cNvSpPr/>
          <p:nvPr/>
        </p:nvSpPr>
        <p:spPr>
          <a:xfrm>
            <a:off x="7391400" y="4800599"/>
            <a:ext cx="0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" name="Shape 83"/>
          <p:cNvSpPr/>
          <p:nvPr/>
        </p:nvSpPr>
        <p:spPr>
          <a:xfrm>
            <a:off x="8138159" y="4800599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3" name="Shape 84"/>
          <p:cNvSpPr/>
          <p:nvPr/>
        </p:nvSpPr>
        <p:spPr>
          <a:xfrm>
            <a:off x="5897879" y="5184647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" name="Shape 85"/>
          <p:cNvSpPr/>
          <p:nvPr/>
        </p:nvSpPr>
        <p:spPr>
          <a:xfrm>
            <a:off x="6644640" y="5184647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" name="Shape 86"/>
          <p:cNvSpPr/>
          <p:nvPr/>
        </p:nvSpPr>
        <p:spPr>
          <a:xfrm>
            <a:off x="7391400" y="5184647"/>
            <a:ext cx="0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" name="Shape 87"/>
          <p:cNvSpPr/>
          <p:nvPr/>
        </p:nvSpPr>
        <p:spPr>
          <a:xfrm>
            <a:off x="8138159" y="5184647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Shape 88"/>
          <p:cNvSpPr/>
          <p:nvPr/>
        </p:nvSpPr>
        <p:spPr>
          <a:xfrm>
            <a:off x="5843015" y="4745735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Shape 89"/>
          <p:cNvSpPr/>
          <p:nvPr/>
        </p:nvSpPr>
        <p:spPr>
          <a:xfrm>
            <a:off x="6562342" y="4718303"/>
            <a:ext cx="164595" cy="164595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9" name="Shape 90"/>
          <p:cNvSpPr/>
          <p:nvPr/>
        </p:nvSpPr>
        <p:spPr>
          <a:xfrm>
            <a:off x="7336535" y="4745735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0" name="Shape 91"/>
          <p:cNvSpPr/>
          <p:nvPr/>
        </p:nvSpPr>
        <p:spPr>
          <a:xfrm>
            <a:off x="8083294" y="4745735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" name="Shape 92"/>
          <p:cNvSpPr/>
          <p:nvPr/>
        </p:nvSpPr>
        <p:spPr>
          <a:xfrm>
            <a:off x="5843015" y="512978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" name="Shape 93"/>
          <p:cNvSpPr/>
          <p:nvPr/>
        </p:nvSpPr>
        <p:spPr>
          <a:xfrm>
            <a:off x="6562342" y="5102352"/>
            <a:ext cx="164595" cy="164595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" name="Shape 94"/>
          <p:cNvSpPr/>
          <p:nvPr/>
        </p:nvSpPr>
        <p:spPr>
          <a:xfrm>
            <a:off x="7336535" y="512978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" name="Shape 95"/>
          <p:cNvSpPr/>
          <p:nvPr/>
        </p:nvSpPr>
        <p:spPr>
          <a:xfrm>
            <a:off x="8083294" y="512978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5" name="Shape 96"/>
          <p:cNvSpPr/>
          <p:nvPr/>
        </p:nvSpPr>
        <p:spPr>
          <a:xfrm>
            <a:off x="5843015" y="551383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" name="Shape 97"/>
          <p:cNvSpPr/>
          <p:nvPr/>
        </p:nvSpPr>
        <p:spPr>
          <a:xfrm>
            <a:off x="6562342" y="5486398"/>
            <a:ext cx="164595" cy="164595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" name="Shape 98"/>
          <p:cNvSpPr/>
          <p:nvPr/>
        </p:nvSpPr>
        <p:spPr>
          <a:xfrm>
            <a:off x="7336535" y="551383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" name="Shape 99"/>
          <p:cNvSpPr/>
          <p:nvPr/>
        </p:nvSpPr>
        <p:spPr>
          <a:xfrm>
            <a:off x="8083294" y="551383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" name="Text 100"/>
          <p:cNvSpPr txBox="1"/>
          <p:nvPr/>
        </p:nvSpPr>
        <p:spPr>
          <a:xfrm>
            <a:off x="5669279" y="5989363"/>
            <a:ext cx="2697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BBD2FF"/>
                </a:solidFill>
              </a:defRPr>
            </a:lvl1pPr>
          </a:lstStyle>
          <a:p>
            <a:pPr/>
            <a:r>
              <a:t>nodes along a path</a:t>
            </a:r>
          </a:p>
        </p:txBody>
      </p:sp>
      <p:sp>
        <p:nvSpPr>
          <p:cNvPr id="190" name="Shape 101"/>
          <p:cNvSpPr/>
          <p:nvPr/>
        </p:nvSpPr>
        <p:spPr>
          <a:xfrm>
            <a:off x="8778240" y="4160520"/>
            <a:ext cx="3063242" cy="2148842"/>
          </a:xfrm>
          <a:prstGeom prst="roundRect">
            <a:avLst>
              <a:gd name="adj" fmla="val 383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" name="Text 102"/>
          <p:cNvSpPr txBox="1"/>
          <p:nvPr/>
        </p:nvSpPr>
        <p:spPr>
          <a:xfrm>
            <a:off x="9006840" y="4365550"/>
            <a:ext cx="26060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265FF"/>
                </a:solidFill>
              </a:defRPr>
            </a:lvl1pPr>
          </a:lstStyle>
          <a:p>
            <a:pPr/>
            <a:r>
              <a:t>Content / CDN fault</a:t>
            </a:r>
          </a:p>
        </p:txBody>
      </p:sp>
      <p:sp>
        <p:nvSpPr>
          <p:cNvPr id="192" name="Shape 103"/>
          <p:cNvSpPr/>
          <p:nvPr/>
        </p:nvSpPr>
        <p:spPr>
          <a:xfrm>
            <a:off x="9189718" y="4800600"/>
            <a:ext cx="746762" cy="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Shape 104"/>
          <p:cNvSpPr/>
          <p:nvPr/>
        </p:nvSpPr>
        <p:spPr>
          <a:xfrm>
            <a:off x="9936480" y="4800600"/>
            <a:ext cx="746762" cy="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Shape 105"/>
          <p:cNvSpPr/>
          <p:nvPr/>
        </p:nvSpPr>
        <p:spPr>
          <a:xfrm>
            <a:off x="10683240" y="4800600"/>
            <a:ext cx="746762" cy="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" name="Shape 106"/>
          <p:cNvSpPr/>
          <p:nvPr/>
        </p:nvSpPr>
        <p:spPr>
          <a:xfrm>
            <a:off x="9189718" y="5184647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" name="Shape 107"/>
          <p:cNvSpPr/>
          <p:nvPr/>
        </p:nvSpPr>
        <p:spPr>
          <a:xfrm>
            <a:off x="9936480" y="5184647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" name="Shape 108"/>
          <p:cNvSpPr/>
          <p:nvPr/>
        </p:nvSpPr>
        <p:spPr>
          <a:xfrm>
            <a:off x="10683240" y="5184647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8" name="Shape 109"/>
          <p:cNvSpPr/>
          <p:nvPr/>
        </p:nvSpPr>
        <p:spPr>
          <a:xfrm>
            <a:off x="9189718" y="5568696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9" name="Shape 110"/>
          <p:cNvSpPr/>
          <p:nvPr/>
        </p:nvSpPr>
        <p:spPr>
          <a:xfrm>
            <a:off x="9936480" y="5568696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" name="Shape 111"/>
          <p:cNvSpPr/>
          <p:nvPr/>
        </p:nvSpPr>
        <p:spPr>
          <a:xfrm>
            <a:off x="10683240" y="5568696"/>
            <a:ext cx="746762" cy="2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Shape 112"/>
          <p:cNvSpPr/>
          <p:nvPr/>
        </p:nvSpPr>
        <p:spPr>
          <a:xfrm>
            <a:off x="9189718" y="4800599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Shape 113"/>
          <p:cNvSpPr/>
          <p:nvPr/>
        </p:nvSpPr>
        <p:spPr>
          <a:xfrm>
            <a:off x="9936480" y="4800599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" name="Shape 114"/>
          <p:cNvSpPr/>
          <p:nvPr/>
        </p:nvSpPr>
        <p:spPr>
          <a:xfrm>
            <a:off x="10683240" y="4800599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" name="Shape 115"/>
          <p:cNvSpPr/>
          <p:nvPr/>
        </p:nvSpPr>
        <p:spPr>
          <a:xfrm>
            <a:off x="11430000" y="4800599"/>
            <a:ext cx="0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5" name="Shape 116"/>
          <p:cNvSpPr/>
          <p:nvPr/>
        </p:nvSpPr>
        <p:spPr>
          <a:xfrm>
            <a:off x="9189718" y="5184647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6" name="Shape 117"/>
          <p:cNvSpPr/>
          <p:nvPr/>
        </p:nvSpPr>
        <p:spPr>
          <a:xfrm>
            <a:off x="9936480" y="5184647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" name="Shape 118"/>
          <p:cNvSpPr/>
          <p:nvPr/>
        </p:nvSpPr>
        <p:spPr>
          <a:xfrm>
            <a:off x="10683240" y="5184647"/>
            <a:ext cx="2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" name="Shape 119"/>
          <p:cNvSpPr/>
          <p:nvPr/>
        </p:nvSpPr>
        <p:spPr>
          <a:xfrm>
            <a:off x="11430000" y="5184647"/>
            <a:ext cx="0" cy="384050"/>
          </a:xfrm>
          <a:prstGeom prst="line">
            <a:avLst/>
          </a:prstGeom>
          <a:ln w="12700">
            <a:solidFill>
              <a:srgbClr val="4A6AA0">
                <a:alpha val="60000"/>
              </a:srgbClr>
            </a:solidFill>
            <a:prstDash val="dash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" name="Shape 120"/>
          <p:cNvSpPr/>
          <p:nvPr/>
        </p:nvSpPr>
        <p:spPr>
          <a:xfrm>
            <a:off x="9116568" y="4727447"/>
            <a:ext cx="146307" cy="146307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0" name="Shape 121"/>
          <p:cNvSpPr/>
          <p:nvPr/>
        </p:nvSpPr>
        <p:spPr>
          <a:xfrm>
            <a:off x="9881616" y="4745735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" name="Shape 122"/>
          <p:cNvSpPr/>
          <p:nvPr/>
        </p:nvSpPr>
        <p:spPr>
          <a:xfrm>
            <a:off x="10610088" y="4727447"/>
            <a:ext cx="146307" cy="146307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" name="Shape 123"/>
          <p:cNvSpPr/>
          <p:nvPr/>
        </p:nvSpPr>
        <p:spPr>
          <a:xfrm>
            <a:off x="11375135" y="4745735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3" name="Shape 124"/>
          <p:cNvSpPr/>
          <p:nvPr/>
        </p:nvSpPr>
        <p:spPr>
          <a:xfrm>
            <a:off x="9134856" y="512978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Shape 125"/>
          <p:cNvSpPr/>
          <p:nvPr/>
        </p:nvSpPr>
        <p:spPr>
          <a:xfrm>
            <a:off x="9881616" y="512978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Shape 126"/>
          <p:cNvSpPr/>
          <p:nvPr/>
        </p:nvSpPr>
        <p:spPr>
          <a:xfrm>
            <a:off x="10610088" y="5111496"/>
            <a:ext cx="146307" cy="146307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Shape 127"/>
          <p:cNvSpPr/>
          <p:nvPr/>
        </p:nvSpPr>
        <p:spPr>
          <a:xfrm>
            <a:off x="11375135" y="5129784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7" name="Shape 128"/>
          <p:cNvSpPr/>
          <p:nvPr/>
        </p:nvSpPr>
        <p:spPr>
          <a:xfrm>
            <a:off x="9116568" y="5495544"/>
            <a:ext cx="146307" cy="146307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8" name="Shape 129"/>
          <p:cNvSpPr/>
          <p:nvPr/>
        </p:nvSpPr>
        <p:spPr>
          <a:xfrm>
            <a:off x="9881616" y="551383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" name="Shape 130"/>
          <p:cNvSpPr/>
          <p:nvPr/>
        </p:nvSpPr>
        <p:spPr>
          <a:xfrm>
            <a:off x="10628376" y="5513832"/>
            <a:ext cx="109731" cy="109731"/>
          </a:xfrm>
          <a:prstGeom prst="ellipse">
            <a:avLst/>
          </a:prstGeom>
          <a:solidFill>
            <a:srgbClr val="3A537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" name="Shape 131"/>
          <p:cNvSpPr/>
          <p:nvPr/>
        </p:nvSpPr>
        <p:spPr>
          <a:xfrm>
            <a:off x="11356847" y="5495544"/>
            <a:ext cx="146307" cy="146307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1" name="Text 132"/>
          <p:cNvSpPr txBox="1"/>
          <p:nvPr/>
        </p:nvSpPr>
        <p:spPr>
          <a:xfrm>
            <a:off x="8961118" y="5989363"/>
            <a:ext cx="26974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BBD2FF"/>
                </a:solidFill>
              </a:defRPr>
            </a:lvl1pPr>
          </a:lstStyle>
          <a:p>
            <a:pPr/>
            <a:r>
              <a:t>one source, many nodes</a:t>
            </a:r>
          </a:p>
        </p:txBody>
      </p:sp>
      <p:sp>
        <p:nvSpPr>
          <p:cNvPr id="222" name="Text 133"/>
          <p:cNvSpPr txBox="1"/>
          <p:nvPr/>
        </p:nvSpPr>
        <p:spPr>
          <a:xfrm>
            <a:off x="502919" y="6547611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223" name="Text 134"/>
          <p:cNvSpPr txBox="1"/>
          <p:nvPr/>
        </p:nvSpPr>
        <p:spPr>
          <a:xfrm>
            <a:off x="8945574" y="65476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 txBox="1"/>
          <p:nvPr/>
        </p:nvSpPr>
        <p:spPr>
          <a:xfrm>
            <a:off x="548640" y="481505"/>
            <a:ext cx="10058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1265FF"/>
                </a:solidFill>
              </a:defRPr>
            </a:lvl1pPr>
          </a:lstStyle>
          <a:p>
            <a:pPr/>
            <a:r>
              <a:t>THE DATA FOUNDATION</a:t>
            </a:r>
          </a:p>
        </p:txBody>
      </p:sp>
      <p:sp>
        <p:nvSpPr>
          <p:cNvPr id="228" name="Text 1"/>
          <p:cNvSpPr txBox="1"/>
          <p:nvPr/>
        </p:nvSpPr>
        <p:spPr>
          <a:xfrm>
            <a:off x="548638" y="713230"/>
            <a:ext cx="11064244" cy="41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800">
                <a:solidFill>
                  <a:srgbClr val="0A275C"/>
                </a:solidFill>
              </a:defRPr>
            </a:lvl1pPr>
          </a:lstStyle>
          <a:p>
            <a:pPr/>
            <a:r>
              <a:t>What each layer provides — and what we have today</a:t>
            </a:r>
          </a:p>
        </p:txBody>
      </p:sp>
      <p:sp>
        <p:nvSpPr>
          <p:cNvPr id="229" name="Text 2"/>
          <p:cNvSpPr txBox="1"/>
          <p:nvPr/>
        </p:nvSpPr>
        <p:spPr>
          <a:xfrm>
            <a:off x="640080" y="1609597"/>
            <a:ext cx="10881360" cy="20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5B6B86"/>
                </a:solidFill>
              </a:defRPr>
            </a:lvl1pPr>
          </a:lstStyle>
          <a:p>
            <a:pPr/>
            <a:r>
              <a:t>Every use case draws on a defined subset of these layers. The tag shows what is available now versus what requires a new integration with Telefónica.</a:t>
            </a:r>
          </a:p>
        </p:txBody>
      </p:sp>
      <p:sp>
        <p:nvSpPr>
          <p:cNvPr id="230" name="Shape 3"/>
          <p:cNvSpPr/>
          <p:nvPr/>
        </p:nvSpPr>
        <p:spPr>
          <a:xfrm>
            <a:off x="640079" y="1993392"/>
            <a:ext cx="10927082" cy="384050"/>
          </a:xfrm>
          <a:prstGeom prst="rect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1" name="Text 4"/>
          <p:cNvSpPr txBox="1"/>
          <p:nvPr/>
        </p:nvSpPr>
        <p:spPr>
          <a:xfrm>
            <a:off x="1234438" y="2121916"/>
            <a:ext cx="256032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FFFFF"/>
                </a:solidFill>
              </a:defRPr>
            </a:lvl1pPr>
          </a:lstStyle>
          <a:p>
            <a:pPr/>
            <a:r>
              <a:t>LAYER</a:t>
            </a:r>
          </a:p>
        </p:txBody>
      </p:sp>
      <p:sp>
        <p:nvSpPr>
          <p:cNvPr id="232" name="Text 5"/>
          <p:cNvSpPr txBox="1"/>
          <p:nvPr/>
        </p:nvSpPr>
        <p:spPr>
          <a:xfrm>
            <a:off x="3977640" y="2121916"/>
            <a:ext cx="64008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FFFFF"/>
                </a:solidFill>
              </a:defRPr>
            </a:lvl1pPr>
          </a:lstStyle>
          <a:p>
            <a:pPr/>
            <a:r>
              <a:t>WHAT IT PROVIDES</a:t>
            </a:r>
          </a:p>
        </p:txBody>
      </p:sp>
      <p:sp>
        <p:nvSpPr>
          <p:cNvPr id="233" name="Text 6"/>
          <p:cNvSpPr txBox="1"/>
          <p:nvPr/>
        </p:nvSpPr>
        <p:spPr>
          <a:xfrm>
            <a:off x="10744200" y="2121916"/>
            <a:ext cx="685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FFFFF"/>
                </a:solidFill>
              </a:defRPr>
            </a:lvl1pPr>
          </a:lstStyle>
          <a:p>
            <a:pPr/>
            <a:r>
              <a:t>STATUS</a:t>
            </a:r>
          </a:p>
        </p:txBody>
      </p:sp>
      <p:sp>
        <p:nvSpPr>
          <p:cNvPr id="234" name="Shape 7"/>
          <p:cNvSpPr/>
          <p:nvPr/>
        </p:nvSpPr>
        <p:spPr>
          <a:xfrm>
            <a:off x="640079" y="2377438"/>
            <a:ext cx="10927082" cy="512066"/>
          </a:xfrm>
          <a:prstGeom prst="rect">
            <a:avLst/>
          </a:prstGeom>
          <a:solidFill>
            <a:srgbClr val="FFFFFF"/>
          </a:solidFill>
          <a:ln w="6350"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" name="Shape 8"/>
          <p:cNvSpPr/>
          <p:nvPr/>
        </p:nvSpPr>
        <p:spPr>
          <a:xfrm>
            <a:off x="804672" y="2441448"/>
            <a:ext cx="384051" cy="38405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3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5255" y="2542032"/>
            <a:ext cx="182882" cy="182882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 9"/>
          <p:cNvSpPr txBox="1"/>
          <p:nvPr/>
        </p:nvSpPr>
        <p:spPr>
          <a:xfrm>
            <a:off x="1325878" y="2549968"/>
            <a:ext cx="2651763" cy="16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A275C"/>
                </a:solidFill>
              </a:defRPr>
            </a:lvl1pPr>
          </a:lstStyle>
          <a:p>
            <a:pPr/>
            <a:r>
              <a:t>Set-Top Box</a:t>
            </a:r>
          </a:p>
        </p:txBody>
      </p:sp>
      <p:sp>
        <p:nvSpPr>
          <p:cNvPr id="238" name="Text 10"/>
          <p:cNvSpPr txBox="1"/>
          <p:nvPr/>
        </p:nvSpPr>
        <p:spPr>
          <a:xfrm>
            <a:off x="3977640" y="2551556"/>
            <a:ext cx="6492242" cy="163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Playback &amp; error events, reboots, app behaviour, device &amp; firmware ID</a:t>
            </a:r>
          </a:p>
        </p:txBody>
      </p:sp>
      <p:sp>
        <p:nvSpPr>
          <p:cNvPr id="239" name="Shape 11"/>
          <p:cNvSpPr/>
          <p:nvPr/>
        </p:nvSpPr>
        <p:spPr>
          <a:xfrm>
            <a:off x="10652759" y="2496311"/>
            <a:ext cx="777242" cy="274321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" name="Text 12"/>
          <p:cNvSpPr txBox="1"/>
          <p:nvPr/>
        </p:nvSpPr>
        <p:spPr>
          <a:xfrm>
            <a:off x="10652759" y="2569971"/>
            <a:ext cx="777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241" name="Shape 13"/>
          <p:cNvSpPr/>
          <p:nvPr/>
        </p:nvSpPr>
        <p:spPr>
          <a:xfrm>
            <a:off x="640079" y="2889504"/>
            <a:ext cx="10927082" cy="512066"/>
          </a:xfrm>
          <a:prstGeom prst="rect">
            <a:avLst/>
          </a:prstGeom>
          <a:solidFill>
            <a:srgbClr val="EAF1FC"/>
          </a:solidFill>
          <a:ln w="6350"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2" name="Shape 14"/>
          <p:cNvSpPr/>
          <p:nvPr/>
        </p:nvSpPr>
        <p:spPr>
          <a:xfrm>
            <a:off x="804672" y="2953510"/>
            <a:ext cx="384051" cy="384052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43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5255" y="3054094"/>
            <a:ext cx="182882" cy="182882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Text 15"/>
          <p:cNvSpPr txBox="1"/>
          <p:nvPr/>
        </p:nvSpPr>
        <p:spPr>
          <a:xfrm>
            <a:off x="1325878" y="3062033"/>
            <a:ext cx="2651763" cy="16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A275C"/>
                </a:solidFill>
              </a:defRPr>
            </a:lvl1pPr>
          </a:lstStyle>
          <a:p>
            <a:pPr/>
            <a:r>
              <a:t>Home / Router &amp; Wi-Fi</a:t>
            </a:r>
          </a:p>
        </p:txBody>
      </p:sp>
      <p:sp>
        <p:nvSpPr>
          <p:cNvPr id="245" name="Text 16"/>
          <p:cNvSpPr txBox="1"/>
          <p:nvPr/>
        </p:nvSpPr>
        <p:spPr>
          <a:xfrm>
            <a:off x="3977640" y="3063620"/>
            <a:ext cx="6492242" cy="163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Router events, Wi-Fi quality, in-home gateway telemetry</a:t>
            </a:r>
          </a:p>
        </p:txBody>
      </p:sp>
      <p:sp>
        <p:nvSpPr>
          <p:cNvPr id="246" name="Shape 17"/>
          <p:cNvSpPr/>
          <p:nvPr/>
        </p:nvSpPr>
        <p:spPr>
          <a:xfrm>
            <a:off x="10652759" y="3008376"/>
            <a:ext cx="777242" cy="274322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" name="Text 18"/>
          <p:cNvSpPr txBox="1"/>
          <p:nvPr/>
        </p:nvSpPr>
        <p:spPr>
          <a:xfrm>
            <a:off x="10652759" y="3082035"/>
            <a:ext cx="777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248" name="Shape 19"/>
          <p:cNvSpPr/>
          <p:nvPr/>
        </p:nvSpPr>
        <p:spPr>
          <a:xfrm>
            <a:off x="640079" y="3401567"/>
            <a:ext cx="10927082" cy="512066"/>
          </a:xfrm>
          <a:prstGeom prst="rect">
            <a:avLst/>
          </a:prstGeom>
          <a:solidFill>
            <a:srgbClr val="FFFFFF"/>
          </a:solidFill>
          <a:ln w="6350"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" name="Shape 20"/>
          <p:cNvSpPr/>
          <p:nvPr/>
        </p:nvSpPr>
        <p:spPr>
          <a:xfrm>
            <a:off x="804672" y="3465576"/>
            <a:ext cx="384051" cy="38405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50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5255" y="3566159"/>
            <a:ext cx="182882" cy="182882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Text 21"/>
          <p:cNvSpPr txBox="1"/>
          <p:nvPr/>
        </p:nvSpPr>
        <p:spPr>
          <a:xfrm>
            <a:off x="1325878" y="3574096"/>
            <a:ext cx="2651763" cy="16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A275C"/>
                </a:solidFill>
              </a:defRPr>
            </a:lvl1pPr>
          </a:lstStyle>
          <a:p>
            <a:pPr/>
            <a:r>
              <a:t>Customer &amp; household</a:t>
            </a:r>
          </a:p>
        </p:txBody>
      </p:sp>
      <p:sp>
        <p:nvSpPr>
          <p:cNvPr id="252" name="Text 22"/>
          <p:cNvSpPr txBox="1"/>
          <p:nvPr/>
        </p:nvSpPr>
        <p:spPr>
          <a:xfrm>
            <a:off x="3977640" y="3575684"/>
            <a:ext cx="6492242" cy="163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Device-to-account mapping, household grouping</a:t>
            </a:r>
          </a:p>
        </p:txBody>
      </p:sp>
      <p:sp>
        <p:nvSpPr>
          <p:cNvPr id="253" name="Shape 23"/>
          <p:cNvSpPr/>
          <p:nvPr/>
        </p:nvSpPr>
        <p:spPr>
          <a:xfrm>
            <a:off x="10652759" y="3520440"/>
            <a:ext cx="777242" cy="274322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4" name="Text 24"/>
          <p:cNvSpPr txBox="1"/>
          <p:nvPr/>
        </p:nvSpPr>
        <p:spPr>
          <a:xfrm>
            <a:off x="10652759" y="3594099"/>
            <a:ext cx="777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255" name="Shape 25"/>
          <p:cNvSpPr/>
          <p:nvPr/>
        </p:nvSpPr>
        <p:spPr>
          <a:xfrm>
            <a:off x="640079" y="3913632"/>
            <a:ext cx="10927082" cy="512066"/>
          </a:xfrm>
          <a:prstGeom prst="rect">
            <a:avLst/>
          </a:prstGeom>
          <a:solidFill>
            <a:srgbClr val="EAF1FC"/>
          </a:solidFill>
          <a:ln w="6350"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6" name="Shape 26"/>
          <p:cNvSpPr/>
          <p:nvPr/>
        </p:nvSpPr>
        <p:spPr>
          <a:xfrm>
            <a:off x="804672" y="3977640"/>
            <a:ext cx="384051" cy="38405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57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05255" y="4078223"/>
            <a:ext cx="182882" cy="182882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Text 27"/>
          <p:cNvSpPr txBox="1"/>
          <p:nvPr/>
        </p:nvSpPr>
        <p:spPr>
          <a:xfrm>
            <a:off x="1325878" y="4086161"/>
            <a:ext cx="2651763" cy="16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A275C"/>
                </a:solidFill>
              </a:defRPr>
            </a:lvl1pPr>
          </a:lstStyle>
          <a:p>
            <a:pPr/>
            <a:r>
              <a:t>Geography &amp; topology</a:t>
            </a:r>
          </a:p>
        </p:txBody>
      </p:sp>
      <p:sp>
        <p:nvSpPr>
          <p:cNvPr id="259" name="Text 28"/>
          <p:cNvSpPr txBox="1"/>
          <p:nvPr/>
        </p:nvSpPr>
        <p:spPr>
          <a:xfrm>
            <a:off x="3977640" y="4087748"/>
            <a:ext cx="6492242" cy="163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Device location; which access node / aggregation point a device sits behind</a:t>
            </a:r>
          </a:p>
        </p:txBody>
      </p:sp>
      <p:sp>
        <p:nvSpPr>
          <p:cNvPr id="260" name="Shape 29"/>
          <p:cNvSpPr/>
          <p:nvPr/>
        </p:nvSpPr>
        <p:spPr>
          <a:xfrm>
            <a:off x="10652759" y="4032503"/>
            <a:ext cx="777242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1" name="Text 30"/>
          <p:cNvSpPr txBox="1"/>
          <p:nvPr/>
        </p:nvSpPr>
        <p:spPr>
          <a:xfrm>
            <a:off x="10652759" y="4106162"/>
            <a:ext cx="777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262" name="Shape 31"/>
          <p:cNvSpPr/>
          <p:nvPr/>
        </p:nvSpPr>
        <p:spPr>
          <a:xfrm>
            <a:off x="640079" y="4425696"/>
            <a:ext cx="10927082" cy="512066"/>
          </a:xfrm>
          <a:prstGeom prst="rect">
            <a:avLst/>
          </a:prstGeom>
          <a:solidFill>
            <a:srgbClr val="FFFFFF"/>
          </a:solidFill>
          <a:ln w="6350"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3" name="Shape 32"/>
          <p:cNvSpPr/>
          <p:nvPr/>
        </p:nvSpPr>
        <p:spPr>
          <a:xfrm>
            <a:off x="804672" y="4489703"/>
            <a:ext cx="384051" cy="38405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64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05255" y="4590288"/>
            <a:ext cx="182882" cy="182882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ext 33"/>
          <p:cNvSpPr txBox="1"/>
          <p:nvPr/>
        </p:nvSpPr>
        <p:spPr>
          <a:xfrm>
            <a:off x="1325878" y="4598225"/>
            <a:ext cx="2651763" cy="16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A275C"/>
                </a:solidFill>
              </a:defRPr>
            </a:lvl1pPr>
          </a:lstStyle>
          <a:p>
            <a:pPr/>
            <a:r>
              <a:t>Access network</a:t>
            </a:r>
          </a:p>
        </p:txBody>
      </p:sp>
      <p:sp>
        <p:nvSpPr>
          <p:cNvPr id="266" name="Text 34"/>
          <p:cNvSpPr txBox="1"/>
          <p:nvPr/>
        </p:nvSpPr>
        <p:spPr>
          <a:xfrm>
            <a:off x="3977640" y="4599813"/>
            <a:ext cx="6492242" cy="163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Line attenuation/noise, local aggregation health</a:t>
            </a:r>
          </a:p>
        </p:txBody>
      </p:sp>
      <p:sp>
        <p:nvSpPr>
          <p:cNvPr id="267" name="Shape 35"/>
          <p:cNvSpPr/>
          <p:nvPr/>
        </p:nvSpPr>
        <p:spPr>
          <a:xfrm>
            <a:off x="10652759" y="4544567"/>
            <a:ext cx="777242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8" name="Text 36"/>
          <p:cNvSpPr txBox="1"/>
          <p:nvPr/>
        </p:nvSpPr>
        <p:spPr>
          <a:xfrm>
            <a:off x="10652759" y="4618227"/>
            <a:ext cx="777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269" name="Shape 37"/>
          <p:cNvSpPr/>
          <p:nvPr/>
        </p:nvSpPr>
        <p:spPr>
          <a:xfrm>
            <a:off x="640079" y="4937759"/>
            <a:ext cx="10927082" cy="512066"/>
          </a:xfrm>
          <a:prstGeom prst="rect">
            <a:avLst/>
          </a:prstGeom>
          <a:solidFill>
            <a:srgbClr val="EAF1FC"/>
          </a:solidFill>
          <a:ln w="6350"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0" name="Shape 38"/>
          <p:cNvSpPr/>
          <p:nvPr/>
        </p:nvSpPr>
        <p:spPr>
          <a:xfrm>
            <a:off x="804672" y="5001767"/>
            <a:ext cx="384051" cy="38405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71" name="Image 5" descr="Image 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05255" y="5102352"/>
            <a:ext cx="182882" cy="182882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Text 39"/>
          <p:cNvSpPr txBox="1"/>
          <p:nvPr/>
        </p:nvSpPr>
        <p:spPr>
          <a:xfrm>
            <a:off x="1325878" y="5110288"/>
            <a:ext cx="2651763" cy="16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A275C"/>
                </a:solidFill>
              </a:defRPr>
            </a:lvl1pPr>
          </a:lstStyle>
          <a:p>
            <a:pPr/>
            <a:r>
              <a:t>Core network</a:t>
            </a:r>
          </a:p>
        </p:txBody>
      </p:sp>
      <p:sp>
        <p:nvSpPr>
          <p:cNvPr id="273" name="Text 40"/>
          <p:cNvSpPr txBox="1"/>
          <p:nvPr/>
        </p:nvSpPr>
        <p:spPr>
          <a:xfrm>
            <a:off x="3977640" y="5111875"/>
            <a:ext cx="6492242" cy="163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Transport load, congestion, multicast health along paths</a:t>
            </a:r>
          </a:p>
        </p:txBody>
      </p:sp>
      <p:sp>
        <p:nvSpPr>
          <p:cNvPr id="274" name="Shape 41"/>
          <p:cNvSpPr/>
          <p:nvPr/>
        </p:nvSpPr>
        <p:spPr>
          <a:xfrm>
            <a:off x="10652759" y="5056632"/>
            <a:ext cx="777242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5" name="Text 42"/>
          <p:cNvSpPr txBox="1"/>
          <p:nvPr/>
        </p:nvSpPr>
        <p:spPr>
          <a:xfrm>
            <a:off x="10652759" y="5130291"/>
            <a:ext cx="777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276" name="Shape 43"/>
          <p:cNvSpPr/>
          <p:nvPr/>
        </p:nvSpPr>
        <p:spPr>
          <a:xfrm>
            <a:off x="640079" y="5449823"/>
            <a:ext cx="10927082" cy="512066"/>
          </a:xfrm>
          <a:prstGeom prst="rect">
            <a:avLst/>
          </a:prstGeom>
          <a:solidFill>
            <a:srgbClr val="FFFFFF"/>
          </a:solidFill>
          <a:ln w="6350"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77" name="Shape 44"/>
          <p:cNvSpPr/>
          <p:nvPr/>
        </p:nvSpPr>
        <p:spPr>
          <a:xfrm>
            <a:off x="804672" y="5513832"/>
            <a:ext cx="384051" cy="38405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78" name="Image 6" descr="Image 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05255" y="5614415"/>
            <a:ext cx="182882" cy="182882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Text 45"/>
          <p:cNvSpPr txBox="1"/>
          <p:nvPr/>
        </p:nvSpPr>
        <p:spPr>
          <a:xfrm>
            <a:off x="1325878" y="5622352"/>
            <a:ext cx="2651763" cy="167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b="1" sz="1100">
                <a:solidFill>
                  <a:srgbClr val="0A275C"/>
                </a:solidFill>
              </a:defRPr>
            </a:lvl1pPr>
          </a:lstStyle>
          <a:p>
            <a:pPr/>
            <a:r>
              <a:t>CDN / platform</a:t>
            </a:r>
          </a:p>
        </p:txBody>
      </p:sp>
      <p:sp>
        <p:nvSpPr>
          <p:cNvPr id="280" name="Text 46"/>
          <p:cNvSpPr txBox="1"/>
          <p:nvPr/>
        </p:nvSpPr>
        <p:spPr>
          <a:xfrm>
            <a:off x="3977640" y="5623940"/>
            <a:ext cx="6492242" cy="163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Edge-cache &amp; origin health, encoder/platform status per content source</a:t>
            </a:r>
          </a:p>
        </p:txBody>
      </p:sp>
      <p:sp>
        <p:nvSpPr>
          <p:cNvPr id="281" name="Shape 47"/>
          <p:cNvSpPr/>
          <p:nvPr/>
        </p:nvSpPr>
        <p:spPr>
          <a:xfrm>
            <a:off x="10652759" y="5568696"/>
            <a:ext cx="777242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2" name="Text 48"/>
          <p:cNvSpPr txBox="1"/>
          <p:nvPr/>
        </p:nvSpPr>
        <p:spPr>
          <a:xfrm>
            <a:off x="10652759" y="5642355"/>
            <a:ext cx="777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283" name="Shape 49"/>
          <p:cNvSpPr/>
          <p:nvPr/>
        </p:nvSpPr>
        <p:spPr>
          <a:xfrm>
            <a:off x="685798" y="6080759"/>
            <a:ext cx="146307" cy="146307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4" name="Text 50"/>
          <p:cNvSpPr txBox="1"/>
          <p:nvPr/>
        </p:nvSpPr>
        <p:spPr>
          <a:xfrm>
            <a:off x="886966" y="6076231"/>
            <a:ext cx="292608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275C"/>
                </a:solidFill>
              </a:defRPr>
            </a:lvl1pPr>
          </a:lstStyle>
          <a:p>
            <a:pPr/>
            <a:r>
              <a:t>Available today</a:t>
            </a:r>
          </a:p>
        </p:txBody>
      </p:sp>
      <p:sp>
        <p:nvSpPr>
          <p:cNvPr id="285" name="Shape 51"/>
          <p:cNvSpPr/>
          <p:nvPr/>
        </p:nvSpPr>
        <p:spPr>
          <a:xfrm>
            <a:off x="3657598" y="6080759"/>
            <a:ext cx="146307" cy="146307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6" name="Text 52"/>
          <p:cNvSpPr txBox="1"/>
          <p:nvPr/>
        </p:nvSpPr>
        <p:spPr>
          <a:xfrm>
            <a:off x="3858767" y="6076231"/>
            <a:ext cx="292608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275C"/>
                </a:solidFill>
              </a:defRPr>
            </a:lvl1pPr>
          </a:lstStyle>
          <a:p>
            <a:pPr/>
            <a:r>
              <a:t>Requires integration with Telefónica</a:t>
            </a:r>
          </a:p>
        </p:txBody>
      </p:sp>
      <p:sp>
        <p:nvSpPr>
          <p:cNvPr id="287" name="Text 53"/>
          <p:cNvSpPr txBox="1"/>
          <p:nvPr/>
        </p:nvSpPr>
        <p:spPr>
          <a:xfrm>
            <a:off x="502919" y="6547611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288" name="Text 54"/>
          <p:cNvSpPr txBox="1"/>
          <p:nvPr/>
        </p:nvSpPr>
        <p:spPr>
          <a:xfrm>
            <a:off x="8945574" y="65476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7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 txBox="1"/>
          <p:nvPr/>
        </p:nvSpPr>
        <p:spPr>
          <a:xfrm>
            <a:off x="548640" y="481505"/>
            <a:ext cx="10058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1265FF"/>
                </a:solidFill>
              </a:defRPr>
            </a:lvl1pPr>
          </a:lstStyle>
          <a:p>
            <a:pPr/>
            <a:r>
              <a:t>WHAT MAKES IT A GRAPH, NOT A DASHBOARD</a:t>
            </a:r>
          </a:p>
        </p:txBody>
      </p:sp>
      <p:sp>
        <p:nvSpPr>
          <p:cNvPr id="293" name="Text 1"/>
          <p:cNvSpPr txBox="1"/>
          <p:nvPr/>
        </p:nvSpPr>
        <p:spPr>
          <a:xfrm>
            <a:off x="548640" y="713230"/>
            <a:ext cx="10515601" cy="41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Graph construction &amp; service-path data</a:t>
            </a:r>
          </a:p>
        </p:txBody>
      </p:sp>
      <p:sp>
        <p:nvSpPr>
          <p:cNvPr id="294" name="Text 2"/>
          <p:cNvSpPr txBox="1"/>
          <p:nvPr/>
        </p:nvSpPr>
        <p:spPr>
          <a:xfrm>
            <a:off x="640079" y="1421128"/>
            <a:ext cx="10927082" cy="403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600"/>
              </a:lnSpc>
              <a:defRPr i="1" sz="1200">
                <a:solidFill>
                  <a:srgbClr val="BBD2FF"/>
                </a:solidFill>
              </a:defRPr>
            </a:lvl1pPr>
          </a:lstStyle>
          <a:p>
            <a:pPr/>
            <a:r>
              <a:t>Events tell us what happened. Path identity and explicit relationships tell us what 2,000 affected customers share — the path, the content, the multicast group, the encoder, or the segment. That commonality is the attribution.</a:t>
            </a:r>
          </a:p>
        </p:txBody>
      </p:sp>
      <p:sp>
        <p:nvSpPr>
          <p:cNvPr id="295" name="Shape 3"/>
          <p:cNvSpPr/>
          <p:nvPr/>
        </p:nvSpPr>
        <p:spPr>
          <a:xfrm>
            <a:off x="640080" y="2103120"/>
            <a:ext cx="1221868" cy="868682"/>
          </a:xfrm>
          <a:prstGeom prst="roundRect">
            <a:avLst>
              <a:gd name="adj" fmla="val 8421"/>
            </a:avLst>
          </a:prstGeom>
          <a:solidFill>
            <a:srgbClr val="1265FF"/>
          </a:solidFill>
          <a:ln w="12700">
            <a:solidFill>
              <a:srgbClr val="1265FF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29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6420" y="2249422"/>
            <a:ext cx="329186" cy="329186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Text 4"/>
          <p:cNvSpPr txBox="1"/>
          <p:nvPr/>
        </p:nvSpPr>
        <p:spPr>
          <a:xfrm>
            <a:off x="594359" y="2707131"/>
            <a:ext cx="13133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STB</a:t>
            </a:r>
          </a:p>
        </p:txBody>
      </p:sp>
      <p:sp>
        <p:nvSpPr>
          <p:cNvPr id="298" name="Text 5"/>
          <p:cNvSpPr txBox="1"/>
          <p:nvPr/>
        </p:nvSpPr>
        <p:spPr>
          <a:xfrm>
            <a:off x="1843658" y="2454079"/>
            <a:ext cx="20117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99" name="Shape 6"/>
          <p:cNvSpPr/>
          <p:nvPr/>
        </p:nvSpPr>
        <p:spPr>
          <a:xfrm>
            <a:off x="2026539" y="2103120"/>
            <a:ext cx="1221869" cy="868682"/>
          </a:xfrm>
          <a:prstGeom prst="roundRect">
            <a:avLst>
              <a:gd name="adj" fmla="val 8421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00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72880" y="2249422"/>
            <a:ext cx="329186" cy="329186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Text 7"/>
          <p:cNvSpPr txBox="1"/>
          <p:nvPr/>
        </p:nvSpPr>
        <p:spPr>
          <a:xfrm>
            <a:off x="1980818" y="2707131"/>
            <a:ext cx="13133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Household</a:t>
            </a:r>
          </a:p>
        </p:txBody>
      </p:sp>
      <p:sp>
        <p:nvSpPr>
          <p:cNvPr id="302" name="Text 8"/>
          <p:cNvSpPr txBox="1"/>
          <p:nvPr/>
        </p:nvSpPr>
        <p:spPr>
          <a:xfrm>
            <a:off x="3230116" y="2454079"/>
            <a:ext cx="20117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03" name="Shape 9"/>
          <p:cNvSpPr/>
          <p:nvPr/>
        </p:nvSpPr>
        <p:spPr>
          <a:xfrm>
            <a:off x="3412997" y="2103120"/>
            <a:ext cx="1221869" cy="868682"/>
          </a:xfrm>
          <a:prstGeom prst="roundRect">
            <a:avLst>
              <a:gd name="adj" fmla="val 8421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04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859340" y="2249422"/>
            <a:ext cx="329186" cy="329186"/>
          </a:xfrm>
          <a:prstGeom prst="rect">
            <a:avLst/>
          </a:prstGeom>
          <a:ln w="12700">
            <a:miter lim="400000"/>
          </a:ln>
        </p:spPr>
      </p:pic>
      <p:sp>
        <p:nvSpPr>
          <p:cNvPr id="305" name="Text 10"/>
          <p:cNvSpPr txBox="1"/>
          <p:nvPr/>
        </p:nvSpPr>
        <p:spPr>
          <a:xfrm>
            <a:off x="3367278" y="2707131"/>
            <a:ext cx="13133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ONT</a:t>
            </a:r>
          </a:p>
        </p:txBody>
      </p:sp>
      <p:sp>
        <p:nvSpPr>
          <p:cNvPr id="306" name="Text 11"/>
          <p:cNvSpPr txBox="1"/>
          <p:nvPr/>
        </p:nvSpPr>
        <p:spPr>
          <a:xfrm>
            <a:off x="4616577" y="2454079"/>
            <a:ext cx="20117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07" name="Shape 12"/>
          <p:cNvSpPr/>
          <p:nvPr/>
        </p:nvSpPr>
        <p:spPr>
          <a:xfrm>
            <a:off x="4799457" y="2103120"/>
            <a:ext cx="1221869" cy="868682"/>
          </a:xfrm>
          <a:prstGeom prst="roundRect">
            <a:avLst>
              <a:gd name="adj" fmla="val 8421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08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245799" y="2249422"/>
            <a:ext cx="329186" cy="329186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Text 13"/>
          <p:cNvSpPr txBox="1"/>
          <p:nvPr/>
        </p:nvSpPr>
        <p:spPr>
          <a:xfrm>
            <a:off x="4753735" y="2707131"/>
            <a:ext cx="13133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OLT</a:t>
            </a:r>
          </a:p>
        </p:txBody>
      </p:sp>
      <p:sp>
        <p:nvSpPr>
          <p:cNvPr id="310" name="Text 14"/>
          <p:cNvSpPr txBox="1"/>
          <p:nvPr/>
        </p:nvSpPr>
        <p:spPr>
          <a:xfrm>
            <a:off x="6003035" y="2454079"/>
            <a:ext cx="20117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11" name="Shape 15"/>
          <p:cNvSpPr/>
          <p:nvPr/>
        </p:nvSpPr>
        <p:spPr>
          <a:xfrm>
            <a:off x="6185915" y="2103120"/>
            <a:ext cx="1221869" cy="868682"/>
          </a:xfrm>
          <a:prstGeom prst="roundRect">
            <a:avLst>
              <a:gd name="adj" fmla="val 8421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12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632257" y="2249422"/>
            <a:ext cx="329186" cy="329186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Text 16"/>
          <p:cNvSpPr txBox="1"/>
          <p:nvPr/>
        </p:nvSpPr>
        <p:spPr>
          <a:xfrm>
            <a:off x="6140196" y="2707131"/>
            <a:ext cx="13133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Aggreg.</a:t>
            </a:r>
          </a:p>
        </p:txBody>
      </p:sp>
      <p:sp>
        <p:nvSpPr>
          <p:cNvPr id="314" name="Text 17"/>
          <p:cNvSpPr txBox="1"/>
          <p:nvPr/>
        </p:nvSpPr>
        <p:spPr>
          <a:xfrm>
            <a:off x="7389493" y="2454079"/>
            <a:ext cx="20117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15" name="Shape 18"/>
          <p:cNvSpPr/>
          <p:nvPr/>
        </p:nvSpPr>
        <p:spPr>
          <a:xfrm>
            <a:off x="7572375" y="2103120"/>
            <a:ext cx="1221867" cy="868682"/>
          </a:xfrm>
          <a:prstGeom prst="roundRect">
            <a:avLst>
              <a:gd name="adj" fmla="val 8421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16" name="Image 5" descr="Image 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018715" y="2249422"/>
            <a:ext cx="329186" cy="329186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Text 19"/>
          <p:cNvSpPr txBox="1"/>
          <p:nvPr/>
        </p:nvSpPr>
        <p:spPr>
          <a:xfrm>
            <a:off x="7526655" y="2707131"/>
            <a:ext cx="13133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BNG / Core</a:t>
            </a:r>
          </a:p>
        </p:txBody>
      </p:sp>
      <p:sp>
        <p:nvSpPr>
          <p:cNvPr id="318" name="Text 20"/>
          <p:cNvSpPr txBox="1"/>
          <p:nvPr/>
        </p:nvSpPr>
        <p:spPr>
          <a:xfrm>
            <a:off x="8775954" y="2454079"/>
            <a:ext cx="20117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19" name="Shape 21"/>
          <p:cNvSpPr/>
          <p:nvPr/>
        </p:nvSpPr>
        <p:spPr>
          <a:xfrm>
            <a:off x="8958833" y="2103120"/>
            <a:ext cx="1221868" cy="868682"/>
          </a:xfrm>
          <a:prstGeom prst="roundRect">
            <a:avLst>
              <a:gd name="adj" fmla="val 8421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20" name="Image 6" descr="Image 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405176" y="2249422"/>
            <a:ext cx="329186" cy="329186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Text 22"/>
          <p:cNvSpPr txBox="1"/>
          <p:nvPr/>
        </p:nvSpPr>
        <p:spPr>
          <a:xfrm>
            <a:off x="8913114" y="2707131"/>
            <a:ext cx="13133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CDN Edge</a:t>
            </a:r>
          </a:p>
        </p:txBody>
      </p:sp>
      <p:sp>
        <p:nvSpPr>
          <p:cNvPr id="322" name="Text 23"/>
          <p:cNvSpPr txBox="1"/>
          <p:nvPr/>
        </p:nvSpPr>
        <p:spPr>
          <a:xfrm>
            <a:off x="10162413" y="2454079"/>
            <a:ext cx="20117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323" name="Shape 24"/>
          <p:cNvSpPr/>
          <p:nvPr/>
        </p:nvSpPr>
        <p:spPr>
          <a:xfrm>
            <a:off x="10345293" y="2103120"/>
            <a:ext cx="1221869" cy="868682"/>
          </a:xfrm>
          <a:prstGeom prst="roundRect">
            <a:avLst>
              <a:gd name="adj" fmla="val 8421"/>
            </a:avLst>
          </a:prstGeom>
          <a:solidFill>
            <a:srgbClr val="1265FF"/>
          </a:solidFill>
          <a:ln w="12700">
            <a:solidFill>
              <a:srgbClr val="1265FF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24" name="Image 7" descr="Image 7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0791635" y="2249422"/>
            <a:ext cx="329186" cy="329186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Text 25"/>
          <p:cNvSpPr txBox="1"/>
          <p:nvPr/>
        </p:nvSpPr>
        <p:spPr>
          <a:xfrm>
            <a:off x="10299572" y="2707131"/>
            <a:ext cx="13133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Content</a:t>
            </a:r>
          </a:p>
        </p:txBody>
      </p:sp>
      <p:sp>
        <p:nvSpPr>
          <p:cNvPr id="326" name="Text 26"/>
          <p:cNvSpPr txBox="1"/>
          <p:nvPr/>
        </p:nvSpPr>
        <p:spPr>
          <a:xfrm>
            <a:off x="640079" y="3150151"/>
            <a:ext cx="109270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000">
                <a:solidFill>
                  <a:srgbClr val="6E8FC9"/>
                </a:solidFill>
              </a:defRPr>
            </a:lvl1pPr>
          </a:lstStyle>
          <a:p>
            <a:pPr/>
            <a:r>
              <a:t>Every customer is a path through this chain — model the chain explicitly and a fault's location falls out of the structure.</a:t>
            </a:r>
          </a:p>
        </p:txBody>
      </p:sp>
      <p:sp>
        <p:nvSpPr>
          <p:cNvPr id="327" name="Shape 27"/>
          <p:cNvSpPr/>
          <p:nvPr/>
        </p:nvSpPr>
        <p:spPr>
          <a:xfrm>
            <a:off x="640080" y="3977640"/>
            <a:ext cx="5440680" cy="2148842"/>
          </a:xfrm>
          <a:prstGeom prst="roundRect">
            <a:avLst>
              <a:gd name="adj" fmla="val 3830"/>
            </a:avLst>
          </a:prstGeom>
          <a:solidFill>
            <a:srgbClr val="0E2E68"/>
          </a:solidFill>
          <a:ln w="12700">
            <a:solidFill>
              <a:srgbClr val="1265FF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8" name="Shape 28"/>
          <p:cNvSpPr/>
          <p:nvPr/>
        </p:nvSpPr>
        <p:spPr>
          <a:xfrm>
            <a:off x="640080" y="3977640"/>
            <a:ext cx="5440680" cy="420626"/>
          </a:xfrm>
          <a:prstGeom prst="roundRect">
            <a:avLst>
              <a:gd name="adj" fmla="val 19565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9" name="Shape 29"/>
          <p:cNvSpPr/>
          <p:nvPr/>
        </p:nvSpPr>
        <p:spPr>
          <a:xfrm>
            <a:off x="640080" y="4197096"/>
            <a:ext cx="5440680" cy="201170"/>
          </a:xfrm>
          <a:prstGeom prst="rect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0" name="Text 30"/>
          <p:cNvSpPr txBox="1"/>
          <p:nvPr/>
        </p:nvSpPr>
        <p:spPr>
          <a:xfrm>
            <a:off x="822958" y="4119415"/>
            <a:ext cx="512064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000">
                <a:solidFill>
                  <a:srgbClr val="FFFFFF"/>
                </a:solidFill>
              </a:defRPr>
            </a:lvl1pPr>
          </a:lstStyle>
          <a:p>
            <a:pPr/>
            <a:r>
              <a:t>GRAPH CONSTRUCTION — every entity &amp; relationship</a:t>
            </a:r>
          </a:p>
        </p:txBody>
      </p:sp>
      <p:sp>
        <p:nvSpPr>
          <p:cNvPr id="331" name="Shape 31"/>
          <p:cNvSpPr/>
          <p:nvPr/>
        </p:nvSpPr>
        <p:spPr>
          <a:xfrm>
            <a:off x="868680" y="4553710"/>
            <a:ext cx="91443" cy="91443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2" name="Text 32"/>
          <p:cNvSpPr txBox="1"/>
          <p:nvPr/>
        </p:nvSpPr>
        <p:spPr>
          <a:xfrm>
            <a:off x="1051558" y="4538502"/>
            <a:ext cx="4937764" cy="140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BBD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entity_id / entity_type   </a:t>
            </a:r>
            <a:r>
              <a:rPr b="0">
                <a:latin typeface="+mn-lt"/>
                <a:ea typeface="+mn-ea"/>
                <a:cs typeface="+mn-cs"/>
                <a:sym typeface="Calibri"/>
              </a:rPr>
              <a:t>node identity &amp; kind</a:t>
            </a:r>
          </a:p>
        </p:txBody>
      </p:sp>
      <p:sp>
        <p:nvSpPr>
          <p:cNvPr id="333" name="Shape 33"/>
          <p:cNvSpPr/>
          <p:nvPr/>
        </p:nvSpPr>
        <p:spPr>
          <a:xfrm>
            <a:off x="868680" y="4855464"/>
            <a:ext cx="91443" cy="91443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4" name="Text 34"/>
          <p:cNvSpPr txBox="1"/>
          <p:nvPr/>
        </p:nvSpPr>
        <p:spPr>
          <a:xfrm>
            <a:off x="1051558" y="4840254"/>
            <a:ext cx="4937764" cy="140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BBD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parent_entity / child_entity   </a:t>
            </a:r>
            <a:r>
              <a:rPr b="0">
                <a:latin typeface="+mn-lt"/>
                <a:ea typeface="+mn-ea"/>
                <a:cs typeface="+mn-cs"/>
                <a:sym typeface="Calibri"/>
              </a:rPr>
              <a:t>the edges of the graph</a:t>
            </a:r>
          </a:p>
        </p:txBody>
      </p:sp>
      <p:sp>
        <p:nvSpPr>
          <p:cNvPr id="335" name="Shape 35"/>
          <p:cNvSpPr/>
          <p:nvPr/>
        </p:nvSpPr>
        <p:spPr>
          <a:xfrm>
            <a:off x="868680" y="5157215"/>
            <a:ext cx="91443" cy="91443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6" name="Text 36"/>
          <p:cNvSpPr txBox="1"/>
          <p:nvPr/>
        </p:nvSpPr>
        <p:spPr>
          <a:xfrm>
            <a:off x="1051558" y="5142005"/>
            <a:ext cx="4937764" cy="140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BBD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relationship_type   </a:t>
            </a:r>
            <a:r>
              <a:rPr b="0">
                <a:latin typeface="+mn-lt"/>
                <a:ea typeface="+mn-ea"/>
                <a:cs typeface="+mn-cs"/>
                <a:sym typeface="Calibri"/>
              </a:rPr>
              <a:t>STB→Household→ONT→OLT→…</a:t>
            </a:r>
          </a:p>
        </p:txBody>
      </p:sp>
      <p:sp>
        <p:nvSpPr>
          <p:cNvPr id="337" name="Shape 37"/>
          <p:cNvSpPr/>
          <p:nvPr/>
        </p:nvSpPr>
        <p:spPr>
          <a:xfrm>
            <a:off x="868680" y="5458967"/>
            <a:ext cx="91443" cy="91443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38" name="Text 38"/>
          <p:cNvSpPr txBox="1"/>
          <p:nvPr/>
        </p:nvSpPr>
        <p:spPr>
          <a:xfrm>
            <a:off x="1051558" y="5443758"/>
            <a:ext cx="4937764" cy="140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BBD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relationship_start / end   </a:t>
            </a:r>
            <a:r>
              <a:rPr b="0">
                <a:latin typeface="+mn-lt"/>
                <a:ea typeface="+mn-ea"/>
                <a:cs typeface="+mn-cs"/>
                <a:sym typeface="Calibri"/>
              </a:rPr>
              <a:t>time-valid topology</a:t>
            </a:r>
          </a:p>
        </p:txBody>
      </p:sp>
      <p:sp>
        <p:nvSpPr>
          <p:cNvPr id="339" name="Shape 39"/>
          <p:cNvSpPr/>
          <p:nvPr/>
        </p:nvSpPr>
        <p:spPr>
          <a:xfrm>
            <a:off x="868680" y="5760720"/>
            <a:ext cx="91443" cy="91443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0" name="Text 40"/>
          <p:cNvSpPr txBox="1"/>
          <p:nvPr/>
        </p:nvSpPr>
        <p:spPr>
          <a:xfrm>
            <a:off x="1051558" y="5745510"/>
            <a:ext cx="4937764" cy="140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BBD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link_capacity / confidence   </a:t>
            </a:r>
            <a:r>
              <a:rPr b="0">
                <a:latin typeface="+mn-lt"/>
                <a:ea typeface="+mn-ea"/>
                <a:cs typeface="+mn-cs"/>
                <a:sym typeface="Calibri"/>
              </a:rPr>
              <a:t>edge weight &amp; certainty</a:t>
            </a:r>
          </a:p>
        </p:txBody>
      </p:sp>
      <p:sp>
        <p:nvSpPr>
          <p:cNvPr id="341" name="Shape 41"/>
          <p:cNvSpPr/>
          <p:nvPr/>
        </p:nvSpPr>
        <p:spPr>
          <a:xfrm>
            <a:off x="6263640" y="3977640"/>
            <a:ext cx="5257802" cy="2148842"/>
          </a:xfrm>
          <a:prstGeom prst="roundRect">
            <a:avLst>
              <a:gd name="adj" fmla="val 3830"/>
            </a:avLst>
          </a:prstGeom>
          <a:solidFill>
            <a:srgbClr val="0E2E68"/>
          </a:solidFill>
          <a:ln w="12700">
            <a:solidFill>
              <a:srgbClr val="1265FF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2" name="Shape 42"/>
          <p:cNvSpPr/>
          <p:nvPr/>
        </p:nvSpPr>
        <p:spPr>
          <a:xfrm>
            <a:off x="6263640" y="3977640"/>
            <a:ext cx="5257802" cy="420626"/>
          </a:xfrm>
          <a:prstGeom prst="roundRect">
            <a:avLst>
              <a:gd name="adj" fmla="val 19565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3" name="Shape 43"/>
          <p:cNvSpPr/>
          <p:nvPr/>
        </p:nvSpPr>
        <p:spPr>
          <a:xfrm>
            <a:off x="6263640" y="4197096"/>
            <a:ext cx="5257802" cy="201170"/>
          </a:xfrm>
          <a:prstGeom prst="rect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4" name="Text 44"/>
          <p:cNvSpPr txBox="1"/>
          <p:nvPr/>
        </p:nvSpPr>
        <p:spPr>
          <a:xfrm>
            <a:off x="6446518" y="4119415"/>
            <a:ext cx="493776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1000">
                <a:solidFill>
                  <a:srgbClr val="FFFFFF"/>
                </a:solidFill>
              </a:defRPr>
            </a:lvl1pPr>
          </a:lstStyle>
          <a:p>
            <a:pPr/>
            <a:r>
              <a:t>PATH IDENTITY — the commonality fields</a:t>
            </a:r>
          </a:p>
        </p:txBody>
      </p:sp>
      <p:sp>
        <p:nvSpPr>
          <p:cNvPr id="345" name="Shape 45"/>
          <p:cNvSpPr/>
          <p:nvPr/>
        </p:nvSpPr>
        <p:spPr>
          <a:xfrm>
            <a:off x="6492240" y="4553710"/>
            <a:ext cx="91443" cy="91443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6" name="Text 46"/>
          <p:cNvSpPr txBox="1"/>
          <p:nvPr/>
        </p:nvSpPr>
        <p:spPr>
          <a:xfrm>
            <a:off x="6675118" y="4538502"/>
            <a:ext cx="4754882" cy="140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BBD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path_id   </a:t>
            </a:r>
            <a:r>
              <a:rPr b="0">
                <a:latin typeface="+mn-lt"/>
                <a:ea typeface="+mn-ea"/>
                <a:cs typeface="+mn-cs"/>
                <a:sym typeface="Calibri"/>
              </a:rPr>
              <a:t>the end-to-end service path</a:t>
            </a:r>
          </a:p>
        </p:txBody>
      </p:sp>
      <p:sp>
        <p:nvSpPr>
          <p:cNvPr id="347" name="Shape 47"/>
          <p:cNvSpPr/>
          <p:nvPr/>
        </p:nvSpPr>
        <p:spPr>
          <a:xfrm>
            <a:off x="6492240" y="4855464"/>
            <a:ext cx="91443" cy="91443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8" name="Text 48"/>
          <p:cNvSpPr txBox="1"/>
          <p:nvPr/>
        </p:nvSpPr>
        <p:spPr>
          <a:xfrm>
            <a:off x="6675118" y="4840254"/>
            <a:ext cx="4754882" cy="140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BBD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content_id / channel_id   </a:t>
            </a:r>
            <a:r>
              <a:rPr b="0">
                <a:latin typeface="+mn-lt"/>
                <a:ea typeface="+mn-ea"/>
                <a:cs typeface="+mn-cs"/>
                <a:sym typeface="Calibri"/>
              </a:rPr>
              <a:t>which content / channel</a:t>
            </a:r>
          </a:p>
        </p:txBody>
      </p:sp>
      <p:sp>
        <p:nvSpPr>
          <p:cNvPr id="349" name="Shape 49"/>
          <p:cNvSpPr/>
          <p:nvPr/>
        </p:nvSpPr>
        <p:spPr>
          <a:xfrm>
            <a:off x="6492240" y="5157215"/>
            <a:ext cx="91443" cy="91443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0" name="Text 50"/>
          <p:cNvSpPr txBox="1"/>
          <p:nvPr/>
        </p:nvSpPr>
        <p:spPr>
          <a:xfrm>
            <a:off x="6675118" y="5142005"/>
            <a:ext cx="4754882" cy="140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BBD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multicast_group_id   </a:t>
            </a:r>
            <a:r>
              <a:rPr b="0">
                <a:latin typeface="+mn-lt"/>
                <a:ea typeface="+mn-ea"/>
                <a:cs typeface="+mn-cs"/>
                <a:sym typeface="Calibri"/>
              </a:rPr>
              <a:t>the IPTV multicast group</a:t>
            </a:r>
          </a:p>
        </p:txBody>
      </p:sp>
      <p:sp>
        <p:nvSpPr>
          <p:cNvPr id="351" name="Shape 51"/>
          <p:cNvSpPr/>
          <p:nvPr/>
        </p:nvSpPr>
        <p:spPr>
          <a:xfrm>
            <a:off x="6492240" y="5458967"/>
            <a:ext cx="91443" cy="91443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2" name="Text 52"/>
          <p:cNvSpPr txBox="1"/>
          <p:nvPr/>
        </p:nvSpPr>
        <p:spPr>
          <a:xfrm>
            <a:off x="6675118" y="5443758"/>
            <a:ext cx="4754882" cy="140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BBD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route_id / ecmp_path   </a:t>
            </a:r>
            <a:r>
              <a:rPr b="0">
                <a:latin typeface="+mn-lt"/>
                <a:ea typeface="+mn-ea"/>
                <a:cs typeface="+mn-cs"/>
                <a:sym typeface="Calibri"/>
              </a:rPr>
              <a:t>the core route taken</a:t>
            </a:r>
          </a:p>
        </p:txBody>
      </p:sp>
      <p:sp>
        <p:nvSpPr>
          <p:cNvPr id="353" name="Shape 53"/>
          <p:cNvSpPr/>
          <p:nvPr/>
        </p:nvSpPr>
        <p:spPr>
          <a:xfrm>
            <a:off x="6492240" y="5760720"/>
            <a:ext cx="91443" cy="91443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54" name="Text 54"/>
          <p:cNvSpPr txBox="1"/>
          <p:nvPr/>
        </p:nvSpPr>
        <p:spPr>
          <a:xfrm>
            <a:off x="6675118" y="5745510"/>
            <a:ext cx="4754882" cy="140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900">
                <a:solidFill>
                  <a:srgbClr val="BBD2FF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cdn_edge_id / encoder_id   </a:t>
            </a:r>
            <a:r>
              <a:rPr b="0">
                <a:latin typeface="+mn-lt"/>
                <a:ea typeface="+mn-ea"/>
                <a:cs typeface="+mn-cs"/>
                <a:sym typeface="Calibri"/>
              </a:rPr>
              <a:t>the serving edge &amp; encoder</a:t>
            </a:r>
          </a:p>
        </p:txBody>
      </p:sp>
      <p:sp>
        <p:nvSpPr>
          <p:cNvPr id="355" name="Text 55"/>
          <p:cNvSpPr txBox="1"/>
          <p:nvPr/>
        </p:nvSpPr>
        <p:spPr>
          <a:xfrm>
            <a:off x="640079" y="6304831"/>
            <a:ext cx="1092708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i="1" sz="1000">
                <a:solidFill>
                  <a:srgbClr val="BBD2FF"/>
                </a:solidFill>
              </a:defRPr>
            </a:lvl1pPr>
          </a:lstStyle>
          <a:p>
            <a:pPr/>
            <a:r>
              <a:t>Without explicit relationship and path fields you have labels, not a graph — these are what a traditional observability platform cannot offer.</a:t>
            </a:r>
          </a:p>
        </p:txBody>
      </p:sp>
      <p:sp>
        <p:nvSpPr>
          <p:cNvPr id="356" name="Text 56"/>
          <p:cNvSpPr txBox="1"/>
          <p:nvPr/>
        </p:nvSpPr>
        <p:spPr>
          <a:xfrm>
            <a:off x="502919" y="6547611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E8FC9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357" name="Text 57"/>
          <p:cNvSpPr txBox="1"/>
          <p:nvPr/>
        </p:nvSpPr>
        <p:spPr>
          <a:xfrm>
            <a:off x="8945574" y="65476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6E8FC9"/>
                </a:solidFill>
              </a:defRPr>
            </a:lvl1pPr>
          </a:lstStyle>
          <a:p>
            <a:pPr/>
            <a:r>
              <a:t>Future Space SA   ·   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 txBox="1"/>
          <p:nvPr/>
        </p:nvSpPr>
        <p:spPr>
          <a:xfrm>
            <a:off x="548640" y="481505"/>
            <a:ext cx="10058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1265FF"/>
                </a:solidFill>
              </a:defRPr>
            </a:lvl1pPr>
          </a:lstStyle>
          <a:p>
            <a:pPr/>
            <a:r>
              <a:t>USE CASE 1 — NETWORK NODES</a:t>
            </a:r>
          </a:p>
        </p:txBody>
      </p:sp>
      <p:sp>
        <p:nvSpPr>
          <p:cNvPr id="362" name="Text 1"/>
          <p:cNvSpPr txBox="1"/>
          <p:nvPr/>
        </p:nvSpPr>
        <p:spPr>
          <a:xfrm>
            <a:off x="548640" y="713230"/>
            <a:ext cx="9601201" cy="41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800">
                <a:solidFill>
                  <a:srgbClr val="0A275C"/>
                </a:solidFill>
              </a:defRPr>
            </a:lvl1pPr>
          </a:lstStyle>
          <a:p>
            <a:pPr/>
            <a:r>
              <a:t>Predict a node failure before it spreads — and say what to do</a:t>
            </a:r>
          </a:p>
        </p:txBody>
      </p:sp>
      <p:sp>
        <p:nvSpPr>
          <p:cNvPr id="363" name="Shape 2"/>
          <p:cNvSpPr/>
          <p:nvPr/>
        </p:nvSpPr>
        <p:spPr>
          <a:xfrm>
            <a:off x="10698480" y="502918"/>
            <a:ext cx="868683" cy="868684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4" name="Text 3"/>
          <p:cNvSpPr txBox="1"/>
          <p:nvPr/>
        </p:nvSpPr>
        <p:spPr>
          <a:xfrm>
            <a:off x="10698480" y="711859"/>
            <a:ext cx="868682" cy="45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65" name="Shape 4"/>
          <p:cNvSpPr/>
          <p:nvPr/>
        </p:nvSpPr>
        <p:spPr>
          <a:xfrm>
            <a:off x="640080" y="1783078"/>
            <a:ext cx="5440680" cy="1965962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2E0FB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66" name="Text 5"/>
          <p:cNvSpPr txBox="1"/>
          <p:nvPr/>
        </p:nvSpPr>
        <p:spPr>
          <a:xfrm>
            <a:off x="868678" y="2034583"/>
            <a:ext cx="493776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5B6B86"/>
                </a:solidFill>
              </a:defRPr>
            </a:lvl1pPr>
          </a:lstStyle>
          <a:p>
            <a:pPr/>
            <a:r>
              <a:t>THE PROBLEM TODAY</a:t>
            </a:r>
          </a:p>
        </p:txBody>
      </p:sp>
      <p:sp>
        <p:nvSpPr>
          <p:cNvPr id="367" name="Text 6"/>
          <p:cNvSpPr txBox="1"/>
          <p:nvPr/>
        </p:nvSpPr>
        <p:spPr>
          <a:xfrm>
            <a:off x="868680" y="2240278"/>
            <a:ext cx="4983480" cy="858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0A275C"/>
                </a:solidFill>
              </a:defRPr>
            </a:lvl1pPr>
          </a:lstStyle>
          <a:p>
            <a:pPr/>
            <a:r>
              <a:t>Faults at an access node or aggregation point surface as scattered, unexplained complaints — pixelation and freezes across nearby homes. By the time they correlate, many homes are already degraded and the operator is dispatching technicians to the wrong place.</a:t>
            </a:r>
          </a:p>
        </p:txBody>
      </p:sp>
      <p:sp>
        <p:nvSpPr>
          <p:cNvPr id="368" name="Shape 7"/>
          <p:cNvSpPr/>
          <p:nvPr/>
        </p:nvSpPr>
        <p:spPr>
          <a:xfrm>
            <a:off x="640080" y="3886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0A275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69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8680" y="4114800"/>
            <a:ext cx="411482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Text 8"/>
          <p:cNvSpPr txBox="1"/>
          <p:nvPr/>
        </p:nvSpPr>
        <p:spPr>
          <a:xfrm>
            <a:off x="1417320" y="4201712"/>
            <a:ext cx="448056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1265FF"/>
                </a:solidFill>
              </a:defRPr>
            </a:lvl1pPr>
          </a:lstStyle>
          <a:p>
            <a:pPr/>
            <a:r>
              <a:t>WHAT WE DELIVER</a:t>
            </a:r>
          </a:p>
        </p:txBody>
      </p:sp>
      <p:sp>
        <p:nvSpPr>
          <p:cNvPr id="371" name="Text 9"/>
          <p:cNvSpPr txBox="1"/>
          <p:nvPr/>
        </p:nvSpPr>
        <p:spPr>
          <a:xfrm>
            <a:off x="868679" y="4571998"/>
            <a:ext cx="5029203" cy="681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300">
                <a:solidFill>
                  <a:srgbClr val="EAF1FC"/>
                </a:solidFill>
              </a:defRPr>
            </a:lvl1pPr>
          </a:lstStyle>
          <a:p>
            <a:pPr/>
            <a:r>
              <a:t>We detect the early structural signature of a node fault as it begins to form, name the exact node, and recommend the specific corrective action — before the wave of complaints arrives.</a:t>
            </a:r>
          </a:p>
        </p:txBody>
      </p:sp>
      <p:sp>
        <p:nvSpPr>
          <p:cNvPr id="372" name="Shape 10"/>
          <p:cNvSpPr/>
          <p:nvPr/>
        </p:nvSpPr>
        <p:spPr>
          <a:xfrm>
            <a:off x="6355079" y="1783078"/>
            <a:ext cx="5166362" cy="4251962"/>
          </a:xfrm>
          <a:prstGeom prst="roundRect">
            <a:avLst>
              <a:gd name="adj" fmla="val 1935"/>
            </a:avLst>
          </a:prstGeom>
          <a:solidFill>
            <a:srgbClr val="EAF1FC"/>
          </a:solidFill>
          <a:ln w="12700">
            <a:solidFill>
              <a:srgbClr val="D2E0FB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3" name="Text 11"/>
          <p:cNvSpPr txBox="1"/>
          <p:nvPr/>
        </p:nvSpPr>
        <p:spPr>
          <a:xfrm>
            <a:off x="6629399" y="2062015"/>
            <a:ext cx="466344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0A275C"/>
                </a:solidFill>
              </a:defRPr>
            </a:lvl1pPr>
          </a:lstStyle>
          <a:p>
            <a:pPr/>
            <a:r>
              <a:t>DATA THIS USE CASE NEEDS, BY LAYER</a:t>
            </a:r>
          </a:p>
        </p:txBody>
      </p:sp>
      <p:sp>
        <p:nvSpPr>
          <p:cNvPr id="374" name="Shape 12"/>
          <p:cNvSpPr/>
          <p:nvPr/>
        </p:nvSpPr>
        <p:spPr>
          <a:xfrm>
            <a:off x="6629400" y="2395727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5" name="Shape 13"/>
          <p:cNvSpPr/>
          <p:nvPr/>
        </p:nvSpPr>
        <p:spPr>
          <a:xfrm>
            <a:off x="6766559" y="2514599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7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39711" y="2587750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377" name="Text 14"/>
          <p:cNvSpPr txBox="1"/>
          <p:nvPr/>
        </p:nvSpPr>
        <p:spPr>
          <a:xfrm>
            <a:off x="7178040" y="2590736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Set-Top Box  </a:t>
            </a:r>
            <a:r>
              <a:rPr b="0"/>
              <a:t>playback/error events, reboots</a:t>
            </a:r>
          </a:p>
        </p:txBody>
      </p:sp>
      <p:sp>
        <p:nvSpPr>
          <p:cNvPr id="378" name="Shape 15"/>
          <p:cNvSpPr/>
          <p:nvPr/>
        </p:nvSpPr>
        <p:spPr>
          <a:xfrm>
            <a:off x="10469880" y="2523744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Text 16"/>
          <p:cNvSpPr txBox="1"/>
          <p:nvPr/>
        </p:nvSpPr>
        <p:spPr>
          <a:xfrm>
            <a:off x="10469880" y="2597404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380" name="Shape 17"/>
          <p:cNvSpPr/>
          <p:nvPr/>
        </p:nvSpPr>
        <p:spPr>
          <a:xfrm>
            <a:off x="6629400" y="2999232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Shape 18"/>
          <p:cNvSpPr/>
          <p:nvPr/>
        </p:nvSpPr>
        <p:spPr>
          <a:xfrm>
            <a:off x="6766559" y="3118104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82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39711" y="3191255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Text 19"/>
          <p:cNvSpPr txBox="1"/>
          <p:nvPr/>
        </p:nvSpPr>
        <p:spPr>
          <a:xfrm>
            <a:off x="7178040" y="3194239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Home / Router  </a:t>
            </a:r>
            <a:r>
              <a:rPr b="0"/>
              <a:t>to rule out in-home causes</a:t>
            </a:r>
          </a:p>
        </p:txBody>
      </p:sp>
      <p:sp>
        <p:nvSpPr>
          <p:cNvPr id="384" name="Shape 20"/>
          <p:cNvSpPr/>
          <p:nvPr/>
        </p:nvSpPr>
        <p:spPr>
          <a:xfrm>
            <a:off x="10469880" y="3127248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Text 21"/>
          <p:cNvSpPr txBox="1"/>
          <p:nvPr/>
        </p:nvSpPr>
        <p:spPr>
          <a:xfrm>
            <a:off x="10469880" y="3200907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386" name="Shape 22"/>
          <p:cNvSpPr/>
          <p:nvPr/>
        </p:nvSpPr>
        <p:spPr>
          <a:xfrm>
            <a:off x="6629400" y="3602735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7" name="Shape 23"/>
          <p:cNvSpPr/>
          <p:nvPr/>
        </p:nvSpPr>
        <p:spPr>
          <a:xfrm>
            <a:off x="6766559" y="3721608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88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839711" y="3794759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389" name="Text 24"/>
          <p:cNvSpPr txBox="1"/>
          <p:nvPr/>
        </p:nvSpPr>
        <p:spPr>
          <a:xfrm>
            <a:off x="7178040" y="3797744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Topology  </a:t>
            </a:r>
            <a:r>
              <a:rPr b="0"/>
              <a:t>device → access node mapping</a:t>
            </a:r>
          </a:p>
        </p:txBody>
      </p:sp>
      <p:sp>
        <p:nvSpPr>
          <p:cNvPr id="390" name="Shape 25"/>
          <p:cNvSpPr/>
          <p:nvPr/>
        </p:nvSpPr>
        <p:spPr>
          <a:xfrm>
            <a:off x="10469880" y="3730752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Text 26"/>
          <p:cNvSpPr txBox="1"/>
          <p:nvPr/>
        </p:nvSpPr>
        <p:spPr>
          <a:xfrm>
            <a:off x="10469880" y="3804411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392" name="Shape 27"/>
          <p:cNvSpPr/>
          <p:nvPr/>
        </p:nvSpPr>
        <p:spPr>
          <a:xfrm>
            <a:off x="6629400" y="4206240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Shape 28"/>
          <p:cNvSpPr/>
          <p:nvPr/>
        </p:nvSpPr>
        <p:spPr>
          <a:xfrm>
            <a:off x="6766559" y="4325110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394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839711" y="4398264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395" name="Text 29"/>
          <p:cNvSpPr txBox="1"/>
          <p:nvPr/>
        </p:nvSpPr>
        <p:spPr>
          <a:xfrm>
            <a:off x="7178040" y="4401248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Access net  </a:t>
            </a:r>
            <a:r>
              <a:rPr b="0"/>
              <a:t>line/aggregation health</a:t>
            </a:r>
          </a:p>
        </p:txBody>
      </p:sp>
      <p:sp>
        <p:nvSpPr>
          <p:cNvPr id="396" name="Shape 30"/>
          <p:cNvSpPr/>
          <p:nvPr/>
        </p:nvSpPr>
        <p:spPr>
          <a:xfrm>
            <a:off x="10469880" y="4334254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Text 31"/>
          <p:cNvSpPr txBox="1"/>
          <p:nvPr/>
        </p:nvSpPr>
        <p:spPr>
          <a:xfrm>
            <a:off x="10469880" y="4407915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398" name="Shape 32"/>
          <p:cNvSpPr/>
          <p:nvPr/>
        </p:nvSpPr>
        <p:spPr>
          <a:xfrm>
            <a:off x="6629400" y="4809744"/>
            <a:ext cx="4617721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Shape 33"/>
          <p:cNvSpPr/>
          <p:nvPr/>
        </p:nvSpPr>
        <p:spPr>
          <a:xfrm>
            <a:off x="6766559" y="4928615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00" name="Image 5" descr="Image 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839711" y="5001767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401" name="Text 34"/>
          <p:cNvSpPr txBox="1"/>
          <p:nvPr/>
        </p:nvSpPr>
        <p:spPr>
          <a:xfrm>
            <a:off x="7178040" y="5004751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Core  </a:t>
            </a:r>
            <a:r>
              <a:rPr b="0"/>
              <a:t>transport load on the path</a:t>
            </a:r>
          </a:p>
        </p:txBody>
      </p:sp>
      <p:sp>
        <p:nvSpPr>
          <p:cNvPr id="402" name="Shape 35"/>
          <p:cNvSpPr/>
          <p:nvPr/>
        </p:nvSpPr>
        <p:spPr>
          <a:xfrm>
            <a:off x="10469880" y="4937759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Text 36"/>
          <p:cNvSpPr txBox="1"/>
          <p:nvPr/>
        </p:nvSpPr>
        <p:spPr>
          <a:xfrm>
            <a:off x="10469880" y="5011418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404" name="Shape 37"/>
          <p:cNvSpPr/>
          <p:nvPr/>
        </p:nvSpPr>
        <p:spPr>
          <a:xfrm>
            <a:off x="640080" y="6165850"/>
            <a:ext cx="1088136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3606"/>
                </a:moveTo>
                <a:cubicBezTo>
                  <a:pt x="0" y="1614"/>
                  <a:pt x="0" y="0"/>
                  <a:pt x="0" y="0"/>
                </a:cubicBezTo>
                <a:lnTo>
                  <a:pt x="21600" y="0"/>
                </a:lnTo>
                <a:cubicBezTo>
                  <a:pt x="21600" y="0"/>
                  <a:pt x="21600" y="1614"/>
                  <a:pt x="21600" y="3606"/>
                </a:cubicBezTo>
                <a:lnTo>
                  <a:pt x="21600" y="17994"/>
                </a:lnTo>
                <a:cubicBezTo>
                  <a:pt x="21600" y="19986"/>
                  <a:pt x="21600" y="21600"/>
                  <a:pt x="21600" y="21600"/>
                </a:cubicBezTo>
                <a:lnTo>
                  <a:pt x="0" y="21600"/>
                </a:lnTo>
                <a:cubicBezTo>
                  <a:pt x="0" y="21600"/>
                  <a:pt x="0" y="19986"/>
                  <a:pt x="0" y="17994"/>
                </a:cubicBezTo>
                <a:close/>
              </a:path>
            </a:pathLst>
          </a:cu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Text 38"/>
          <p:cNvSpPr txBox="1"/>
          <p:nvPr/>
        </p:nvSpPr>
        <p:spPr>
          <a:xfrm>
            <a:off x="502919" y="6547611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406" name="Text 39"/>
          <p:cNvSpPr txBox="1"/>
          <p:nvPr/>
        </p:nvSpPr>
        <p:spPr>
          <a:xfrm>
            <a:off x="8945574" y="65476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7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ext 0"/>
          <p:cNvSpPr txBox="1"/>
          <p:nvPr/>
        </p:nvSpPr>
        <p:spPr>
          <a:xfrm>
            <a:off x="548640" y="481505"/>
            <a:ext cx="10058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1265FF"/>
                </a:solidFill>
              </a:defRPr>
            </a:lvl1pPr>
          </a:lstStyle>
          <a:p>
            <a:pPr/>
            <a:r>
              <a:t>USE CASE 1 — HOW IT'S SOLVED</a:t>
            </a:r>
          </a:p>
        </p:txBody>
      </p:sp>
      <p:sp>
        <p:nvSpPr>
          <p:cNvPr id="411" name="Text 1"/>
          <p:cNvSpPr txBox="1"/>
          <p:nvPr/>
        </p:nvSpPr>
        <p:spPr>
          <a:xfrm>
            <a:off x="548640" y="713230"/>
            <a:ext cx="10515601" cy="41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From scattered events to a named node and a fix</a:t>
            </a:r>
          </a:p>
        </p:txBody>
      </p:sp>
      <p:sp>
        <p:nvSpPr>
          <p:cNvPr id="412" name="Shape 2"/>
          <p:cNvSpPr/>
          <p:nvPr/>
        </p:nvSpPr>
        <p:spPr>
          <a:xfrm>
            <a:off x="640080" y="1828800"/>
            <a:ext cx="2526030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Shape 3"/>
          <p:cNvSpPr/>
          <p:nvPr/>
        </p:nvSpPr>
        <p:spPr>
          <a:xfrm>
            <a:off x="91440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Text 4"/>
          <p:cNvSpPr txBox="1"/>
          <p:nvPr/>
        </p:nvSpPr>
        <p:spPr>
          <a:xfrm>
            <a:off x="91440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pic>
        <p:nvPicPr>
          <p:cNvPr id="41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4315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416" name="Text 5"/>
          <p:cNvSpPr txBox="1"/>
          <p:nvPr/>
        </p:nvSpPr>
        <p:spPr>
          <a:xfrm>
            <a:off x="91440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Stream the signals</a:t>
            </a:r>
          </a:p>
        </p:txBody>
      </p:sp>
      <p:sp>
        <p:nvSpPr>
          <p:cNvPr id="417" name="Text 6"/>
          <p:cNvSpPr txBox="1"/>
          <p:nvPr/>
        </p:nvSpPr>
        <p:spPr>
          <a:xfrm>
            <a:off x="914399" y="3310128"/>
            <a:ext cx="2023113" cy="707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Per-device playback errors, freezes and reboots flow in continuously and are scored against each device's own baseline.</a:t>
            </a:r>
          </a:p>
        </p:txBody>
      </p:sp>
      <p:sp>
        <p:nvSpPr>
          <p:cNvPr id="418" name="Text 7"/>
          <p:cNvSpPr txBox="1"/>
          <p:nvPr/>
        </p:nvSpPr>
        <p:spPr>
          <a:xfrm>
            <a:off x="3147822" y="3144609"/>
            <a:ext cx="31089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9" name="Shape 8"/>
          <p:cNvSpPr/>
          <p:nvPr/>
        </p:nvSpPr>
        <p:spPr>
          <a:xfrm>
            <a:off x="3440429" y="1828800"/>
            <a:ext cx="2526032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" name="Shape 9"/>
          <p:cNvSpPr/>
          <p:nvPr/>
        </p:nvSpPr>
        <p:spPr>
          <a:xfrm>
            <a:off x="371475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1" name="Text 10"/>
          <p:cNvSpPr txBox="1"/>
          <p:nvPr/>
        </p:nvSpPr>
        <p:spPr>
          <a:xfrm>
            <a:off x="371475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422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4350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423" name="Text 11"/>
          <p:cNvSpPr txBox="1"/>
          <p:nvPr/>
        </p:nvSpPr>
        <p:spPr>
          <a:xfrm>
            <a:off x="371475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Find the shared structure</a:t>
            </a:r>
          </a:p>
        </p:txBody>
      </p:sp>
      <p:sp>
        <p:nvSpPr>
          <p:cNvPr id="424" name="Text 12"/>
          <p:cNvSpPr txBox="1"/>
          <p:nvPr/>
        </p:nvSpPr>
        <p:spPr>
          <a:xfrm>
            <a:off x="3714748" y="3310128"/>
            <a:ext cx="2023113" cy="885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Affected devices are placed on the graph. When pixelation-type events concentrate on devices sharing one access node or path, that co-movement is the fault's signature.</a:t>
            </a:r>
          </a:p>
        </p:txBody>
      </p:sp>
      <p:sp>
        <p:nvSpPr>
          <p:cNvPr id="425" name="Text 13"/>
          <p:cNvSpPr txBox="1"/>
          <p:nvPr/>
        </p:nvSpPr>
        <p:spPr>
          <a:xfrm>
            <a:off x="5948171" y="3144609"/>
            <a:ext cx="31089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26" name="Shape 14"/>
          <p:cNvSpPr/>
          <p:nvPr/>
        </p:nvSpPr>
        <p:spPr>
          <a:xfrm>
            <a:off x="6240779" y="1828800"/>
            <a:ext cx="2526032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Shape 15"/>
          <p:cNvSpPr/>
          <p:nvPr/>
        </p:nvSpPr>
        <p:spPr>
          <a:xfrm>
            <a:off x="651510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" name="Text 16"/>
          <p:cNvSpPr txBox="1"/>
          <p:nvPr/>
        </p:nvSpPr>
        <p:spPr>
          <a:xfrm>
            <a:off x="651510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429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94385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430" name="Text 17"/>
          <p:cNvSpPr txBox="1"/>
          <p:nvPr/>
        </p:nvSpPr>
        <p:spPr>
          <a:xfrm>
            <a:off x="651510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Predict the spread</a:t>
            </a:r>
          </a:p>
        </p:txBody>
      </p:sp>
      <p:sp>
        <p:nvSpPr>
          <p:cNvPr id="431" name="Text 18"/>
          <p:cNvSpPr txBox="1"/>
          <p:nvPr/>
        </p:nvSpPr>
        <p:spPr>
          <a:xfrm>
            <a:off x="6515099" y="3310128"/>
            <a:ext cx="2023113" cy="707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The early shape — a growing cluster on one node — is detected before most customers notice, and projected forward to flag the node at risk.</a:t>
            </a:r>
          </a:p>
        </p:txBody>
      </p:sp>
      <p:sp>
        <p:nvSpPr>
          <p:cNvPr id="432" name="Text 19"/>
          <p:cNvSpPr txBox="1"/>
          <p:nvPr/>
        </p:nvSpPr>
        <p:spPr>
          <a:xfrm>
            <a:off x="8748521" y="3144609"/>
            <a:ext cx="31089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33" name="Shape 20"/>
          <p:cNvSpPr/>
          <p:nvPr/>
        </p:nvSpPr>
        <p:spPr>
          <a:xfrm>
            <a:off x="9041130" y="1828800"/>
            <a:ext cx="2526032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Shape 21"/>
          <p:cNvSpPr/>
          <p:nvPr/>
        </p:nvSpPr>
        <p:spPr>
          <a:xfrm>
            <a:off x="931545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Text 22"/>
          <p:cNvSpPr txBox="1"/>
          <p:nvPr/>
        </p:nvSpPr>
        <p:spPr>
          <a:xfrm>
            <a:off x="931545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pic>
        <p:nvPicPr>
          <p:cNvPr id="436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74420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Text 23"/>
          <p:cNvSpPr txBox="1"/>
          <p:nvPr/>
        </p:nvSpPr>
        <p:spPr>
          <a:xfrm>
            <a:off x="931545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Prescribe the action</a:t>
            </a:r>
          </a:p>
        </p:txBody>
      </p:sp>
      <p:sp>
        <p:nvSpPr>
          <p:cNvPr id="438" name="Text 24"/>
          <p:cNvSpPr txBox="1"/>
          <p:nvPr/>
        </p:nvSpPr>
        <p:spPr>
          <a:xfrm>
            <a:off x="9315449" y="3310128"/>
            <a:ext cx="2023113" cy="707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The layer names the node and the most likely cause (aggregation, line, transport) and routes the specific remediation to the right team.</a:t>
            </a:r>
          </a:p>
        </p:txBody>
      </p:sp>
      <p:sp>
        <p:nvSpPr>
          <p:cNvPr id="439" name="Shape 25"/>
          <p:cNvSpPr/>
          <p:nvPr/>
        </p:nvSpPr>
        <p:spPr>
          <a:xfrm>
            <a:off x="640080" y="5029200"/>
            <a:ext cx="10927082" cy="1143000"/>
          </a:xfrm>
          <a:prstGeom prst="roundRect">
            <a:avLst>
              <a:gd name="adj" fmla="val 8000"/>
            </a:avLst>
          </a:prstGeom>
          <a:solidFill>
            <a:srgbClr val="1265FF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40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60119" y="5330952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441" name="Text 26"/>
          <p:cNvSpPr txBox="1"/>
          <p:nvPr/>
        </p:nvSpPr>
        <p:spPr>
          <a:xfrm>
            <a:off x="1691639" y="5244127"/>
            <a:ext cx="9601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DCE8FF"/>
                </a:solidFill>
              </a:defRPr>
            </a:lvl1pPr>
          </a:lstStyle>
          <a:p>
            <a:pPr/>
            <a:r>
              <a:t>THE OUTPUT THE OPERATOR RECEIVES</a:t>
            </a:r>
          </a:p>
        </p:txBody>
      </p:sp>
      <p:sp>
        <p:nvSpPr>
          <p:cNvPr id="442" name="Text 27"/>
          <p:cNvSpPr txBox="1"/>
          <p:nvPr/>
        </p:nvSpPr>
        <p:spPr>
          <a:xfrm>
            <a:off x="1691638" y="5440679"/>
            <a:ext cx="9692644" cy="452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“Access node A-2741 degrading: 18 homes with rising freeze/re-tune events over 25 min, signature = local aggregation. Recommended: inspect aggregation port before complaints escalate.”</a:t>
            </a:r>
          </a:p>
        </p:txBody>
      </p:sp>
      <p:sp>
        <p:nvSpPr>
          <p:cNvPr id="443" name="Text 28"/>
          <p:cNvSpPr txBox="1"/>
          <p:nvPr/>
        </p:nvSpPr>
        <p:spPr>
          <a:xfrm>
            <a:off x="502919" y="6547611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E8FC9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444" name="Text 29"/>
          <p:cNvSpPr txBox="1"/>
          <p:nvPr/>
        </p:nvSpPr>
        <p:spPr>
          <a:xfrm>
            <a:off x="8945574" y="65476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6E8FC9"/>
                </a:solidFill>
              </a:defRPr>
            </a:lvl1pPr>
          </a:lstStyle>
          <a:p>
            <a:pPr/>
            <a:r>
              <a:t>Future Space SA   ·   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 0"/>
          <p:cNvSpPr txBox="1"/>
          <p:nvPr/>
        </p:nvSpPr>
        <p:spPr>
          <a:xfrm>
            <a:off x="548640" y="481505"/>
            <a:ext cx="10058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1265FF"/>
                </a:solidFill>
              </a:defRPr>
            </a:lvl1pPr>
          </a:lstStyle>
          <a:p>
            <a:pPr/>
            <a:r>
              <a:t>USE CASE 2 — INDIVIDUAL CUSTOMERS</a:t>
            </a:r>
          </a:p>
        </p:txBody>
      </p:sp>
      <p:sp>
        <p:nvSpPr>
          <p:cNvPr id="449" name="Text 1"/>
          <p:cNvSpPr txBox="1"/>
          <p:nvPr/>
        </p:nvSpPr>
        <p:spPr>
          <a:xfrm>
            <a:off x="548640" y="713230"/>
            <a:ext cx="9601201" cy="820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800">
                <a:solidFill>
                  <a:srgbClr val="0A275C"/>
                </a:solidFill>
              </a:defRPr>
            </a:lvl1pPr>
          </a:lstStyle>
          <a:p>
            <a:pPr/>
            <a:r>
              <a:t>Predict a specific customer's degradation — and the action to prevent it</a:t>
            </a:r>
          </a:p>
        </p:txBody>
      </p:sp>
      <p:sp>
        <p:nvSpPr>
          <p:cNvPr id="450" name="Shape 2"/>
          <p:cNvSpPr/>
          <p:nvPr/>
        </p:nvSpPr>
        <p:spPr>
          <a:xfrm>
            <a:off x="10698480" y="502918"/>
            <a:ext cx="868683" cy="868684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" name="Text 3"/>
          <p:cNvSpPr txBox="1"/>
          <p:nvPr/>
        </p:nvSpPr>
        <p:spPr>
          <a:xfrm>
            <a:off x="10698480" y="711859"/>
            <a:ext cx="868682" cy="45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52" name="Shape 4"/>
          <p:cNvSpPr/>
          <p:nvPr/>
        </p:nvSpPr>
        <p:spPr>
          <a:xfrm>
            <a:off x="640080" y="1783078"/>
            <a:ext cx="5440680" cy="1965962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2E0FB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3" name="Text 5"/>
          <p:cNvSpPr txBox="1"/>
          <p:nvPr/>
        </p:nvSpPr>
        <p:spPr>
          <a:xfrm>
            <a:off x="868678" y="2034583"/>
            <a:ext cx="493776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5B6B86"/>
                </a:solidFill>
              </a:defRPr>
            </a:lvl1pPr>
          </a:lstStyle>
          <a:p>
            <a:pPr/>
            <a:r>
              <a:t>THE PROBLEM TODAY</a:t>
            </a:r>
          </a:p>
        </p:txBody>
      </p:sp>
      <p:sp>
        <p:nvSpPr>
          <p:cNvPr id="454" name="Text 6"/>
          <p:cNvSpPr txBox="1"/>
          <p:nvPr/>
        </p:nvSpPr>
        <p:spPr>
          <a:xfrm>
            <a:off x="868680" y="2240278"/>
            <a:ext cx="4983480" cy="642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0A275C"/>
                </a:solidFill>
              </a:defRPr>
            </a:lvl1pPr>
          </a:lstStyle>
          <a:p>
            <a:pPr/>
            <a:r>
              <a:t>Today a customer is only visible once they call. Their experience has usually been deteriorating for days — repeated re-tunes, buffering, reboots — but nothing flags it until frustration turns into a support call or a cancellation.</a:t>
            </a:r>
          </a:p>
        </p:txBody>
      </p:sp>
      <p:sp>
        <p:nvSpPr>
          <p:cNvPr id="455" name="Shape 7"/>
          <p:cNvSpPr/>
          <p:nvPr/>
        </p:nvSpPr>
        <p:spPr>
          <a:xfrm>
            <a:off x="640080" y="3886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0A275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5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8680" y="4114800"/>
            <a:ext cx="411482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57" name="Text 8"/>
          <p:cNvSpPr txBox="1"/>
          <p:nvPr/>
        </p:nvSpPr>
        <p:spPr>
          <a:xfrm>
            <a:off x="1417320" y="4201712"/>
            <a:ext cx="448056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1265FF"/>
                </a:solidFill>
              </a:defRPr>
            </a:lvl1pPr>
          </a:lstStyle>
          <a:p>
            <a:pPr/>
            <a:r>
              <a:t>WHAT WE DELIVER</a:t>
            </a:r>
          </a:p>
        </p:txBody>
      </p:sp>
      <p:sp>
        <p:nvSpPr>
          <p:cNvPr id="458" name="Text 9"/>
          <p:cNvSpPr txBox="1"/>
          <p:nvPr/>
        </p:nvSpPr>
        <p:spPr>
          <a:xfrm>
            <a:off x="868679" y="4571998"/>
            <a:ext cx="5029203" cy="681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300">
                <a:solidFill>
                  <a:srgbClr val="EAF1FC"/>
                </a:solidFill>
              </a:defRPr>
            </a:lvl1pPr>
          </a:lstStyle>
          <a:p>
            <a:pPr/>
            <a:r>
              <a:t>We score each household against its own baseline, detect an emerging degradation early, and recommend the specific action for that customer — a targeted fix, a proactive contact, or a pre-emptive dispatch.</a:t>
            </a:r>
          </a:p>
        </p:txBody>
      </p:sp>
      <p:sp>
        <p:nvSpPr>
          <p:cNvPr id="459" name="Shape 10"/>
          <p:cNvSpPr/>
          <p:nvPr/>
        </p:nvSpPr>
        <p:spPr>
          <a:xfrm>
            <a:off x="6355079" y="1783078"/>
            <a:ext cx="5166362" cy="4251962"/>
          </a:xfrm>
          <a:prstGeom prst="roundRect">
            <a:avLst>
              <a:gd name="adj" fmla="val 1935"/>
            </a:avLst>
          </a:prstGeom>
          <a:solidFill>
            <a:srgbClr val="EAF1FC"/>
          </a:solidFill>
          <a:ln w="12700">
            <a:solidFill>
              <a:srgbClr val="D2E0FB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" name="Text 11"/>
          <p:cNvSpPr txBox="1"/>
          <p:nvPr/>
        </p:nvSpPr>
        <p:spPr>
          <a:xfrm>
            <a:off x="6629399" y="2062015"/>
            <a:ext cx="466344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0A275C"/>
                </a:solidFill>
              </a:defRPr>
            </a:lvl1pPr>
          </a:lstStyle>
          <a:p>
            <a:pPr/>
            <a:r>
              <a:t>DATA THIS USE CASE NEEDS, BY LAYER</a:t>
            </a:r>
          </a:p>
        </p:txBody>
      </p:sp>
      <p:sp>
        <p:nvSpPr>
          <p:cNvPr id="461" name="Shape 12"/>
          <p:cNvSpPr/>
          <p:nvPr/>
        </p:nvSpPr>
        <p:spPr>
          <a:xfrm>
            <a:off x="6629400" y="2395727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" name="Shape 13"/>
          <p:cNvSpPr/>
          <p:nvPr/>
        </p:nvSpPr>
        <p:spPr>
          <a:xfrm>
            <a:off x="6766559" y="2514599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63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39711" y="2587750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Text 14"/>
          <p:cNvSpPr txBox="1"/>
          <p:nvPr/>
        </p:nvSpPr>
        <p:spPr>
          <a:xfrm>
            <a:off x="7178040" y="2590736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Set-Top Box  </a:t>
            </a:r>
            <a:r>
              <a:rPr b="0"/>
              <a:t>per-device events &amp; errors</a:t>
            </a:r>
          </a:p>
        </p:txBody>
      </p:sp>
      <p:sp>
        <p:nvSpPr>
          <p:cNvPr id="465" name="Shape 15"/>
          <p:cNvSpPr/>
          <p:nvPr/>
        </p:nvSpPr>
        <p:spPr>
          <a:xfrm>
            <a:off x="10469880" y="2523744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" name="Text 16"/>
          <p:cNvSpPr txBox="1"/>
          <p:nvPr/>
        </p:nvSpPr>
        <p:spPr>
          <a:xfrm>
            <a:off x="10469880" y="2597404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467" name="Shape 17"/>
          <p:cNvSpPr/>
          <p:nvPr/>
        </p:nvSpPr>
        <p:spPr>
          <a:xfrm>
            <a:off x="6629400" y="2999232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8" name="Shape 18"/>
          <p:cNvSpPr/>
          <p:nvPr/>
        </p:nvSpPr>
        <p:spPr>
          <a:xfrm>
            <a:off x="6766559" y="3118104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69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39711" y="3191255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470" name="Text 19"/>
          <p:cNvSpPr txBox="1"/>
          <p:nvPr/>
        </p:nvSpPr>
        <p:spPr>
          <a:xfrm>
            <a:off x="7178040" y="3194239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Home / Router  </a:t>
            </a:r>
            <a:r>
              <a:rPr b="0"/>
              <a:t>Wi-Fi quality, gateway</a:t>
            </a:r>
          </a:p>
        </p:txBody>
      </p:sp>
      <p:sp>
        <p:nvSpPr>
          <p:cNvPr id="471" name="Shape 20"/>
          <p:cNvSpPr/>
          <p:nvPr/>
        </p:nvSpPr>
        <p:spPr>
          <a:xfrm>
            <a:off x="10469880" y="3127248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2" name="Text 21"/>
          <p:cNvSpPr txBox="1"/>
          <p:nvPr/>
        </p:nvSpPr>
        <p:spPr>
          <a:xfrm>
            <a:off x="10469880" y="3200907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473" name="Shape 22"/>
          <p:cNvSpPr/>
          <p:nvPr/>
        </p:nvSpPr>
        <p:spPr>
          <a:xfrm>
            <a:off x="6629400" y="3602735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Shape 23"/>
          <p:cNvSpPr/>
          <p:nvPr/>
        </p:nvSpPr>
        <p:spPr>
          <a:xfrm>
            <a:off x="6766559" y="3721608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75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839711" y="3794759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Text 24"/>
          <p:cNvSpPr txBox="1"/>
          <p:nvPr/>
        </p:nvSpPr>
        <p:spPr>
          <a:xfrm>
            <a:off x="7178040" y="3797744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Customer  </a:t>
            </a:r>
            <a:r>
              <a:rPr b="0"/>
              <a:t>device → household mapping</a:t>
            </a:r>
          </a:p>
        </p:txBody>
      </p:sp>
      <p:sp>
        <p:nvSpPr>
          <p:cNvPr id="477" name="Shape 25"/>
          <p:cNvSpPr/>
          <p:nvPr/>
        </p:nvSpPr>
        <p:spPr>
          <a:xfrm>
            <a:off x="10469880" y="3730752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8" name="Text 26"/>
          <p:cNvSpPr txBox="1"/>
          <p:nvPr/>
        </p:nvSpPr>
        <p:spPr>
          <a:xfrm>
            <a:off x="10469880" y="3804411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479" name="Shape 27"/>
          <p:cNvSpPr/>
          <p:nvPr/>
        </p:nvSpPr>
        <p:spPr>
          <a:xfrm>
            <a:off x="6629400" y="4206240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" name="Shape 28"/>
          <p:cNvSpPr/>
          <p:nvPr/>
        </p:nvSpPr>
        <p:spPr>
          <a:xfrm>
            <a:off x="6766559" y="4325110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81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839711" y="4398264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482" name="Text 29"/>
          <p:cNvSpPr txBox="1"/>
          <p:nvPr/>
        </p:nvSpPr>
        <p:spPr>
          <a:xfrm>
            <a:off x="7178040" y="4401248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Geography  </a:t>
            </a:r>
            <a:r>
              <a:rPr b="0"/>
              <a:t>to separate home vs. area</a:t>
            </a:r>
          </a:p>
        </p:txBody>
      </p:sp>
      <p:sp>
        <p:nvSpPr>
          <p:cNvPr id="483" name="Shape 30"/>
          <p:cNvSpPr/>
          <p:nvPr/>
        </p:nvSpPr>
        <p:spPr>
          <a:xfrm>
            <a:off x="10469880" y="4334254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Text 31"/>
          <p:cNvSpPr txBox="1"/>
          <p:nvPr/>
        </p:nvSpPr>
        <p:spPr>
          <a:xfrm>
            <a:off x="10469880" y="4407915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485" name="Shape 32"/>
          <p:cNvSpPr/>
          <p:nvPr/>
        </p:nvSpPr>
        <p:spPr>
          <a:xfrm>
            <a:off x="6629400" y="4809744"/>
            <a:ext cx="4617721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Shape 33"/>
          <p:cNvSpPr/>
          <p:nvPr/>
        </p:nvSpPr>
        <p:spPr>
          <a:xfrm>
            <a:off x="6766559" y="4928615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487" name="Image 5" descr="Image 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839711" y="5001767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488" name="Text 34"/>
          <p:cNvSpPr txBox="1"/>
          <p:nvPr/>
        </p:nvSpPr>
        <p:spPr>
          <a:xfrm>
            <a:off x="7178040" y="5004751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Access net  </a:t>
            </a:r>
            <a:r>
              <a:rPr b="0"/>
              <a:t>to confirm it's home-specific</a:t>
            </a:r>
          </a:p>
        </p:txBody>
      </p:sp>
      <p:sp>
        <p:nvSpPr>
          <p:cNvPr id="489" name="Shape 35"/>
          <p:cNvSpPr/>
          <p:nvPr/>
        </p:nvSpPr>
        <p:spPr>
          <a:xfrm>
            <a:off x="10469880" y="4937759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0" name="Text 36"/>
          <p:cNvSpPr txBox="1"/>
          <p:nvPr/>
        </p:nvSpPr>
        <p:spPr>
          <a:xfrm>
            <a:off x="10469880" y="5011418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491" name="Shape 37"/>
          <p:cNvSpPr/>
          <p:nvPr/>
        </p:nvSpPr>
        <p:spPr>
          <a:xfrm>
            <a:off x="640080" y="6165850"/>
            <a:ext cx="1088136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3606"/>
                </a:moveTo>
                <a:cubicBezTo>
                  <a:pt x="0" y="1614"/>
                  <a:pt x="0" y="0"/>
                  <a:pt x="0" y="0"/>
                </a:cubicBezTo>
                <a:lnTo>
                  <a:pt x="21600" y="0"/>
                </a:lnTo>
                <a:cubicBezTo>
                  <a:pt x="21600" y="0"/>
                  <a:pt x="21600" y="1614"/>
                  <a:pt x="21600" y="3606"/>
                </a:cubicBezTo>
                <a:lnTo>
                  <a:pt x="21600" y="17994"/>
                </a:lnTo>
                <a:cubicBezTo>
                  <a:pt x="21600" y="19986"/>
                  <a:pt x="21600" y="21600"/>
                  <a:pt x="21600" y="21600"/>
                </a:cubicBezTo>
                <a:lnTo>
                  <a:pt x="0" y="21600"/>
                </a:lnTo>
                <a:cubicBezTo>
                  <a:pt x="0" y="21600"/>
                  <a:pt x="0" y="19986"/>
                  <a:pt x="0" y="17994"/>
                </a:cubicBezTo>
                <a:close/>
              </a:path>
            </a:pathLst>
          </a:cu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2" name="Text 38"/>
          <p:cNvSpPr txBox="1"/>
          <p:nvPr/>
        </p:nvSpPr>
        <p:spPr>
          <a:xfrm>
            <a:off x="502919" y="6547611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493" name="Text 39"/>
          <p:cNvSpPr txBox="1"/>
          <p:nvPr/>
        </p:nvSpPr>
        <p:spPr>
          <a:xfrm>
            <a:off x="8945574" y="65476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7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Text 0"/>
          <p:cNvSpPr txBox="1"/>
          <p:nvPr/>
        </p:nvSpPr>
        <p:spPr>
          <a:xfrm>
            <a:off x="548640" y="481505"/>
            <a:ext cx="10058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1265FF"/>
                </a:solidFill>
              </a:defRPr>
            </a:lvl1pPr>
          </a:lstStyle>
          <a:p>
            <a:pPr/>
            <a:r>
              <a:t>USE CASE 2 — HOW IT'S SOLVED</a:t>
            </a:r>
          </a:p>
        </p:txBody>
      </p:sp>
      <p:sp>
        <p:nvSpPr>
          <p:cNvPr id="498" name="Text 1"/>
          <p:cNvSpPr txBox="1"/>
          <p:nvPr/>
        </p:nvSpPr>
        <p:spPr>
          <a:xfrm>
            <a:off x="548640" y="713230"/>
            <a:ext cx="10515601" cy="41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From a silent decline to a targeted, pre-emptive action</a:t>
            </a:r>
          </a:p>
        </p:txBody>
      </p:sp>
      <p:sp>
        <p:nvSpPr>
          <p:cNvPr id="499" name="Shape 2"/>
          <p:cNvSpPr/>
          <p:nvPr/>
        </p:nvSpPr>
        <p:spPr>
          <a:xfrm>
            <a:off x="640080" y="1828800"/>
            <a:ext cx="2526030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0" name="Shape 3"/>
          <p:cNvSpPr/>
          <p:nvPr/>
        </p:nvSpPr>
        <p:spPr>
          <a:xfrm>
            <a:off x="91440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1" name="Text 4"/>
          <p:cNvSpPr txBox="1"/>
          <p:nvPr/>
        </p:nvSpPr>
        <p:spPr>
          <a:xfrm>
            <a:off x="91440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pic>
        <p:nvPicPr>
          <p:cNvPr id="502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4315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503" name="Text 5"/>
          <p:cNvSpPr txBox="1"/>
          <p:nvPr/>
        </p:nvSpPr>
        <p:spPr>
          <a:xfrm>
            <a:off x="91440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Baseline each household</a:t>
            </a:r>
          </a:p>
        </p:txBody>
      </p:sp>
      <p:sp>
        <p:nvSpPr>
          <p:cNvPr id="504" name="Text 6"/>
          <p:cNvSpPr txBox="1"/>
          <p:nvPr/>
        </p:nvSpPr>
        <p:spPr>
          <a:xfrm>
            <a:off x="914399" y="3310128"/>
            <a:ext cx="2023113" cy="885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Every household has its own normal. The layer scores deviation continuously, so a personal decline is visible even when the customer hasn't complained.</a:t>
            </a:r>
          </a:p>
        </p:txBody>
      </p:sp>
      <p:sp>
        <p:nvSpPr>
          <p:cNvPr id="505" name="Text 7"/>
          <p:cNvSpPr txBox="1"/>
          <p:nvPr/>
        </p:nvSpPr>
        <p:spPr>
          <a:xfrm>
            <a:off x="3147822" y="3144609"/>
            <a:ext cx="31089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06" name="Shape 8"/>
          <p:cNvSpPr/>
          <p:nvPr/>
        </p:nvSpPr>
        <p:spPr>
          <a:xfrm>
            <a:off x="3440429" y="1828800"/>
            <a:ext cx="2526032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7" name="Shape 9"/>
          <p:cNvSpPr/>
          <p:nvPr/>
        </p:nvSpPr>
        <p:spPr>
          <a:xfrm>
            <a:off x="371475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08" name="Text 10"/>
          <p:cNvSpPr txBox="1"/>
          <p:nvPr/>
        </p:nvSpPr>
        <p:spPr>
          <a:xfrm>
            <a:off x="371475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509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4350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510" name="Text 11"/>
          <p:cNvSpPr txBox="1"/>
          <p:nvPr/>
        </p:nvSpPr>
        <p:spPr>
          <a:xfrm>
            <a:off x="371475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Confirm it's the home</a:t>
            </a:r>
          </a:p>
        </p:txBody>
      </p:sp>
      <p:sp>
        <p:nvSpPr>
          <p:cNvPr id="511" name="Text 12"/>
          <p:cNvSpPr txBox="1"/>
          <p:nvPr/>
        </p:nvSpPr>
        <p:spPr>
          <a:xfrm>
            <a:off x="3714748" y="3310128"/>
            <a:ext cx="2023113" cy="707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The graph checks neighbours on the same node. If peers are fine, the cause is isolated to this household — not the network.</a:t>
            </a:r>
          </a:p>
        </p:txBody>
      </p:sp>
      <p:sp>
        <p:nvSpPr>
          <p:cNvPr id="512" name="Text 13"/>
          <p:cNvSpPr txBox="1"/>
          <p:nvPr/>
        </p:nvSpPr>
        <p:spPr>
          <a:xfrm>
            <a:off x="5948171" y="3144609"/>
            <a:ext cx="31089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13" name="Shape 14"/>
          <p:cNvSpPr/>
          <p:nvPr/>
        </p:nvSpPr>
        <p:spPr>
          <a:xfrm>
            <a:off x="6240779" y="1828800"/>
            <a:ext cx="2526032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Shape 15"/>
          <p:cNvSpPr/>
          <p:nvPr/>
        </p:nvSpPr>
        <p:spPr>
          <a:xfrm>
            <a:off x="651510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" name="Text 16"/>
          <p:cNvSpPr txBox="1"/>
          <p:nvPr/>
        </p:nvSpPr>
        <p:spPr>
          <a:xfrm>
            <a:off x="651510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516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94385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517" name="Text 17"/>
          <p:cNvSpPr txBox="1"/>
          <p:nvPr/>
        </p:nvSpPr>
        <p:spPr>
          <a:xfrm>
            <a:off x="651510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Predict the tipping point</a:t>
            </a:r>
          </a:p>
        </p:txBody>
      </p:sp>
      <p:sp>
        <p:nvSpPr>
          <p:cNvPr id="518" name="Text 18"/>
          <p:cNvSpPr txBox="1"/>
          <p:nvPr/>
        </p:nvSpPr>
        <p:spPr>
          <a:xfrm>
            <a:off x="6515099" y="3310128"/>
            <a:ext cx="2023113" cy="707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Repeated re-tunes, buffering or reboot patterns are projected forward to estimate when experience will cross into churn-risk territory.</a:t>
            </a:r>
          </a:p>
        </p:txBody>
      </p:sp>
      <p:sp>
        <p:nvSpPr>
          <p:cNvPr id="519" name="Text 19"/>
          <p:cNvSpPr txBox="1"/>
          <p:nvPr/>
        </p:nvSpPr>
        <p:spPr>
          <a:xfrm>
            <a:off x="8748521" y="3144609"/>
            <a:ext cx="31089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20" name="Shape 20"/>
          <p:cNvSpPr/>
          <p:nvPr/>
        </p:nvSpPr>
        <p:spPr>
          <a:xfrm>
            <a:off x="9041130" y="1828800"/>
            <a:ext cx="2526032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1" name="Shape 21"/>
          <p:cNvSpPr/>
          <p:nvPr/>
        </p:nvSpPr>
        <p:spPr>
          <a:xfrm>
            <a:off x="931545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2" name="Text 22"/>
          <p:cNvSpPr txBox="1"/>
          <p:nvPr/>
        </p:nvSpPr>
        <p:spPr>
          <a:xfrm>
            <a:off x="931545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pic>
        <p:nvPicPr>
          <p:cNvPr id="523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74420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524" name="Text 23"/>
          <p:cNvSpPr txBox="1"/>
          <p:nvPr/>
        </p:nvSpPr>
        <p:spPr>
          <a:xfrm>
            <a:off x="931545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Prescribe per-customer</a:t>
            </a:r>
          </a:p>
        </p:txBody>
      </p:sp>
      <p:sp>
        <p:nvSpPr>
          <p:cNvPr id="525" name="Text 24"/>
          <p:cNvSpPr txBox="1"/>
          <p:nvPr/>
        </p:nvSpPr>
        <p:spPr>
          <a:xfrm>
            <a:off x="9315449" y="3310128"/>
            <a:ext cx="2023113" cy="885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The layer recommends the specific action — push a config/firmware fix, proactive outreach, or a correctly-scoped visit — with the reasoning attached.</a:t>
            </a:r>
          </a:p>
        </p:txBody>
      </p:sp>
      <p:sp>
        <p:nvSpPr>
          <p:cNvPr id="526" name="Shape 25"/>
          <p:cNvSpPr/>
          <p:nvPr/>
        </p:nvSpPr>
        <p:spPr>
          <a:xfrm>
            <a:off x="640080" y="5029200"/>
            <a:ext cx="10927082" cy="1143000"/>
          </a:xfrm>
          <a:prstGeom prst="roundRect">
            <a:avLst>
              <a:gd name="adj" fmla="val 8000"/>
            </a:avLst>
          </a:prstGeom>
          <a:solidFill>
            <a:srgbClr val="1265FF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27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60119" y="5330952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528" name="Text 26"/>
          <p:cNvSpPr txBox="1"/>
          <p:nvPr/>
        </p:nvSpPr>
        <p:spPr>
          <a:xfrm>
            <a:off x="1691639" y="5244127"/>
            <a:ext cx="9601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DCE8FF"/>
                </a:solidFill>
              </a:defRPr>
            </a:lvl1pPr>
          </a:lstStyle>
          <a:p>
            <a:pPr/>
            <a:r>
              <a:t>THE OUTPUT THE OPERATOR RECEIVES</a:t>
            </a:r>
          </a:p>
        </p:txBody>
      </p:sp>
      <p:sp>
        <p:nvSpPr>
          <p:cNvPr id="529" name="Text 27"/>
          <p:cNvSpPr txBox="1"/>
          <p:nvPr/>
        </p:nvSpPr>
        <p:spPr>
          <a:xfrm>
            <a:off x="1691638" y="5440679"/>
            <a:ext cx="9692644" cy="452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“Household 4471829 trending to churn-risk in ~6 days: Wi-Fi degradation, home-isolated. Recommended: proactive contact + gateway reconfiguration; no truck roll needed.”</a:t>
            </a:r>
          </a:p>
        </p:txBody>
      </p:sp>
      <p:sp>
        <p:nvSpPr>
          <p:cNvPr id="530" name="Text 28"/>
          <p:cNvSpPr txBox="1"/>
          <p:nvPr/>
        </p:nvSpPr>
        <p:spPr>
          <a:xfrm>
            <a:off x="502919" y="6547611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E8FC9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531" name="Text 29"/>
          <p:cNvSpPr txBox="1"/>
          <p:nvPr/>
        </p:nvSpPr>
        <p:spPr>
          <a:xfrm>
            <a:off x="8945574" y="65476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6E8FC9"/>
                </a:solidFill>
              </a:defRPr>
            </a:lvl1pPr>
          </a:lstStyle>
          <a:p>
            <a:pPr/>
            <a:r>
              <a:t>Future Space SA   ·  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ext 0"/>
          <p:cNvSpPr txBox="1"/>
          <p:nvPr/>
        </p:nvSpPr>
        <p:spPr>
          <a:xfrm>
            <a:off x="548640" y="481505"/>
            <a:ext cx="10058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1265FF"/>
                </a:solidFill>
              </a:defRPr>
            </a:lvl1pPr>
          </a:lstStyle>
          <a:p>
            <a:pPr/>
            <a:r>
              <a:t>USE CASE 3 — INVISIBLE FAULTS</a:t>
            </a:r>
          </a:p>
        </p:txBody>
      </p:sp>
      <p:sp>
        <p:nvSpPr>
          <p:cNvPr id="536" name="Text 1"/>
          <p:cNvSpPr txBox="1"/>
          <p:nvPr/>
        </p:nvSpPr>
        <p:spPr>
          <a:xfrm>
            <a:off x="548640" y="713230"/>
            <a:ext cx="9601201" cy="820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800">
                <a:solidFill>
                  <a:srgbClr val="0A275C"/>
                </a:solidFill>
              </a:defRPr>
            </a:lvl1pPr>
          </a:lstStyle>
          <a:p>
            <a:pPr/>
            <a:r>
              <a:t>Detect the faults today's tools miss — even after a set-top box swap</a:t>
            </a:r>
          </a:p>
        </p:txBody>
      </p:sp>
      <p:sp>
        <p:nvSpPr>
          <p:cNvPr id="537" name="Shape 2"/>
          <p:cNvSpPr/>
          <p:nvPr/>
        </p:nvSpPr>
        <p:spPr>
          <a:xfrm>
            <a:off x="10698480" y="502918"/>
            <a:ext cx="868683" cy="868684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Text 3"/>
          <p:cNvSpPr txBox="1"/>
          <p:nvPr/>
        </p:nvSpPr>
        <p:spPr>
          <a:xfrm>
            <a:off x="10698480" y="711859"/>
            <a:ext cx="868682" cy="45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39" name="Shape 4"/>
          <p:cNvSpPr/>
          <p:nvPr/>
        </p:nvSpPr>
        <p:spPr>
          <a:xfrm>
            <a:off x="640080" y="1783078"/>
            <a:ext cx="5440680" cy="1965962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2E0FB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" name="Text 5"/>
          <p:cNvSpPr txBox="1"/>
          <p:nvPr/>
        </p:nvSpPr>
        <p:spPr>
          <a:xfrm>
            <a:off x="868678" y="2034583"/>
            <a:ext cx="493776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5B6B86"/>
                </a:solidFill>
              </a:defRPr>
            </a:lvl1pPr>
          </a:lstStyle>
          <a:p>
            <a:pPr/>
            <a:r>
              <a:t>THE PROBLEM TODAY</a:t>
            </a:r>
          </a:p>
        </p:txBody>
      </p:sp>
      <p:sp>
        <p:nvSpPr>
          <p:cNvPr id="541" name="Text 6"/>
          <p:cNvSpPr txBox="1"/>
          <p:nvPr/>
        </p:nvSpPr>
        <p:spPr>
          <a:xfrm>
            <a:off x="868680" y="2240278"/>
            <a:ext cx="4983480" cy="642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200">
                <a:solidFill>
                  <a:srgbClr val="0A275C"/>
                </a:solidFill>
              </a:defRPr>
            </a:lvl1pPr>
          </a:lstStyle>
          <a:p>
            <a:pPr/>
            <a:r>
              <a:t>Some persistent problems are never found: the logs carry no label for them, so current tooling sees nothing. The customer is told to restart or the box is swapped — and the fault returns, because it was never in the box.</a:t>
            </a:r>
          </a:p>
        </p:txBody>
      </p:sp>
      <p:sp>
        <p:nvSpPr>
          <p:cNvPr id="542" name="Shape 7"/>
          <p:cNvSpPr/>
          <p:nvPr/>
        </p:nvSpPr>
        <p:spPr>
          <a:xfrm>
            <a:off x="640080" y="3886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0A275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43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8680" y="4114800"/>
            <a:ext cx="411482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544" name="Text 8"/>
          <p:cNvSpPr txBox="1"/>
          <p:nvPr/>
        </p:nvSpPr>
        <p:spPr>
          <a:xfrm>
            <a:off x="1417320" y="4201712"/>
            <a:ext cx="448056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1265FF"/>
                </a:solidFill>
              </a:defRPr>
            </a:lvl1pPr>
          </a:lstStyle>
          <a:p>
            <a:pPr/>
            <a:r>
              <a:t>WHAT WE DELIVER</a:t>
            </a:r>
          </a:p>
        </p:txBody>
      </p:sp>
      <p:sp>
        <p:nvSpPr>
          <p:cNvPr id="545" name="Text 9"/>
          <p:cNvSpPr txBox="1"/>
          <p:nvPr/>
        </p:nvSpPr>
        <p:spPr>
          <a:xfrm>
            <a:off x="868679" y="4571998"/>
            <a:ext cx="5029203" cy="909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sz="1300">
                <a:solidFill>
                  <a:srgbClr val="EAF1FC"/>
                </a:solidFill>
              </a:defRPr>
            </a:lvl1pPr>
          </a:lstStyle>
          <a:p>
            <a:pPr/>
            <a:r>
              <a:t>Because we reason on structure and behaviour rather than on a single labelled error, we surface these hidden faults and place them in their true layer — home, access, core or content — ending the cycle of fruitless box swaps.</a:t>
            </a:r>
          </a:p>
        </p:txBody>
      </p:sp>
      <p:sp>
        <p:nvSpPr>
          <p:cNvPr id="546" name="Shape 10"/>
          <p:cNvSpPr/>
          <p:nvPr/>
        </p:nvSpPr>
        <p:spPr>
          <a:xfrm>
            <a:off x="6355079" y="1783078"/>
            <a:ext cx="5166362" cy="4251962"/>
          </a:xfrm>
          <a:prstGeom prst="roundRect">
            <a:avLst>
              <a:gd name="adj" fmla="val 1935"/>
            </a:avLst>
          </a:prstGeom>
          <a:solidFill>
            <a:srgbClr val="EAF1FC"/>
          </a:solidFill>
          <a:ln w="12700">
            <a:solidFill>
              <a:srgbClr val="D2E0FB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" name="Text 11"/>
          <p:cNvSpPr txBox="1"/>
          <p:nvPr/>
        </p:nvSpPr>
        <p:spPr>
          <a:xfrm>
            <a:off x="6629399" y="2062015"/>
            <a:ext cx="466344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000">
                <a:solidFill>
                  <a:srgbClr val="0A275C"/>
                </a:solidFill>
              </a:defRPr>
            </a:lvl1pPr>
          </a:lstStyle>
          <a:p>
            <a:pPr/>
            <a:r>
              <a:t>DATA THIS USE CASE NEEDS, BY LAYER</a:t>
            </a:r>
          </a:p>
        </p:txBody>
      </p:sp>
      <p:sp>
        <p:nvSpPr>
          <p:cNvPr id="548" name="Shape 12"/>
          <p:cNvSpPr/>
          <p:nvPr/>
        </p:nvSpPr>
        <p:spPr>
          <a:xfrm>
            <a:off x="6629400" y="2395727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" name="Shape 13"/>
          <p:cNvSpPr/>
          <p:nvPr/>
        </p:nvSpPr>
        <p:spPr>
          <a:xfrm>
            <a:off x="6766559" y="2514599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50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39711" y="2587750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551" name="Text 14"/>
          <p:cNvSpPr txBox="1"/>
          <p:nvPr/>
        </p:nvSpPr>
        <p:spPr>
          <a:xfrm>
            <a:off x="7178040" y="2590736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Set-Top Box  </a:t>
            </a:r>
            <a:r>
              <a:rPr b="0"/>
              <a:t>behavioural patterns, not labels</a:t>
            </a:r>
          </a:p>
        </p:txBody>
      </p:sp>
      <p:sp>
        <p:nvSpPr>
          <p:cNvPr id="552" name="Shape 15"/>
          <p:cNvSpPr/>
          <p:nvPr/>
        </p:nvSpPr>
        <p:spPr>
          <a:xfrm>
            <a:off x="10469880" y="2523744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" name="Text 16"/>
          <p:cNvSpPr txBox="1"/>
          <p:nvPr/>
        </p:nvSpPr>
        <p:spPr>
          <a:xfrm>
            <a:off x="10469880" y="2597404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554" name="Shape 17"/>
          <p:cNvSpPr/>
          <p:nvPr/>
        </p:nvSpPr>
        <p:spPr>
          <a:xfrm>
            <a:off x="6629400" y="2999232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Shape 18"/>
          <p:cNvSpPr/>
          <p:nvPr/>
        </p:nvSpPr>
        <p:spPr>
          <a:xfrm>
            <a:off x="6766559" y="3118104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56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39711" y="3191255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557" name="Text 19"/>
          <p:cNvSpPr txBox="1"/>
          <p:nvPr/>
        </p:nvSpPr>
        <p:spPr>
          <a:xfrm>
            <a:off x="7178040" y="3194239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Home / Router  </a:t>
            </a:r>
            <a:r>
              <a:rPr b="0"/>
              <a:t>in-home behaviour signals</a:t>
            </a:r>
          </a:p>
        </p:txBody>
      </p:sp>
      <p:sp>
        <p:nvSpPr>
          <p:cNvPr id="558" name="Shape 20"/>
          <p:cNvSpPr/>
          <p:nvPr/>
        </p:nvSpPr>
        <p:spPr>
          <a:xfrm>
            <a:off x="10469880" y="3127248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Text 21"/>
          <p:cNvSpPr txBox="1"/>
          <p:nvPr/>
        </p:nvSpPr>
        <p:spPr>
          <a:xfrm>
            <a:off x="10469880" y="3200907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560" name="Shape 22"/>
          <p:cNvSpPr/>
          <p:nvPr/>
        </p:nvSpPr>
        <p:spPr>
          <a:xfrm>
            <a:off x="6629400" y="3602735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Shape 23"/>
          <p:cNvSpPr/>
          <p:nvPr/>
        </p:nvSpPr>
        <p:spPr>
          <a:xfrm>
            <a:off x="6766559" y="3721608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62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839711" y="3794759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563" name="Text 24"/>
          <p:cNvSpPr txBox="1"/>
          <p:nvPr/>
        </p:nvSpPr>
        <p:spPr>
          <a:xfrm>
            <a:off x="7178040" y="3797744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Customer  </a:t>
            </a:r>
            <a:r>
              <a:rPr b="0"/>
              <a:t>recurrence across the household</a:t>
            </a:r>
          </a:p>
        </p:txBody>
      </p:sp>
      <p:sp>
        <p:nvSpPr>
          <p:cNvPr id="564" name="Shape 25"/>
          <p:cNvSpPr/>
          <p:nvPr/>
        </p:nvSpPr>
        <p:spPr>
          <a:xfrm>
            <a:off x="10469880" y="3730752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5" name="Text 26"/>
          <p:cNvSpPr txBox="1"/>
          <p:nvPr/>
        </p:nvSpPr>
        <p:spPr>
          <a:xfrm>
            <a:off x="10469880" y="3804411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0A275C"/>
                </a:solidFill>
              </a:defRPr>
            </a:lvl1pPr>
          </a:lstStyle>
          <a:p>
            <a:pPr/>
            <a:r>
              <a:t>TODAY</a:t>
            </a:r>
          </a:p>
        </p:txBody>
      </p:sp>
      <p:sp>
        <p:nvSpPr>
          <p:cNvPr id="566" name="Shape 27"/>
          <p:cNvSpPr/>
          <p:nvPr/>
        </p:nvSpPr>
        <p:spPr>
          <a:xfrm>
            <a:off x="6629400" y="4206240"/>
            <a:ext cx="4617721" cy="530354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7" name="Shape 28"/>
          <p:cNvSpPr/>
          <p:nvPr/>
        </p:nvSpPr>
        <p:spPr>
          <a:xfrm>
            <a:off x="6766559" y="4325110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68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839711" y="4398264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569" name="Text 29"/>
          <p:cNvSpPr txBox="1"/>
          <p:nvPr/>
        </p:nvSpPr>
        <p:spPr>
          <a:xfrm>
            <a:off x="7178040" y="4401248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Topology  </a:t>
            </a:r>
            <a:r>
              <a:rPr b="0"/>
              <a:t>to localize beyond the device</a:t>
            </a:r>
          </a:p>
        </p:txBody>
      </p:sp>
      <p:sp>
        <p:nvSpPr>
          <p:cNvPr id="570" name="Shape 30"/>
          <p:cNvSpPr/>
          <p:nvPr/>
        </p:nvSpPr>
        <p:spPr>
          <a:xfrm>
            <a:off x="10469880" y="4334254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Text 31"/>
          <p:cNvSpPr txBox="1"/>
          <p:nvPr/>
        </p:nvSpPr>
        <p:spPr>
          <a:xfrm>
            <a:off x="10469880" y="4407915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572" name="Shape 32"/>
          <p:cNvSpPr/>
          <p:nvPr/>
        </p:nvSpPr>
        <p:spPr>
          <a:xfrm>
            <a:off x="6629400" y="4809744"/>
            <a:ext cx="4617721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>
            <a:solidFill>
              <a:srgbClr val="D2E0F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Shape 33"/>
          <p:cNvSpPr/>
          <p:nvPr/>
        </p:nvSpPr>
        <p:spPr>
          <a:xfrm>
            <a:off x="6766559" y="4928615"/>
            <a:ext cx="292611" cy="292611"/>
          </a:xfrm>
          <a:prstGeom prst="ellipse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574" name="Image 5" descr="Image 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839711" y="5001767"/>
            <a:ext cx="146306" cy="146306"/>
          </a:xfrm>
          <a:prstGeom prst="rect">
            <a:avLst/>
          </a:prstGeom>
          <a:ln w="12700">
            <a:miter lim="400000"/>
          </a:ln>
        </p:spPr>
      </p:pic>
      <p:sp>
        <p:nvSpPr>
          <p:cNvPr id="575" name="Text 34"/>
          <p:cNvSpPr txBox="1"/>
          <p:nvPr/>
        </p:nvSpPr>
        <p:spPr>
          <a:xfrm>
            <a:off x="7178040" y="5004751"/>
            <a:ext cx="3246122" cy="14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100"/>
              </a:lnSpc>
              <a:defRPr b="1" sz="900">
                <a:solidFill>
                  <a:srgbClr val="0A275C"/>
                </a:solidFill>
              </a:defRPr>
            </a:pPr>
            <a:r>
              <a:t>CDN / platform  </a:t>
            </a:r>
            <a:r>
              <a:rPr b="0"/>
              <a:t>to catch content-source faults</a:t>
            </a:r>
          </a:p>
        </p:txBody>
      </p:sp>
      <p:sp>
        <p:nvSpPr>
          <p:cNvPr id="576" name="Shape 35"/>
          <p:cNvSpPr/>
          <p:nvPr/>
        </p:nvSpPr>
        <p:spPr>
          <a:xfrm>
            <a:off x="10469880" y="4937759"/>
            <a:ext cx="713234" cy="274322"/>
          </a:xfrm>
          <a:prstGeom prst="roundRect">
            <a:avLst>
              <a:gd name="adj" fmla="val 16667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Text 36"/>
          <p:cNvSpPr txBox="1"/>
          <p:nvPr/>
        </p:nvSpPr>
        <p:spPr>
          <a:xfrm>
            <a:off x="10469880" y="5011418"/>
            <a:ext cx="713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700">
                <a:solidFill>
                  <a:srgbClr val="10254F"/>
                </a:solidFill>
              </a:defRPr>
            </a:lvl1pPr>
          </a:lstStyle>
          <a:p>
            <a:pPr/>
            <a:r>
              <a:t>INTEG.</a:t>
            </a:r>
          </a:p>
        </p:txBody>
      </p:sp>
      <p:sp>
        <p:nvSpPr>
          <p:cNvPr id="578" name="Shape 37"/>
          <p:cNvSpPr/>
          <p:nvPr/>
        </p:nvSpPr>
        <p:spPr>
          <a:xfrm>
            <a:off x="640080" y="6165850"/>
            <a:ext cx="1088136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3606"/>
                </a:moveTo>
                <a:cubicBezTo>
                  <a:pt x="0" y="1614"/>
                  <a:pt x="0" y="0"/>
                  <a:pt x="0" y="0"/>
                </a:cubicBezTo>
                <a:lnTo>
                  <a:pt x="21600" y="0"/>
                </a:lnTo>
                <a:cubicBezTo>
                  <a:pt x="21600" y="0"/>
                  <a:pt x="21600" y="1614"/>
                  <a:pt x="21600" y="3606"/>
                </a:cubicBezTo>
                <a:lnTo>
                  <a:pt x="21600" y="17994"/>
                </a:lnTo>
                <a:cubicBezTo>
                  <a:pt x="21600" y="19986"/>
                  <a:pt x="21600" y="21600"/>
                  <a:pt x="21600" y="21600"/>
                </a:cubicBezTo>
                <a:lnTo>
                  <a:pt x="0" y="21600"/>
                </a:lnTo>
                <a:cubicBezTo>
                  <a:pt x="0" y="21600"/>
                  <a:pt x="0" y="19986"/>
                  <a:pt x="0" y="17994"/>
                </a:cubicBezTo>
                <a:close/>
              </a:path>
            </a:pathLst>
          </a:cu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Text 38"/>
          <p:cNvSpPr txBox="1"/>
          <p:nvPr/>
        </p:nvSpPr>
        <p:spPr>
          <a:xfrm>
            <a:off x="502919" y="6547611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580" name="Text 39"/>
          <p:cNvSpPr txBox="1"/>
          <p:nvPr/>
        </p:nvSpPr>
        <p:spPr>
          <a:xfrm>
            <a:off x="8945574" y="65476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7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Text 0"/>
          <p:cNvSpPr txBox="1"/>
          <p:nvPr/>
        </p:nvSpPr>
        <p:spPr>
          <a:xfrm>
            <a:off x="548640" y="481505"/>
            <a:ext cx="10058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1265FF"/>
                </a:solidFill>
              </a:defRPr>
            </a:lvl1pPr>
          </a:lstStyle>
          <a:p>
            <a:pPr/>
            <a:r>
              <a:t>USE CASE 3 — HOW IT'S SOLVED</a:t>
            </a:r>
          </a:p>
        </p:txBody>
      </p:sp>
      <p:sp>
        <p:nvSpPr>
          <p:cNvPr id="585" name="Text 1"/>
          <p:cNvSpPr txBox="1"/>
          <p:nvPr/>
        </p:nvSpPr>
        <p:spPr>
          <a:xfrm>
            <a:off x="548640" y="713230"/>
            <a:ext cx="10515601" cy="41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Finding what has no label — and proving it isn't the box</a:t>
            </a:r>
          </a:p>
        </p:txBody>
      </p:sp>
      <p:sp>
        <p:nvSpPr>
          <p:cNvPr id="586" name="Shape 2"/>
          <p:cNvSpPr/>
          <p:nvPr/>
        </p:nvSpPr>
        <p:spPr>
          <a:xfrm>
            <a:off x="640080" y="1828800"/>
            <a:ext cx="2526030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Shape 3"/>
          <p:cNvSpPr/>
          <p:nvPr/>
        </p:nvSpPr>
        <p:spPr>
          <a:xfrm>
            <a:off x="91440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 4"/>
          <p:cNvSpPr txBox="1"/>
          <p:nvPr/>
        </p:nvSpPr>
        <p:spPr>
          <a:xfrm>
            <a:off x="91440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pic>
        <p:nvPicPr>
          <p:cNvPr id="589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4315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590" name="Text 5"/>
          <p:cNvSpPr txBox="1"/>
          <p:nvPr/>
        </p:nvSpPr>
        <p:spPr>
          <a:xfrm>
            <a:off x="91440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Learn normal behaviour</a:t>
            </a:r>
          </a:p>
        </p:txBody>
      </p:sp>
      <p:sp>
        <p:nvSpPr>
          <p:cNvPr id="591" name="Text 6"/>
          <p:cNvSpPr txBox="1"/>
          <p:nvPr/>
        </p:nvSpPr>
        <p:spPr>
          <a:xfrm>
            <a:off x="914399" y="3310128"/>
            <a:ext cx="2023113" cy="106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Instead of waiting for a known error code, the layer learns each device and population's normal rhythm and flags structural deviations that carry no explicit label — the unlabelled pixelation case.</a:t>
            </a:r>
          </a:p>
        </p:txBody>
      </p:sp>
      <p:sp>
        <p:nvSpPr>
          <p:cNvPr id="592" name="Text 7"/>
          <p:cNvSpPr txBox="1"/>
          <p:nvPr/>
        </p:nvSpPr>
        <p:spPr>
          <a:xfrm>
            <a:off x="3147822" y="3144609"/>
            <a:ext cx="31089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593" name="Shape 8"/>
          <p:cNvSpPr/>
          <p:nvPr/>
        </p:nvSpPr>
        <p:spPr>
          <a:xfrm>
            <a:off x="3440429" y="1828800"/>
            <a:ext cx="2526032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Shape 9"/>
          <p:cNvSpPr/>
          <p:nvPr/>
        </p:nvSpPr>
        <p:spPr>
          <a:xfrm>
            <a:off x="371475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5" name="Text 10"/>
          <p:cNvSpPr txBox="1"/>
          <p:nvPr/>
        </p:nvSpPr>
        <p:spPr>
          <a:xfrm>
            <a:off x="371475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59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4350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597" name="Text 11"/>
          <p:cNvSpPr txBox="1"/>
          <p:nvPr/>
        </p:nvSpPr>
        <p:spPr>
          <a:xfrm>
            <a:off x="371475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Test against the box</a:t>
            </a:r>
          </a:p>
        </p:txBody>
      </p:sp>
      <p:sp>
        <p:nvSpPr>
          <p:cNvPr id="598" name="Text 12"/>
          <p:cNvSpPr txBox="1"/>
          <p:nvPr/>
        </p:nvSpPr>
        <p:spPr>
          <a:xfrm>
            <a:off x="3714748" y="3310128"/>
            <a:ext cx="2023113" cy="707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Recurrence is tracked across a swap: if a new set-top box shows the same signature, the box is exonerated and the fault lives elsewhere.</a:t>
            </a:r>
          </a:p>
        </p:txBody>
      </p:sp>
      <p:sp>
        <p:nvSpPr>
          <p:cNvPr id="599" name="Text 13"/>
          <p:cNvSpPr txBox="1"/>
          <p:nvPr/>
        </p:nvSpPr>
        <p:spPr>
          <a:xfrm>
            <a:off x="5948171" y="3144609"/>
            <a:ext cx="31089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00" name="Shape 14"/>
          <p:cNvSpPr/>
          <p:nvPr/>
        </p:nvSpPr>
        <p:spPr>
          <a:xfrm>
            <a:off x="6240779" y="1828800"/>
            <a:ext cx="2526032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Shape 15"/>
          <p:cNvSpPr/>
          <p:nvPr/>
        </p:nvSpPr>
        <p:spPr>
          <a:xfrm>
            <a:off x="651510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" name="Text 16"/>
          <p:cNvSpPr txBox="1"/>
          <p:nvPr/>
        </p:nvSpPr>
        <p:spPr>
          <a:xfrm>
            <a:off x="651510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603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94385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604" name="Text 17"/>
          <p:cNvSpPr txBox="1"/>
          <p:nvPr/>
        </p:nvSpPr>
        <p:spPr>
          <a:xfrm>
            <a:off x="651510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Localize the real cause</a:t>
            </a:r>
          </a:p>
        </p:txBody>
      </p:sp>
      <p:sp>
        <p:nvSpPr>
          <p:cNvPr id="605" name="Text 18"/>
          <p:cNvSpPr txBox="1"/>
          <p:nvPr/>
        </p:nvSpPr>
        <p:spPr>
          <a:xfrm>
            <a:off x="6515099" y="3310128"/>
            <a:ext cx="2023113" cy="707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The shape on the graph places the hidden fault in its true layer — home wiring, access, core path, or a content source — rather than the endpoint.</a:t>
            </a:r>
          </a:p>
        </p:txBody>
      </p:sp>
      <p:sp>
        <p:nvSpPr>
          <p:cNvPr id="606" name="Text 19"/>
          <p:cNvSpPr txBox="1"/>
          <p:nvPr/>
        </p:nvSpPr>
        <p:spPr>
          <a:xfrm>
            <a:off x="8748521" y="3144609"/>
            <a:ext cx="310898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6E8FC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07" name="Shape 20"/>
          <p:cNvSpPr/>
          <p:nvPr/>
        </p:nvSpPr>
        <p:spPr>
          <a:xfrm>
            <a:off x="9041130" y="1828800"/>
            <a:ext cx="2526032" cy="2880362"/>
          </a:xfrm>
          <a:prstGeom prst="roundRect">
            <a:avLst>
              <a:gd name="adj" fmla="val 3620"/>
            </a:avLst>
          </a:prstGeom>
          <a:solidFill>
            <a:srgbClr val="0E2E68"/>
          </a:solidFill>
          <a:ln w="12700">
            <a:solidFill>
              <a:srgbClr val="1C3D78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Shape 21"/>
          <p:cNvSpPr/>
          <p:nvPr/>
        </p:nvSpPr>
        <p:spPr>
          <a:xfrm>
            <a:off x="9315450" y="2103120"/>
            <a:ext cx="566928" cy="566931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9" name="Text 22"/>
          <p:cNvSpPr txBox="1"/>
          <p:nvPr/>
        </p:nvSpPr>
        <p:spPr>
          <a:xfrm>
            <a:off x="9315450" y="2239616"/>
            <a:ext cx="566928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pic>
        <p:nvPicPr>
          <p:cNvPr id="610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744200" y="2139694"/>
            <a:ext cx="457200" cy="457202"/>
          </a:xfrm>
          <a:prstGeom prst="rect">
            <a:avLst/>
          </a:prstGeom>
          <a:ln w="12700">
            <a:miter lim="400000"/>
          </a:ln>
        </p:spPr>
      </p:pic>
      <p:sp>
        <p:nvSpPr>
          <p:cNvPr id="611" name="Text 23"/>
          <p:cNvSpPr txBox="1"/>
          <p:nvPr/>
        </p:nvSpPr>
        <p:spPr>
          <a:xfrm>
            <a:off x="9315450" y="2834638"/>
            <a:ext cx="1977390" cy="20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Surface with evidence</a:t>
            </a:r>
          </a:p>
        </p:txBody>
      </p:sp>
      <p:sp>
        <p:nvSpPr>
          <p:cNvPr id="612" name="Text 24"/>
          <p:cNvSpPr txBox="1"/>
          <p:nvPr/>
        </p:nvSpPr>
        <p:spPr>
          <a:xfrm>
            <a:off x="9315449" y="3310128"/>
            <a:ext cx="2023113" cy="707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1000">
                <a:solidFill>
                  <a:srgbClr val="D7E2F4"/>
                </a:solidFill>
              </a:defRPr>
            </a:lvl1pPr>
          </a:lstStyle>
          <a:p>
            <a:pPr/>
            <a:r>
              <a:t>The finding is raised as a certified diagnosis — claim, evidence, provenance — so a previously invisible, recurring fault becomes actionable.</a:t>
            </a:r>
          </a:p>
        </p:txBody>
      </p:sp>
      <p:sp>
        <p:nvSpPr>
          <p:cNvPr id="613" name="Shape 25"/>
          <p:cNvSpPr/>
          <p:nvPr/>
        </p:nvSpPr>
        <p:spPr>
          <a:xfrm>
            <a:off x="640080" y="5029200"/>
            <a:ext cx="10927082" cy="1143000"/>
          </a:xfrm>
          <a:prstGeom prst="roundRect">
            <a:avLst>
              <a:gd name="adj" fmla="val 8000"/>
            </a:avLst>
          </a:prstGeom>
          <a:solidFill>
            <a:srgbClr val="1265FF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14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60119" y="5330952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615" name="Text 26"/>
          <p:cNvSpPr txBox="1"/>
          <p:nvPr/>
        </p:nvSpPr>
        <p:spPr>
          <a:xfrm>
            <a:off x="1691639" y="5244127"/>
            <a:ext cx="96012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DCE8FF"/>
                </a:solidFill>
              </a:defRPr>
            </a:lvl1pPr>
          </a:lstStyle>
          <a:p>
            <a:pPr/>
            <a:r>
              <a:t>THE OUTPUT THE OPERATOR RECEIVES</a:t>
            </a:r>
          </a:p>
        </p:txBody>
      </p:sp>
      <p:sp>
        <p:nvSpPr>
          <p:cNvPr id="616" name="Text 27"/>
          <p:cNvSpPr txBox="1"/>
          <p:nvPr/>
        </p:nvSpPr>
        <p:spPr>
          <a:xfrm>
            <a:off x="1691638" y="5440679"/>
            <a:ext cx="9692644" cy="452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“Recurring impairment persists across STB replacement on 9 households — signature points to access-segment, not CPE. Recommended: investigate segment; stop dispatching box swaps.”</a:t>
            </a:r>
          </a:p>
        </p:txBody>
      </p:sp>
      <p:sp>
        <p:nvSpPr>
          <p:cNvPr id="617" name="Text 28"/>
          <p:cNvSpPr txBox="1"/>
          <p:nvPr/>
        </p:nvSpPr>
        <p:spPr>
          <a:xfrm>
            <a:off x="502919" y="6547611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E8FC9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618" name="Text 29"/>
          <p:cNvSpPr txBox="1"/>
          <p:nvPr/>
        </p:nvSpPr>
        <p:spPr>
          <a:xfrm>
            <a:off x="8945574" y="65476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6E8FC9"/>
                </a:solidFill>
              </a:defRPr>
            </a:lvl1pPr>
          </a:lstStyle>
          <a:p>
            <a:pPr/>
            <a:r>
              <a:t>Future Space SA   ·   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Text 0"/>
          <p:cNvSpPr txBox="1"/>
          <p:nvPr/>
        </p:nvSpPr>
        <p:spPr>
          <a:xfrm>
            <a:off x="548640" y="481505"/>
            <a:ext cx="100584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100">
                <a:solidFill>
                  <a:srgbClr val="1265FF"/>
                </a:solidFill>
              </a:defRPr>
            </a:lvl1pPr>
          </a:lstStyle>
          <a:p>
            <a:pPr/>
            <a:r>
              <a:t>WHAT WE NEED TO BEGIN</a:t>
            </a:r>
          </a:p>
        </p:txBody>
      </p:sp>
      <p:sp>
        <p:nvSpPr>
          <p:cNvPr id="623" name="Text 1"/>
          <p:cNvSpPr txBox="1"/>
          <p:nvPr/>
        </p:nvSpPr>
        <p:spPr>
          <a:xfrm>
            <a:off x="548638" y="713230"/>
            <a:ext cx="11064244" cy="41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800">
                <a:solidFill>
                  <a:srgbClr val="0A275C"/>
                </a:solidFill>
              </a:defRPr>
            </a:lvl1pPr>
          </a:lstStyle>
          <a:p>
            <a:pPr/>
            <a:r>
              <a:t>The data assumptions, and the next step</a:t>
            </a:r>
          </a:p>
        </p:txBody>
      </p:sp>
      <p:sp>
        <p:nvSpPr>
          <p:cNvPr id="624" name="Shape 2"/>
          <p:cNvSpPr/>
          <p:nvPr/>
        </p:nvSpPr>
        <p:spPr>
          <a:xfrm>
            <a:off x="640080" y="1783078"/>
            <a:ext cx="5349241" cy="278892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1265FF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Shape 3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2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4127" y="2167127"/>
            <a:ext cx="237746" cy="237746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Text 4"/>
          <p:cNvSpPr txBox="1"/>
          <p:nvPr/>
        </p:nvSpPr>
        <p:spPr>
          <a:xfrm>
            <a:off x="1508758" y="2230427"/>
            <a:ext cx="420624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DELIVERABLE ON TODAY'S DATA</a:t>
            </a:r>
          </a:p>
        </p:txBody>
      </p:sp>
      <p:sp>
        <p:nvSpPr>
          <p:cNvPr id="628" name="Text 5"/>
          <p:cNvSpPr txBox="1"/>
          <p:nvPr/>
        </p:nvSpPr>
        <p:spPr>
          <a:xfrm>
            <a:off x="960118" y="3206750"/>
            <a:ext cx="4800603" cy="81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177800" indent="-177800">
              <a:lnSpc>
                <a:spcPts val="1600"/>
              </a:lnSpc>
              <a:spcBef>
                <a:spcPts val="800"/>
              </a:spcBef>
              <a:buSzPct val="100000"/>
              <a:buChar char="•"/>
              <a:defRPr sz="1200">
                <a:solidFill>
                  <a:srgbClr val="0A275C"/>
                </a:solidFill>
              </a:defRPr>
            </a:pPr>
            <a:r>
              <a:t>Set-top box events, home/router telemetry, and customer/household mapping are available now.</a:t>
            </a:r>
          </a:p>
          <a:p>
            <a:pPr marL="177800" indent="-177800">
              <a:lnSpc>
                <a:spcPts val="1600"/>
              </a:lnSpc>
              <a:buSzPct val="100000"/>
              <a:buChar char="•"/>
              <a:defRPr sz="1200">
                <a:solidFill>
                  <a:srgbClr val="0A275C"/>
                </a:solidFill>
              </a:defRPr>
            </a:pPr>
            <a:r>
              <a:t>These already power per-customer scoring (UC2) and behavioural detection across box swaps (UC3) at their first level.</a:t>
            </a:r>
          </a:p>
        </p:txBody>
      </p:sp>
      <p:sp>
        <p:nvSpPr>
          <p:cNvPr id="629" name="Shape 6"/>
          <p:cNvSpPr/>
          <p:nvPr/>
        </p:nvSpPr>
        <p:spPr>
          <a:xfrm>
            <a:off x="6172200" y="1783078"/>
            <a:ext cx="5349241" cy="278892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8FB0F5"/>
            </a:solidFill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Shape 7"/>
          <p:cNvSpPr/>
          <p:nvPr/>
        </p:nvSpPr>
        <p:spPr>
          <a:xfrm>
            <a:off x="6446520" y="2057400"/>
            <a:ext cx="457203" cy="457200"/>
          </a:xfrm>
          <a:prstGeom prst="ellipse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31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47104" y="2176272"/>
            <a:ext cx="256034" cy="219458"/>
          </a:xfrm>
          <a:prstGeom prst="rect">
            <a:avLst/>
          </a:prstGeom>
          <a:ln w="12700">
            <a:miter lim="400000"/>
          </a:ln>
        </p:spPr>
      </p:pic>
      <p:sp>
        <p:nvSpPr>
          <p:cNvPr id="632" name="Text 8"/>
          <p:cNvSpPr txBox="1"/>
          <p:nvPr/>
        </p:nvSpPr>
        <p:spPr>
          <a:xfrm>
            <a:off x="7040880" y="2230427"/>
            <a:ext cx="420624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UNLOCKED BY INTEGRATION</a:t>
            </a:r>
          </a:p>
        </p:txBody>
      </p:sp>
      <p:sp>
        <p:nvSpPr>
          <p:cNvPr id="633" name="Text 9"/>
          <p:cNvSpPr txBox="1"/>
          <p:nvPr/>
        </p:nvSpPr>
        <p:spPr>
          <a:xfrm>
            <a:off x="6492240" y="3206750"/>
            <a:ext cx="4800602" cy="810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177800" indent="-177800">
              <a:lnSpc>
                <a:spcPts val="1600"/>
              </a:lnSpc>
              <a:spcBef>
                <a:spcPts val="800"/>
              </a:spcBef>
              <a:buSzPct val="100000"/>
              <a:buChar char="•"/>
              <a:defRPr sz="1200">
                <a:solidFill>
                  <a:srgbClr val="0A275C"/>
                </a:solidFill>
              </a:defRPr>
            </a:pPr>
            <a:r>
              <a:t>Topology (device → access node) turns statistical localization into precise node attribution — the core of UC1.</a:t>
            </a:r>
          </a:p>
          <a:p>
            <a:pPr marL="177800" indent="-177800">
              <a:lnSpc>
                <a:spcPts val="1600"/>
              </a:lnSpc>
              <a:buSzPct val="100000"/>
              <a:buChar char="•"/>
              <a:defRPr sz="1200">
                <a:solidFill>
                  <a:srgbClr val="0A275C"/>
                </a:solidFill>
              </a:defRPr>
            </a:pPr>
            <a:r>
              <a:t>Access, core and CDN/platform telemetry sharpen prediction and complete the picture for all three use cases.</a:t>
            </a:r>
          </a:p>
        </p:txBody>
      </p:sp>
      <p:sp>
        <p:nvSpPr>
          <p:cNvPr id="634" name="Shape 10"/>
          <p:cNvSpPr/>
          <p:nvPr/>
        </p:nvSpPr>
        <p:spPr>
          <a:xfrm>
            <a:off x="640080" y="4709159"/>
            <a:ext cx="10881360" cy="1234442"/>
          </a:xfrm>
          <a:prstGeom prst="roundRect">
            <a:avLst>
              <a:gd name="adj" fmla="val 7407"/>
            </a:avLst>
          </a:prstGeom>
          <a:solidFill>
            <a:srgbClr val="0A275C"/>
          </a:solidFill>
          <a:ln w="12700">
            <a:miter lim="400000"/>
          </a:ln>
          <a:effectLst>
            <a:outerShdw sx="100000" sy="100000" kx="0" ky="0" algn="b" rotWithShape="0" blurRad="101600" dist="38100" dir="5400000">
              <a:srgbClr val="0A275C">
                <a:alpha val="14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635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60119" y="5074920"/>
            <a:ext cx="502922" cy="502922"/>
          </a:xfrm>
          <a:prstGeom prst="rect">
            <a:avLst/>
          </a:prstGeom>
          <a:ln w="12700">
            <a:miter lim="400000"/>
          </a:ln>
        </p:spPr>
      </p:pic>
      <p:sp>
        <p:nvSpPr>
          <p:cNvPr id="636" name="Text 11"/>
          <p:cNvSpPr txBox="1"/>
          <p:nvPr/>
        </p:nvSpPr>
        <p:spPr>
          <a:xfrm>
            <a:off x="1645918" y="5100001"/>
            <a:ext cx="9692644" cy="452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b="1" sz="1300">
                <a:solidFill>
                  <a:srgbClr val="FFFFFF"/>
                </a:solidFill>
              </a:defRPr>
            </a:pPr>
            <a:r>
              <a:t>Next step: a data-fields workshop with Telefónica.  </a:t>
            </a:r>
            <a:r>
              <a:rPr b="0">
                <a:solidFill>
                  <a:srgbClr val="BBD2FF"/>
                </a:solidFill>
              </a:rPr>
              <a:t>Confirm the exact fields available per layer — events, quality indicators, identifiers, topology — so each use case is scoped against real data and we start on what is deliverable today.</a:t>
            </a:r>
          </a:p>
        </p:txBody>
      </p:sp>
      <p:sp>
        <p:nvSpPr>
          <p:cNvPr id="637" name="Text 12"/>
          <p:cNvSpPr txBox="1"/>
          <p:nvPr/>
        </p:nvSpPr>
        <p:spPr>
          <a:xfrm>
            <a:off x="640079" y="6112807"/>
            <a:ext cx="548640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000">
                <a:solidFill>
                  <a:srgbClr val="1265FF"/>
                </a:solidFill>
              </a:defRPr>
            </a:lvl1pPr>
          </a:lstStyle>
          <a:p>
            <a:pPr/>
            <a:r>
              <a:t>Donde el futuro se hace presente</a:t>
            </a:r>
          </a:p>
        </p:txBody>
      </p:sp>
      <p:sp>
        <p:nvSpPr>
          <p:cNvPr id="638" name="Text 13"/>
          <p:cNvSpPr txBox="1"/>
          <p:nvPr/>
        </p:nvSpPr>
        <p:spPr>
          <a:xfrm>
            <a:off x="502919" y="6547611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639" name="Text 14"/>
          <p:cNvSpPr txBox="1"/>
          <p:nvPr/>
        </p:nvSpPr>
        <p:spPr>
          <a:xfrm>
            <a:off x="8945574" y="6547611"/>
            <a:ext cx="27432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4" name="TextBox 2"/>
          <p:cNvSpPr txBox="1"/>
          <p:nvPr/>
        </p:nvSpPr>
        <p:spPr>
          <a:xfrm>
            <a:off x="502919" y="310895"/>
            <a:ext cx="111556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THE IRREDUCIBLE RECORD</a:t>
            </a:r>
          </a:p>
        </p:txBody>
      </p:sp>
      <p:sp>
        <p:nvSpPr>
          <p:cNvPr id="645" name="TextBox 3"/>
          <p:cNvSpPr txBox="1"/>
          <p:nvPr/>
        </p:nvSpPr>
        <p:spPr>
          <a:xfrm>
            <a:off x="502919" y="566927"/>
            <a:ext cx="11155682" cy="343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700">
                <a:solidFill>
                  <a:srgbClr val="0A275C"/>
                </a:solidFill>
              </a:defRPr>
            </a:lvl1pPr>
          </a:lstStyle>
          <a:p>
            <a:pPr/>
            <a:r>
              <a:t>SI runs on four fields, sampled every interval</a:t>
            </a:r>
          </a:p>
        </p:txBody>
      </p:sp>
      <p:sp>
        <p:nvSpPr>
          <p:cNvPr id="646" name="TextBox 4"/>
          <p:cNvSpPr txBox="1"/>
          <p:nvPr/>
        </p:nvSpPr>
        <p:spPr>
          <a:xfrm>
            <a:off x="502919" y="1097280"/>
            <a:ext cx="11155682" cy="355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i="1" sz="1200">
                <a:solidFill>
                  <a:srgbClr val="5B6B86"/>
                </a:solidFill>
              </a:defRPr>
            </a:lvl1pPr>
          </a:lstStyle>
          <a:p>
            <a:pPr/>
            <a:r>
              <a:t>In an IP network, Structural Intelligence needs only the flow record — source, destination, time, volume. Source and destination are an edge; time slots it into an interval; volume is the weight on that edge. That quadruple is the weighted graph-over-time. Everything else enriches and reports.</a:t>
            </a:r>
          </a:p>
        </p:txBody>
      </p:sp>
      <p:sp>
        <p:nvSpPr>
          <p:cNvPr id="647" name="Rounded Rectangle 5"/>
          <p:cNvSpPr/>
          <p:nvPr/>
        </p:nvSpPr>
        <p:spPr>
          <a:xfrm>
            <a:off x="502919" y="2011678"/>
            <a:ext cx="5394962" cy="22860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8" name="Rounded Rectangle 6"/>
          <p:cNvSpPr/>
          <p:nvPr/>
        </p:nvSpPr>
        <p:spPr>
          <a:xfrm>
            <a:off x="502919" y="2011678"/>
            <a:ext cx="5394962" cy="475490"/>
          </a:xfrm>
          <a:prstGeom prst="roundRect">
            <a:avLst>
              <a:gd name="adj" fmla="val 12000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9" name="Rectangle 7"/>
          <p:cNvSpPr/>
          <p:nvPr/>
        </p:nvSpPr>
        <p:spPr>
          <a:xfrm>
            <a:off x="502918" y="2249422"/>
            <a:ext cx="5394964" cy="237744"/>
          </a:xfrm>
          <a:prstGeom prst="rect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0" name="TextBox 8"/>
          <p:cNvSpPr txBox="1"/>
          <p:nvPr/>
        </p:nvSpPr>
        <p:spPr>
          <a:xfrm>
            <a:off x="731518" y="2166042"/>
            <a:ext cx="493776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IP NETWORK  ·  NetFlow / IPFIX</a:t>
            </a:r>
          </a:p>
        </p:txBody>
      </p:sp>
      <p:sp>
        <p:nvSpPr>
          <p:cNvPr id="651" name="TextBox 9"/>
          <p:cNvSpPr txBox="1"/>
          <p:nvPr/>
        </p:nvSpPr>
        <p:spPr>
          <a:xfrm>
            <a:off x="731518" y="2596894"/>
            <a:ext cx="49377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5B6B86"/>
                </a:solidFill>
              </a:defRPr>
            </a:lvl1pPr>
          </a:lstStyle>
          <a:p>
            <a:pPr/>
            <a:r>
              <a:t>The proven analogy</a:t>
            </a:r>
          </a:p>
        </p:txBody>
      </p:sp>
      <p:sp>
        <p:nvSpPr>
          <p:cNvPr id="652" name="TextBox 10"/>
          <p:cNvSpPr txBox="1"/>
          <p:nvPr/>
        </p:nvSpPr>
        <p:spPr>
          <a:xfrm>
            <a:off x="731518" y="3054094"/>
            <a:ext cx="493776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A275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source_addr</a:t>
            </a:r>
            <a:r>
              <a:rPr b="0" sz="900">
                <a:solidFill>
                  <a:srgbClr val="5B6B86"/>
                </a:solidFill>
                <a:latin typeface="+mn-lt"/>
                <a:ea typeface="+mn-ea"/>
                <a:cs typeface="+mn-cs"/>
                <a:sym typeface="Calibri"/>
              </a:rPr>
              <a:t>   origin of the edge</a:t>
            </a:r>
          </a:p>
        </p:txBody>
      </p:sp>
      <p:sp>
        <p:nvSpPr>
          <p:cNvPr id="653" name="TextBox 11"/>
          <p:cNvSpPr txBox="1"/>
          <p:nvPr/>
        </p:nvSpPr>
        <p:spPr>
          <a:xfrm>
            <a:off x="731518" y="3364991"/>
            <a:ext cx="493776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A275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dest_addr</a:t>
            </a:r>
            <a:r>
              <a:rPr b="0" sz="900">
                <a:solidFill>
                  <a:srgbClr val="5B6B86"/>
                </a:solidFill>
                <a:latin typeface="+mn-lt"/>
                <a:ea typeface="+mn-ea"/>
                <a:cs typeface="+mn-cs"/>
                <a:sym typeface="Calibri"/>
              </a:rPr>
              <a:t>   target of the edge</a:t>
            </a:r>
          </a:p>
        </p:txBody>
      </p:sp>
      <p:sp>
        <p:nvSpPr>
          <p:cNvPr id="654" name="TextBox 12"/>
          <p:cNvSpPr txBox="1"/>
          <p:nvPr/>
        </p:nvSpPr>
        <p:spPr>
          <a:xfrm>
            <a:off x="731518" y="3675888"/>
            <a:ext cx="493776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A275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timestamp</a:t>
            </a:r>
            <a:r>
              <a:rPr b="0" sz="900">
                <a:solidFill>
                  <a:srgbClr val="5B6B86"/>
                </a:solidFill>
                <a:latin typeface="+mn-lt"/>
                <a:ea typeface="+mn-ea"/>
                <a:cs typeface="+mn-cs"/>
                <a:sym typeface="Calibri"/>
              </a:rPr>
              <a:t>   which interval</a:t>
            </a:r>
          </a:p>
        </p:txBody>
      </p:sp>
      <p:sp>
        <p:nvSpPr>
          <p:cNvPr id="655" name="TextBox 13"/>
          <p:cNvSpPr txBox="1"/>
          <p:nvPr/>
        </p:nvSpPr>
        <p:spPr>
          <a:xfrm>
            <a:off x="731518" y="3986784"/>
            <a:ext cx="493776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A275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bytes / packets</a:t>
            </a:r>
            <a:r>
              <a:rPr b="0" sz="900">
                <a:solidFill>
                  <a:srgbClr val="5B6B86"/>
                </a:solidFill>
                <a:latin typeface="+mn-lt"/>
                <a:ea typeface="+mn-ea"/>
                <a:cs typeface="+mn-cs"/>
                <a:sym typeface="Calibri"/>
              </a:rPr>
              <a:t>   weight on the edge</a:t>
            </a:r>
          </a:p>
        </p:txBody>
      </p:sp>
      <p:sp>
        <p:nvSpPr>
          <p:cNvPr id="656" name="Right Arrow 14"/>
          <p:cNvSpPr/>
          <p:nvPr/>
        </p:nvSpPr>
        <p:spPr>
          <a:xfrm>
            <a:off x="6053328" y="2926078"/>
            <a:ext cx="457202" cy="4572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7" name="Rounded Rectangle 15"/>
          <p:cNvSpPr/>
          <p:nvPr/>
        </p:nvSpPr>
        <p:spPr>
          <a:xfrm>
            <a:off x="6675118" y="2011678"/>
            <a:ext cx="5010915" cy="22860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8" name="Rounded Rectangle 16"/>
          <p:cNvSpPr/>
          <p:nvPr/>
        </p:nvSpPr>
        <p:spPr>
          <a:xfrm>
            <a:off x="6675118" y="2011678"/>
            <a:ext cx="5010915" cy="475490"/>
          </a:xfrm>
          <a:prstGeom prst="roundRect">
            <a:avLst>
              <a:gd name="adj" fmla="val 12000"/>
            </a:avLst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9" name="Rectangle 17"/>
          <p:cNvSpPr/>
          <p:nvPr/>
        </p:nvSpPr>
        <p:spPr>
          <a:xfrm>
            <a:off x="6675118" y="2249422"/>
            <a:ext cx="5010914" cy="237744"/>
          </a:xfrm>
          <a:prstGeom prst="rect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0" name="TextBox 18"/>
          <p:cNvSpPr txBox="1"/>
          <p:nvPr/>
        </p:nvSpPr>
        <p:spPr>
          <a:xfrm>
            <a:off x="6903718" y="2166042"/>
            <a:ext cx="4553714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MOVISTAR  ·  service graph</a:t>
            </a:r>
          </a:p>
        </p:txBody>
      </p:sp>
      <p:sp>
        <p:nvSpPr>
          <p:cNvPr id="661" name="TextBox 19"/>
          <p:cNvSpPr txBox="1"/>
          <p:nvPr/>
        </p:nvSpPr>
        <p:spPr>
          <a:xfrm>
            <a:off x="6903718" y="2596894"/>
            <a:ext cx="45537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5B6B86"/>
                </a:solidFill>
              </a:defRPr>
            </a:lvl1pPr>
          </a:lstStyle>
          <a:p>
            <a:pPr/>
            <a:r>
              <a:t>The same record, one type for every layer</a:t>
            </a:r>
          </a:p>
        </p:txBody>
      </p:sp>
      <p:sp>
        <p:nvSpPr>
          <p:cNvPr id="662" name="TextBox 20"/>
          <p:cNvSpPr txBox="1"/>
          <p:nvPr/>
        </p:nvSpPr>
        <p:spPr>
          <a:xfrm>
            <a:off x="6903718" y="3054094"/>
            <a:ext cx="45537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A275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entity_src</a:t>
            </a:r>
            <a:r>
              <a:rPr b="0" sz="900">
                <a:solidFill>
                  <a:srgbClr val="5B6B86"/>
                </a:solidFill>
                <a:latin typeface="+mn-lt"/>
                <a:ea typeface="+mn-ea"/>
                <a:cs typeface="+mn-cs"/>
                <a:sym typeface="Calibri"/>
              </a:rPr>
              <a:t>   STB / node / edge element</a:t>
            </a:r>
          </a:p>
        </p:txBody>
      </p:sp>
      <p:sp>
        <p:nvSpPr>
          <p:cNvPr id="663" name="TextBox 21"/>
          <p:cNvSpPr txBox="1"/>
          <p:nvPr/>
        </p:nvSpPr>
        <p:spPr>
          <a:xfrm>
            <a:off x="6903718" y="3364991"/>
            <a:ext cx="45537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A275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entity_dst</a:t>
            </a:r>
            <a:r>
              <a:rPr b="0" sz="900">
                <a:solidFill>
                  <a:srgbClr val="5B6B86"/>
                </a:solidFill>
                <a:latin typeface="+mn-lt"/>
                <a:ea typeface="+mn-ea"/>
                <a:cs typeface="+mn-cs"/>
                <a:sym typeface="Calibri"/>
              </a:rPr>
              <a:t>   its parent in the path</a:t>
            </a:r>
          </a:p>
        </p:txBody>
      </p:sp>
      <p:sp>
        <p:nvSpPr>
          <p:cNvPr id="664" name="TextBox 22"/>
          <p:cNvSpPr txBox="1"/>
          <p:nvPr/>
        </p:nvSpPr>
        <p:spPr>
          <a:xfrm>
            <a:off x="6903718" y="3675888"/>
            <a:ext cx="45537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A275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timestamp</a:t>
            </a:r>
            <a:r>
              <a:rPr b="0" sz="900">
                <a:solidFill>
                  <a:srgbClr val="5B6B86"/>
                </a:solidFill>
                <a:latin typeface="+mn-lt"/>
                <a:ea typeface="+mn-ea"/>
                <a:cs typeface="+mn-cs"/>
                <a:sym typeface="Calibri"/>
              </a:rPr>
              <a:t>   which interval</a:t>
            </a:r>
          </a:p>
        </p:txBody>
      </p:sp>
      <p:sp>
        <p:nvSpPr>
          <p:cNvPr id="665" name="TextBox 23"/>
          <p:cNvSpPr txBox="1"/>
          <p:nvPr/>
        </p:nvSpPr>
        <p:spPr>
          <a:xfrm>
            <a:off x="6903718" y="3986784"/>
            <a:ext cx="45537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A275C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magnitude</a:t>
            </a:r>
            <a:r>
              <a:rPr b="0" sz="900">
                <a:solidFill>
                  <a:srgbClr val="5B6B86"/>
                </a:solidFill>
                <a:latin typeface="+mn-lt"/>
                <a:ea typeface="+mn-ea"/>
                <a:cs typeface="+mn-cs"/>
                <a:sym typeface="Calibri"/>
              </a:rPr>
              <a:t>   bytes  OR  impairment units</a:t>
            </a:r>
          </a:p>
        </p:txBody>
      </p:sp>
      <p:sp>
        <p:nvSpPr>
          <p:cNvPr id="666" name="TextBox 24"/>
          <p:cNvSpPr txBox="1"/>
          <p:nvPr/>
        </p:nvSpPr>
        <p:spPr>
          <a:xfrm>
            <a:off x="502919" y="4526279"/>
            <a:ext cx="1115568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A275C"/>
                </a:solidFill>
              </a:defRPr>
            </a:pPr>
            <a:r>
              <a:t>The one extension over NetFlow:  </a:t>
            </a:r>
            <a:r>
              <a:rPr b="0">
                <a:solidFill>
                  <a:srgbClr val="5B6B86"/>
                </a:solidFill>
              </a:rPr>
              <a:t>the magnitude is emitted every interval even when it is zero — a flat healthy baseline is the reference a fault deviates from. Raw NetFlow is event-gated; the service graph needs a heartbeat.</a:t>
            </a:r>
          </a:p>
        </p:txBody>
      </p:sp>
      <p:sp>
        <p:nvSpPr>
          <p:cNvPr id="667" name="TextBox 25"/>
          <p:cNvSpPr txBox="1"/>
          <p:nvPr/>
        </p:nvSpPr>
        <p:spPr>
          <a:xfrm>
            <a:off x="502919" y="6455664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668" name="TextBox 26"/>
          <p:cNvSpPr txBox="1"/>
          <p:nvPr/>
        </p:nvSpPr>
        <p:spPr>
          <a:xfrm>
            <a:off x="9875518" y="6455664"/>
            <a:ext cx="18288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F1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1" name="TextBox 2"/>
          <p:cNvSpPr txBox="1"/>
          <p:nvPr/>
        </p:nvSpPr>
        <p:spPr>
          <a:xfrm>
            <a:off x="502919" y="310895"/>
            <a:ext cx="111556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DATA REQUIREMENTS · BY LAYER</a:t>
            </a:r>
          </a:p>
        </p:txBody>
      </p:sp>
      <p:sp>
        <p:nvSpPr>
          <p:cNvPr id="672" name="TextBox 3"/>
          <p:cNvSpPr txBox="1"/>
          <p:nvPr/>
        </p:nvSpPr>
        <p:spPr>
          <a:xfrm>
            <a:off x="502919" y="566927"/>
            <a:ext cx="11155682" cy="343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700">
                <a:solidFill>
                  <a:srgbClr val="0A275C"/>
                </a:solidFill>
              </a:defRPr>
            </a:lvl1pPr>
          </a:lstStyle>
          <a:p>
            <a:pPr/>
            <a:r>
              <a:t>The same four fields, layer by layer</a:t>
            </a:r>
          </a:p>
        </p:txBody>
      </p:sp>
      <p:sp>
        <p:nvSpPr>
          <p:cNvPr id="673" name="TextBox 4"/>
          <p:cNvSpPr txBox="1"/>
          <p:nvPr/>
        </p:nvSpPr>
        <p:spPr>
          <a:xfrm>
            <a:off x="502919" y="1078991"/>
            <a:ext cx="11155682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5B6B86"/>
                </a:solidFill>
              </a:defRPr>
            </a:lvl1pPr>
          </a:lstStyle>
          <a:p>
            <a:pPr/>
            <a:r>
              <a:t>At each layer the variables fall into three groups: who/where on the graph (identity), the live signal we sample every interval (flow), and labels we add for the report (enrich). A few examples of each — not an exhaustive list.</a:t>
            </a:r>
          </a:p>
        </p:txBody>
      </p:sp>
      <p:sp>
        <p:nvSpPr>
          <p:cNvPr id="674" name="Rounded Rectangle 5"/>
          <p:cNvSpPr/>
          <p:nvPr/>
        </p:nvSpPr>
        <p:spPr>
          <a:xfrm>
            <a:off x="502919" y="1755648"/>
            <a:ext cx="5422394" cy="13350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5" name="TextBox 6"/>
          <p:cNvSpPr txBox="1"/>
          <p:nvPr/>
        </p:nvSpPr>
        <p:spPr>
          <a:xfrm>
            <a:off x="731520" y="1874520"/>
            <a:ext cx="496519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Set-Top Box</a:t>
            </a:r>
          </a:p>
        </p:txBody>
      </p:sp>
      <p:grpSp>
        <p:nvGrpSpPr>
          <p:cNvPr id="678" name="Rounded Rectangle 7"/>
          <p:cNvGrpSpPr/>
          <p:nvPr/>
        </p:nvGrpSpPr>
        <p:grpSpPr>
          <a:xfrm>
            <a:off x="731519" y="2212848"/>
            <a:ext cx="868682" cy="182883"/>
            <a:chOff x="0" y="0"/>
            <a:chExt cx="868681" cy="182881"/>
          </a:xfrm>
        </p:grpSpPr>
        <p:sp>
          <p:nvSpPr>
            <p:cNvPr id="676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77" name="IDENTITY"/>
            <p:cNvSpPr txBox="1"/>
            <p:nvPr/>
          </p:nvSpPr>
          <p:spPr>
            <a:xfrm>
              <a:off x="258198" y="27939"/>
              <a:ext cx="352283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IDENTITY</a:t>
              </a:r>
            </a:p>
          </p:txBody>
        </p:sp>
      </p:grpSp>
      <p:sp>
        <p:nvSpPr>
          <p:cNvPr id="679" name="TextBox 8"/>
          <p:cNvSpPr txBox="1"/>
          <p:nvPr/>
        </p:nvSpPr>
        <p:spPr>
          <a:xfrm>
            <a:off x="1709928" y="2248153"/>
            <a:ext cx="4050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device_id  household_id</a:t>
            </a:r>
          </a:p>
        </p:txBody>
      </p:sp>
      <p:grpSp>
        <p:nvGrpSpPr>
          <p:cNvPr id="682" name="Rounded Rectangle 9"/>
          <p:cNvGrpSpPr/>
          <p:nvPr/>
        </p:nvGrpSpPr>
        <p:grpSpPr>
          <a:xfrm>
            <a:off x="731519" y="2487166"/>
            <a:ext cx="868682" cy="182883"/>
            <a:chOff x="0" y="0"/>
            <a:chExt cx="868681" cy="182881"/>
          </a:xfrm>
        </p:grpSpPr>
        <p:sp>
          <p:nvSpPr>
            <p:cNvPr id="680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81" name="FLOW"/>
            <p:cNvSpPr txBox="1"/>
            <p:nvPr/>
          </p:nvSpPr>
          <p:spPr>
            <a:xfrm>
              <a:off x="319773" y="27939"/>
              <a:ext cx="229134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FLOW</a:t>
              </a:r>
            </a:p>
          </p:txBody>
        </p:sp>
      </p:grpSp>
      <p:sp>
        <p:nvSpPr>
          <p:cNvPr id="683" name="TextBox 10"/>
          <p:cNvSpPr txBox="1"/>
          <p:nvPr/>
        </p:nvSpPr>
        <p:spPr>
          <a:xfrm>
            <a:off x="1709928" y="2522472"/>
            <a:ext cx="4050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freeze_duration  reboot_count  startup_delay</a:t>
            </a:r>
          </a:p>
        </p:txBody>
      </p:sp>
      <p:grpSp>
        <p:nvGrpSpPr>
          <p:cNvPr id="686" name="Rounded Rectangle 11"/>
          <p:cNvGrpSpPr/>
          <p:nvPr/>
        </p:nvGrpSpPr>
        <p:grpSpPr>
          <a:xfrm>
            <a:off x="731519" y="2761488"/>
            <a:ext cx="868682" cy="182883"/>
            <a:chOff x="0" y="0"/>
            <a:chExt cx="868681" cy="182881"/>
          </a:xfrm>
        </p:grpSpPr>
        <p:sp>
          <p:nvSpPr>
            <p:cNvPr id="684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C97A1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85" name="ENRICH"/>
            <p:cNvSpPr txBox="1"/>
            <p:nvPr/>
          </p:nvSpPr>
          <p:spPr>
            <a:xfrm>
              <a:off x="288584" y="27939"/>
              <a:ext cx="29151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ENRICH</a:t>
              </a:r>
            </a:p>
          </p:txBody>
        </p:sp>
      </p:grpSp>
      <p:sp>
        <p:nvSpPr>
          <p:cNvPr id="687" name="TextBox 12"/>
          <p:cNvSpPr txBox="1"/>
          <p:nvPr/>
        </p:nvSpPr>
        <p:spPr>
          <a:xfrm>
            <a:off x="1709928" y="2796793"/>
            <a:ext cx="4050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error_code  firmware_version</a:t>
            </a:r>
          </a:p>
        </p:txBody>
      </p:sp>
      <p:sp>
        <p:nvSpPr>
          <p:cNvPr id="688" name="Rounded Rectangle 13"/>
          <p:cNvSpPr/>
          <p:nvPr/>
        </p:nvSpPr>
        <p:spPr>
          <a:xfrm>
            <a:off x="6263640" y="1755648"/>
            <a:ext cx="5422394" cy="13350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9" name="TextBox 14"/>
          <p:cNvSpPr txBox="1"/>
          <p:nvPr/>
        </p:nvSpPr>
        <p:spPr>
          <a:xfrm>
            <a:off x="6492240" y="1874520"/>
            <a:ext cx="496519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Home / Router &amp; Wi-Fi</a:t>
            </a:r>
          </a:p>
        </p:txBody>
      </p:sp>
      <p:grpSp>
        <p:nvGrpSpPr>
          <p:cNvPr id="692" name="Rounded Rectangle 15"/>
          <p:cNvGrpSpPr/>
          <p:nvPr/>
        </p:nvGrpSpPr>
        <p:grpSpPr>
          <a:xfrm>
            <a:off x="6492240" y="2212848"/>
            <a:ext cx="868683" cy="182883"/>
            <a:chOff x="0" y="0"/>
            <a:chExt cx="868681" cy="182881"/>
          </a:xfrm>
        </p:grpSpPr>
        <p:sp>
          <p:nvSpPr>
            <p:cNvPr id="690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91" name="IDENTITY"/>
            <p:cNvSpPr txBox="1"/>
            <p:nvPr/>
          </p:nvSpPr>
          <p:spPr>
            <a:xfrm>
              <a:off x="258198" y="27939"/>
              <a:ext cx="352283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IDENTITY</a:t>
              </a:r>
            </a:p>
          </p:txBody>
        </p:sp>
      </p:grpSp>
      <p:sp>
        <p:nvSpPr>
          <p:cNvPr id="693" name="TextBox 16"/>
          <p:cNvSpPr txBox="1"/>
          <p:nvPr/>
        </p:nvSpPr>
        <p:spPr>
          <a:xfrm>
            <a:off x="7470647" y="2248153"/>
            <a:ext cx="40507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gateway_id  mesh_node</a:t>
            </a:r>
          </a:p>
        </p:txBody>
      </p:sp>
      <p:grpSp>
        <p:nvGrpSpPr>
          <p:cNvPr id="696" name="Rounded Rectangle 17"/>
          <p:cNvGrpSpPr/>
          <p:nvPr/>
        </p:nvGrpSpPr>
        <p:grpSpPr>
          <a:xfrm>
            <a:off x="6492240" y="2487166"/>
            <a:ext cx="868683" cy="182883"/>
            <a:chOff x="0" y="0"/>
            <a:chExt cx="868681" cy="182881"/>
          </a:xfrm>
        </p:grpSpPr>
        <p:sp>
          <p:nvSpPr>
            <p:cNvPr id="694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95" name="FLOW"/>
            <p:cNvSpPr txBox="1"/>
            <p:nvPr/>
          </p:nvSpPr>
          <p:spPr>
            <a:xfrm>
              <a:off x="319773" y="27939"/>
              <a:ext cx="229134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FLOW</a:t>
              </a:r>
            </a:p>
          </p:txBody>
        </p:sp>
      </p:grpSp>
      <p:sp>
        <p:nvSpPr>
          <p:cNvPr id="697" name="TextBox 18"/>
          <p:cNvSpPr txBox="1"/>
          <p:nvPr/>
        </p:nvSpPr>
        <p:spPr>
          <a:xfrm>
            <a:off x="7470647" y="2522472"/>
            <a:ext cx="40507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wifi_snr  wan_packet_loss  wan_latency</a:t>
            </a:r>
          </a:p>
        </p:txBody>
      </p:sp>
      <p:grpSp>
        <p:nvGrpSpPr>
          <p:cNvPr id="700" name="Rounded Rectangle 19"/>
          <p:cNvGrpSpPr/>
          <p:nvPr/>
        </p:nvGrpSpPr>
        <p:grpSpPr>
          <a:xfrm>
            <a:off x="6492240" y="2761488"/>
            <a:ext cx="868683" cy="182883"/>
            <a:chOff x="0" y="0"/>
            <a:chExt cx="868681" cy="182881"/>
          </a:xfrm>
        </p:grpSpPr>
        <p:sp>
          <p:nvSpPr>
            <p:cNvPr id="698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C97A1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99" name="ENRICH"/>
            <p:cNvSpPr txBox="1"/>
            <p:nvPr/>
          </p:nvSpPr>
          <p:spPr>
            <a:xfrm>
              <a:off x="288584" y="27939"/>
              <a:ext cx="29151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ENRICH</a:t>
              </a:r>
            </a:p>
          </p:txBody>
        </p:sp>
      </p:grpSp>
      <p:sp>
        <p:nvSpPr>
          <p:cNvPr id="701" name="TextBox 20"/>
          <p:cNvSpPr txBox="1"/>
          <p:nvPr/>
        </p:nvSpPr>
        <p:spPr>
          <a:xfrm>
            <a:off x="7470647" y="2796793"/>
            <a:ext cx="40507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pppoe_resets</a:t>
            </a:r>
          </a:p>
        </p:txBody>
      </p:sp>
      <p:sp>
        <p:nvSpPr>
          <p:cNvPr id="702" name="Rounded Rectangle 21"/>
          <p:cNvSpPr/>
          <p:nvPr/>
        </p:nvSpPr>
        <p:spPr>
          <a:xfrm>
            <a:off x="502919" y="3200400"/>
            <a:ext cx="5422394" cy="13350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3" name="TextBox 22"/>
          <p:cNvSpPr txBox="1"/>
          <p:nvPr/>
        </p:nvSpPr>
        <p:spPr>
          <a:xfrm>
            <a:off x="731520" y="3319271"/>
            <a:ext cx="496519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Geography / Topology</a:t>
            </a:r>
          </a:p>
        </p:txBody>
      </p:sp>
      <p:grpSp>
        <p:nvGrpSpPr>
          <p:cNvPr id="706" name="Rounded Rectangle 23"/>
          <p:cNvGrpSpPr/>
          <p:nvPr/>
        </p:nvGrpSpPr>
        <p:grpSpPr>
          <a:xfrm>
            <a:off x="731519" y="3657599"/>
            <a:ext cx="868682" cy="182882"/>
            <a:chOff x="0" y="0"/>
            <a:chExt cx="868681" cy="182881"/>
          </a:xfrm>
        </p:grpSpPr>
        <p:sp>
          <p:nvSpPr>
            <p:cNvPr id="704" name="Rounded Rectangle"/>
            <p:cNvSpPr/>
            <p:nvPr/>
          </p:nvSpPr>
          <p:spPr>
            <a:xfrm>
              <a:off x="0" y="-1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05" name="IDENTITY"/>
            <p:cNvSpPr txBox="1"/>
            <p:nvPr/>
          </p:nvSpPr>
          <p:spPr>
            <a:xfrm>
              <a:off x="258198" y="27939"/>
              <a:ext cx="352283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IDENTITY</a:t>
              </a:r>
            </a:p>
          </p:txBody>
        </p:sp>
      </p:grpSp>
      <p:sp>
        <p:nvSpPr>
          <p:cNvPr id="707" name="TextBox 24"/>
          <p:cNvSpPr txBox="1"/>
          <p:nvPr/>
        </p:nvSpPr>
        <p:spPr>
          <a:xfrm>
            <a:off x="1709928" y="3692904"/>
            <a:ext cx="4050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access_node_id  olt_id  upstream_node</a:t>
            </a:r>
          </a:p>
        </p:txBody>
      </p:sp>
      <p:grpSp>
        <p:nvGrpSpPr>
          <p:cNvPr id="710" name="Rounded Rectangle 25"/>
          <p:cNvGrpSpPr/>
          <p:nvPr/>
        </p:nvGrpSpPr>
        <p:grpSpPr>
          <a:xfrm>
            <a:off x="731519" y="3931920"/>
            <a:ext cx="868682" cy="182883"/>
            <a:chOff x="0" y="0"/>
            <a:chExt cx="868681" cy="182881"/>
          </a:xfrm>
        </p:grpSpPr>
        <p:sp>
          <p:nvSpPr>
            <p:cNvPr id="708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09" name="FLOW"/>
            <p:cNvSpPr txBox="1"/>
            <p:nvPr/>
          </p:nvSpPr>
          <p:spPr>
            <a:xfrm>
              <a:off x="319773" y="27939"/>
              <a:ext cx="229134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FLOW</a:t>
              </a:r>
            </a:p>
          </p:txBody>
        </p:sp>
      </p:grpSp>
      <p:sp>
        <p:nvSpPr>
          <p:cNvPr id="711" name="TextBox 26"/>
          <p:cNvSpPr txBox="1"/>
          <p:nvPr/>
        </p:nvSpPr>
        <p:spPr>
          <a:xfrm>
            <a:off x="1709928" y="3973574"/>
            <a:ext cx="40507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5B6B86"/>
                </a:solidFill>
              </a:defRPr>
            </a:lvl1pPr>
          </a:lstStyle>
          <a:p>
            <a:pPr/>
            <a:r>
              <a:t>(defines the edges — no magnitude)</a:t>
            </a:r>
          </a:p>
        </p:txBody>
      </p:sp>
      <p:grpSp>
        <p:nvGrpSpPr>
          <p:cNvPr id="714" name="Rounded Rectangle 27"/>
          <p:cNvGrpSpPr/>
          <p:nvPr/>
        </p:nvGrpSpPr>
        <p:grpSpPr>
          <a:xfrm>
            <a:off x="731519" y="4206240"/>
            <a:ext cx="868682" cy="182883"/>
            <a:chOff x="0" y="0"/>
            <a:chExt cx="868681" cy="182881"/>
          </a:xfrm>
        </p:grpSpPr>
        <p:sp>
          <p:nvSpPr>
            <p:cNvPr id="712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C97A1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13" name="ENRICH"/>
            <p:cNvSpPr txBox="1"/>
            <p:nvPr/>
          </p:nvSpPr>
          <p:spPr>
            <a:xfrm>
              <a:off x="288584" y="27939"/>
              <a:ext cx="29151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ENRICH</a:t>
              </a:r>
            </a:p>
          </p:txBody>
        </p:sp>
      </p:grpSp>
      <p:sp>
        <p:nvSpPr>
          <p:cNvPr id="715" name="TextBox 28"/>
          <p:cNvSpPr txBox="1"/>
          <p:nvPr/>
        </p:nvSpPr>
        <p:spPr>
          <a:xfrm>
            <a:off x="1709928" y="4241544"/>
            <a:ext cx="4050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service_area_id</a:t>
            </a:r>
          </a:p>
        </p:txBody>
      </p:sp>
      <p:sp>
        <p:nvSpPr>
          <p:cNvPr id="716" name="Rounded Rectangle 29"/>
          <p:cNvSpPr/>
          <p:nvPr/>
        </p:nvSpPr>
        <p:spPr>
          <a:xfrm>
            <a:off x="6263640" y="3200400"/>
            <a:ext cx="5422394" cy="13350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7" name="TextBox 30"/>
          <p:cNvSpPr txBox="1"/>
          <p:nvPr/>
        </p:nvSpPr>
        <p:spPr>
          <a:xfrm>
            <a:off x="6492240" y="3319271"/>
            <a:ext cx="4965194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Access Network</a:t>
            </a:r>
          </a:p>
        </p:txBody>
      </p:sp>
      <p:grpSp>
        <p:nvGrpSpPr>
          <p:cNvPr id="720" name="Rounded Rectangle 31"/>
          <p:cNvGrpSpPr/>
          <p:nvPr/>
        </p:nvGrpSpPr>
        <p:grpSpPr>
          <a:xfrm>
            <a:off x="6492240" y="3657599"/>
            <a:ext cx="868683" cy="182882"/>
            <a:chOff x="0" y="0"/>
            <a:chExt cx="868681" cy="182881"/>
          </a:xfrm>
        </p:grpSpPr>
        <p:sp>
          <p:nvSpPr>
            <p:cNvPr id="718" name="Rounded Rectangle"/>
            <p:cNvSpPr/>
            <p:nvPr/>
          </p:nvSpPr>
          <p:spPr>
            <a:xfrm>
              <a:off x="0" y="-1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19" name="IDENTITY"/>
            <p:cNvSpPr txBox="1"/>
            <p:nvPr/>
          </p:nvSpPr>
          <p:spPr>
            <a:xfrm>
              <a:off x="258198" y="27939"/>
              <a:ext cx="352283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IDENTITY</a:t>
              </a:r>
            </a:p>
          </p:txBody>
        </p:sp>
      </p:grpSp>
      <p:sp>
        <p:nvSpPr>
          <p:cNvPr id="721" name="TextBox 32"/>
          <p:cNvSpPr txBox="1"/>
          <p:nvPr/>
        </p:nvSpPr>
        <p:spPr>
          <a:xfrm>
            <a:off x="7470647" y="3692904"/>
            <a:ext cx="40507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port_id  line_id</a:t>
            </a:r>
          </a:p>
        </p:txBody>
      </p:sp>
      <p:grpSp>
        <p:nvGrpSpPr>
          <p:cNvPr id="724" name="Rounded Rectangle 33"/>
          <p:cNvGrpSpPr/>
          <p:nvPr/>
        </p:nvGrpSpPr>
        <p:grpSpPr>
          <a:xfrm>
            <a:off x="6492240" y="3931920"/>
            <a:ext cx="868683" cy="182883"/>
            <a:chOff x="0" y="0"/>
            <a:chExt cx="868681" cy="182881"/>
          </a:xfrm>
        </p:grpSpPr>
        <p:sp>
          <p:nvSpPr>
            <p:cNvPr id="722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23" name="FLOW"/>
            <p:cNvSpPr txBox="1"/>
            <p:nvPr/>
          </p:nvSpPr>
          <p:spPr>
            <a:xfrm>
              <a:off x="319773" y="27939"/>
              <a:ext cx="229134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FLOW</a:t>
              </a:r>
            </a:p>
          </p:txBody>
        </p:sp>
      </p:grpSp>
      <p:sp>
        <p:nvSpPr>
          <p:cNvPr id="725" name="TextBox 34"/>
          <p:cNvSpPr txBox="1"/>
          <p:nvPr/>
        </p:nvSpPr>
        <p:spPr>
          <a:xfrm>
            <a:off x="7470647" y="3967224"/>
            <a:ext cx="40507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port_utilization  line_snr  fec_errors</a:t>
            </a:r>
          </a:p>
        </p:txBody>
      </p:sp>
      <p:grpSp>
        <p:nvGrpSpPr>
          <p:cNvPr id="728" name="Rounded Rectangle 35"/>
          <p:cNvGrpSpPr/>
          <p:nvPr/>
        </p:nvGrpSpPr>
        <p:grpSpPr>
          <a:xfrm>
            <a:off x="6492240" y="4206240"/>
            <a:ext cx="868683" cy="182883"/>
            <a:chOff x="0" y="0"/>
            <a:chExt cx="868681" cy="182881"/>
          </a:xfrm>
        </p:grpSpPr>
        <p:sp>
          <p:nvSpPr>
            <p:cNvPr id="726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C97A1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27" name="ENRICH"/>
            <p:cNvSpPr txBox="1"/>
            <p:nvPr/>
          </p:nvSpPr>
          <p:spPr>
            <a:xfrm>
              <a:off x="288584" y="27939"/>
              <a:ext cx="29151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ENRICH</a:t>
              </a:r>
            </a:p>
          </p:txBody>
        </p:sp>
      </p:grpSp>
      <p:sp>
        <p:nvSpPr>
          <p:cNvPr id="729" name="TextBox 36"/>
          <p:cNvSpPr txBox="1"/>
          <p:nvPr/>
        </p:nvSpPr>
        <p:spPr>
          <a:xfrm>
            <a:off x="7470647" y="4241544"/>
            <a:ext cx="40507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optical_rx_power</a:t>
            </a:r>
          </a:p>
        </p:txBody>
      </p:sp>
      <p:sp>
        <p:nvSpPr>
          <p:cNvPr id="730" name="Rounded Rectangle 37"/>
          <p:cNvSpPr/>
          <p:nvPr/>
        </p:nvSpPr>
        <p:spPr>
          <a:xfrm>
            <a:off x="502919" y="4645152"/>
            <a:ext cx="5422394" cy="13350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1" name="TextBox 38"/>
          <p:cNvSpPr txBox="1"/>
          <p:nvPr/>
        </p:nvSpPr>
        <p:spPr>
          <a:xfrm>
            <a:off x="731520" y="4764023"/>
            <a:ext cx="496519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Core Network</a:t>
            </a:r>
          </a:p>
        </p:txBody>
      </p:sp>
      <p:grpSp>
        <p:nvGrpSpPr>
          <p:cNvPr id="734" name="Rounded Rectangle 39"/>
          <p:cNvGrpSpPr/>
          <p:nvPr/>
        </p:nvGrpSpPr>
        <p:grpSpPr>
          <a:xfrm>
            <a:off x="731519" y="5102352"/>
            <a:ext cx="868682" cy="182883"/>
            <a:chOff x="0" y="0"/>
            <a:chExt cx="868681" cy="182881"/>
          </a:xfrm>
        </p:grpSpPr>
        <p:sp>
          <p:nvSpPr>
            <p:cNvPr id="732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33" name="IDENTITY"/>
            <p:cNvSpPr txBox="1"/>
            <p:nvPr/>
          </p:nvSpPr>
          <p:spPr>
            <a:xfrm>
              <a:off x="258198" y="27939"/>
              <a:ext cx="352283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IDENTITY</a:t>
              </a:r>
            </a:p>
          </p:txBody>
        </p:sp>
      </p:grpSp>
      <p:sp>
        <p:nvSpPr>
          <p:cNvPr id="735" name="TextBox 40"/>
          <p:cNvSpPr txBox="1"/>
          <p:nvPr/>
        </p:nvSpPr>
        <p:spPr>
          <a:xfrm>
            <a:off x="1709928" y="5137656"/>
            <a:ext cx="4050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route_id / ecmp_path</a:t>
            </a:r>
          </a:p>
        </p:txBody>
      </p:sp>
      <p:grpSp>
        <p:nvGrpSpPr>
          <p:cNvPr id="738" name="Rounded Rectangle 41"/>
          <p:cNvGrpSpPr/>
          <p:nvPr/>
        </p:nvGrpSpPr>
        <p:grpSpPr>
          <a:xfrm>
            <a:off x="731519" y="5376671"/>
            <a:ext cx="868682" cy="182883"/>
            <a:chOff x="0" y="0"/>
            <a:chExt cx="868681" cy="182881"/>
          </a:xfrm>
        </p:grpSpPr>
        <p:sp>
          <p:nvSpPr>
            <p:cNvPr id="736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37" name="FLOW"/>
            <p:cNvSpPr txBox="1"/>
            <p:nvPr/>
          </p:nvSpPr>
          <p:spPr>
            <a:xfrm>
              <a:off x="319773" y="27939"/>
              <a:ext cx="229134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FLOW</a:t>
              </a:r>
            </a:p>
          </p:txBody>
        </p:sp>
      </p:grpSp>
      <p:sp>
        <p:nvSpPr>
          <p:cNvPr id="739" name="TextBox 42"/>
          <p:cNvSpPr txBox="1"/>
          <p:nvPr/>
        </p:nvSpPr>
        <p:spPr>
          <a:xfrm>
            <a:off x="1709928" y="5411977"/>
            <a:ext cx="4050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transport_load  path_latency  queue_depth</a:t>
            </a:r>
          </a:p>
        </p:txBody>
      </p:sp>
      <p:grpSp>
        <p:nvGrpSpPr>
          <p:cNvPr id="742" name="Rounded Rectangle 43"/>
          <p:cNvGrpSpPr/>
          <p:nvPr/>
        </p:nvGrpSpPr>
        <p:grpSpPr>
          <a:xfrm>
            <a:off x="731519" y="5650991"/>
            <a:ext cx="868682" cy="182883"/>
            <a:chOff x="0" y="0"/>
            <a:chExt cx="868681" cy="182881"/>
          </a:xfrm>
        </p:grpSpPr>
        <p:sp>
          <p:nvSpPr>
            <p:cNvPr id="740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C97A1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41" name="ENRICH"/>
            <p:cNvSpPr txBox="1"/>
            <p:nvPr/>
          </p:nvSpPr>
          <p:spPr>
            <a:xfrm>
              <a:off x="288584" y="27939"/>
              <a:ext cx="29151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ENRICH</a:t>
              </a:r>
            </a:p>
          </p:txBody>
        </p:sp>
      </p:grpSp>
      <p:sp>
        <p:nvSpPr>
          <p:cNvPr id="743" name="TextBox 44"/>
          <p:cNvSpPr txBox="1"/>
          <p:nvPr/>
        </p:nvSpPr>
        <p:spPr>
          <a:xfrm>
            <a:off x="1709928" y="5686297"/>
            <a:ext cx="405079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jitter</a:t>
            </a:r>
          </a:p>
        </p:txBody>
      </p:sp>
      <p:sp>
        <p:nvSpPr>
          <p:cNvPr id="744" name="Rounded Rectangle 45"/>
          <p:cNvSpPr/>
          <p:nvPr/>
        </p:nvSpPr>
        <p:spPr>
          <a:xfrm>
            <a:off x="6263640" y="4645152"/>
            <a:ext cx="5422394" cy="133502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TextBox 46"/>
          <p:cNvSpPr txBox="1"/>
          <p:nvPr/>
        </p:nvSpPr>
        <p:spPr>
          <a:xfrm>
            <a:off x="6492240" y="4764023"/>
            <a:ext cx="496519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0A275C"/>
                </a:solidFill>
              </a:defRPr>
            </a:lvl1pPr>
          </a:lstStyle>
          <a:p>
            <a:pPr/>
            <a:r>
              <a:t>CDN / Platform / Content</a:t>
            </a:r>
          </a:p>
        </p:txBody>
      </p:sp>
      <p:grpSp>
        <p:nvGrpSpPr>
          <p:cNvPr id="748" name="Rounded Rectangle 47"/>
          <p:cNvGrpSpPr/>
          <p:nvPr/>
        </p:nvGrpSpPr>
        <p:grpSpPr>
          <a:xfrm>
            <a:off x="6492240" y="5102352"/>
            <a:ext cx="868683" cy="182883"/>
            <a:chOff x="0" y="0"/>
            <a:chExt cx="868681" cy="182881"/>
          </a:xfrm>
        </p:grpSpPr>
        <p:sp>
          <p:nvSpPr>
            <p:cNvPr id="746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47" name="IDENTITY"/>
            <p:cNvSpPr txBox="1"/>
            <p:nvPr/>
          </p:nvSpPr>
          <p:spPr>
            <a:xfrm>
              <a:off x="258198" y="27939"/>
              <a:ext cx="352283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IDENTITY</a:t>
              </a:r>
            </a:p>
          </p:txBody>
        </p:sp>
      </p:grpSp>
      <p:sp>
        <p:nvSpPr>
          <p:cNvPr id="749" name="TextBox 48"/>
          <p:cNvSpPr txBox="1"/>
          <p:nvPr/>
        </p:nvSpPr>
        <p:spPr>
          <a:xfrm>
            <a:off x="7470647" y="5137656"/>
            <a:ext cx="40507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cdn_edge_id  content_id  multicast_group_id</a:t>
            </a:r>
          </a:p>
        </p:txBody>
      </p:sp>
      <p:grpSp>
        <p:nvGrpSpPr>
          <p:cNvPr id="752" name="Rounded Rectangle 49"/>
          <p:cNvGrpSpPr/>
          <p:nvPr/>
        </p:nvGrpSpPr>
        <p:grpSpPr>
          <a:xfrm>
            <a:off x="6492240" y="5376671"/>
            <a:ext cx="868683" cy="182883"/>
            <a:chOff x="0" y="0"/>
            <a:chExt cx="868681" cy="182881"/>
          </a:xfrm>
        </p:grpSpPr>
        <p:sp>
          <p:nvSpPr>
            <p:cNvPr id="750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51" name="FLOW"/>
            <p:cNvSpPr txBox="1"/>
            <p:nvPr/>
          </p:nvSpPr>
          <p:spPr>
            <a:xfrm>
              <a:off x="319773" y="27939"/>
              <a:ext cx="229134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FLOW</a:t>
              </a:r>
            </a:p>
          </p:txBody>
        </p:sp>
      </p:grpSp>
      <p:sp>
        <p:nvSpPr>
          <p:cNvPr id="753" name="TextBox 50"/>
          <p:cNvSpPr txBox="1"/>
          <p:nvPr/>
        </p:nvSpPr>
        <p:spPr>
          <a:xfrm>
            <a:off x="7470647" y="5411977"/>
            <a:ext cx="40507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segment_failures  cache_hit_ratio  encoder_dropped_frm</a:t>
            </a:r>
          </a:p>
        </p:txBody>
      </p:sp>
      <p:grpSp>
        <p:nvGrpSpPr>
          <p:cNvPr id="756" name="Rounded Rectangle 51"/>
          <p:cNvGrpSpPr/>
          <p:nvPr/>
        </p:nvGrpSpPr>
        <p:grpSpPr>
          <a:xfrm>
            <a:off x="6492240" y="5650991"/>
            <a:ext cx="868683" cy="182883"/>
            <a:chOff x="0" y="0"/>
            <a:chExt cx="868681" cy="182881"/>
          </a:xfrm>
        </p:grpSpPr>
        <p:sp>
          <p:nvSpPr>
            <p:cNvPr id="754" name="Rounded Rectangle"/>
            <p:cNvSpPr/>
            <p:nvPr/>
          </p:nvSpPr>
          <p:spPr>
            <a:xfrm>
              <a:off x="0" y="0"/>
              <a:ext cx="868682" cy="182882"/>
            </a:xfrm>
            <a:prstGeom prst="roundRect">
              <a:avLst>
                <a:gd name="adj" fmla="val 30000"/>
              </a:avLst>
            </a:prstGeom>
            <a:solidFill>
              <a:srgbClr val="C97A1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55" name="ENRICH"/>
            <p:cNvSpPr txBox="1"/>
            <p:nvPr/>
          </p:nvSpPr>
          <p:spPr>
            <a:xfrm>
              <a:off x="288584" y="27939"/>
              <a:ext cx="29151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ENRICH</a:t>
              </a:r>
            </a:p>
          </p:txBody>
        </p:sp>
      </p:grpSp>
      <p:sp>
        <p:nvSpPr>
          <p:cNvPr id="757" name="TextBox 52"/>
          <p:cNvSpPr txBox="1"/>
          <p:nvPr/>
        </p:nvSpPr>
        <p:spPr>
          <a:xfrm>
            <a:off x="7470647" y="5686297"/>
            <a:ext cx="4050794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5B6B8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asset_type</a:t>
            </a:r>
          </a:p>
        </p:txBody>
      </p:sp>
      <p:sp>
        <p:nvSpPr>
          <p:cNvPr id="758" name="TextBox 53"/>
          <p:cNvSpPr txBox="1"/>
          <p:nvPr/>
        </p:nvSpPr>
        <p:spPr>
          <a:xfrm>
            <a:off x="502919" y="6455664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759" name="TextBox 54"/>
          <p:cNvSpPr txBox="1"/>
          <p:nvPr/>
        </p:nvSpPr>
        <p:spPr>
          <a:xfrm>
            <a:off x="9875518" y="6455664"/>
            <a:ext cx="18288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R2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2" name="TextBox 2"/>
          <p:cNvSpPr txBox="1"/>
          <p:nvPr/>
        </p:nvSpPr>
        <p:spPr>
          <a:xfrm>
            <a:off x="502919" y="310895"/>
            <a:ext cx="111556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INTEGRATION POINTS · OPTION 1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502919" y="566927"/>
            <a:ext cx="1115568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0A275C"/>
                </a:solidFill>
              </a:defRPr>
            </a:lvl1pPr>
          </a:lstStyle>
          <a:p>
            <a:pPr/>
            <a:r>
              <a:t>Offline architecture — no complex integrations</a:t>
            </a:r>
          </a:p>
        </p:txBody>
      </p:sp>
      <p:sp>
        <p:nvSpPr>
          <p:cNvPr id="764" name="TextBox 4"/>
          <p:cNvSpPr txBox="1"/>
          <p:nvPr/>
        </p:nvSpPr>
        <p:spPr>
          <a:xfrm>
            <a:off x="502919" y="1097280"/>
            <a:ext cx="1115568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i="1" sz="1200">
                <a:solidFill>
                  <a:srgbClr val="5B6B86"/>
                </a:solidFill>
              </a:defRPr>
            </a:pPr>
            <a:r>
              <a:t>No integration into operational systems: just an export of data already stored on Telefónica's internal platform (CKBO ** </a:t>
            </a:r>
            <a:r>
              <a:rPr>
                <a:solidFill>
                  <a:schemeClr val="accent2"/>
                </a:solidFill>
              </a:rPr>
              <a:t>confirmation needed </a:t>
            </a:r>
            <a:r>
              <a:t>**).</a:t>
            </a:r>
          </a:p>
        </p:txBody>
      </p:sp>
      <p:sp>
        <p:nvSpPr>
          <p:cNvPr id="765" name="Rounded Rectangle 5"/>
          <p:cNvSpPr/>
          <p:nvPr/>
        </p:nvSpPr>
        <p:spPr>
          <a:xfrm>
            <a:off x="502919" y="1828800"/>
            <a:ext cx="5532122" cy="1874519"/>
          </a:xfrm>
          <a:prstGeom prst="roundRect">
            <a:avLst>
              <a:gd name="adj" fmla="val 10000"/>
            </a:avLst>
          </a:prstGeom>
          <a:solidFill>
            <a:srgbClr val="D2E0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6" name="TextBox 6"/>
          <p:cNvSpPr txBox="1"/>
          <p:nvPr/>
        </p:nvSpPr>
        <p:spPr>
          <a:xfrm>
            <a:off x="640080" y="1883664"/>
            <a:ext cx="52120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275C"/>
                </a:solidFill>
              </a:defRPr>
            </a:lvl1pPr>
          </a:lstStyle>
          <a:p>
            <a:pPr/>
            <a:r>
              <a:t>INSIDE TELEFÓNICA</a:t>
            </a:r>
          </a:p>
        </p:txBody>
      </p:sp>
      <p:sp>
        <p:nvSpPr>
          <p:cNvPr id="767" name="Rounded Rectangle 7"/>
          <p:cNvSpPr/>
          <p:nvPr/>
        </p:nvSpPr>
        <p:spPr>
          <a:xfrm>
            <a:off x="713231" y="2103120"/>
            <a:ext cx="2377441" cy="12344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8" name="TextBox 8"/>
          <p:cNvSpPr txBox="1"/>
          <p:nvPr/>
        </p:nvSpPr>
        <p:spPr>
          <a:xfrm>
            <a:off x="850391" y="2337738"/>
            <a:ext cx="210312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A275C"/>
                </a:solidFill>
              </a:defRPr>
            </a:lvl1pPr>
          </a:lstStyle>
          <a:p>
            <a:pPr/>
            <a:r>
              <a:t>CKBO</a:t>
            </a:r>
          </a:p>
        </p:txBody>
      </p:sp>
      <p:sp>
        <p:nvSpPr>
          <p:cNvPr id="769" name="TextBox 9"/>
          <p:cNvSpPr txBox="1"/>
          <p:nvPr/>
        </p:nvSpPr>
        <p:spPr>
          <a:xfrm>
            <a:off x="822960" y="2578607"/>
            <a:ext cx="2157985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solidFill>
                  <a:srgbClr val="5B6B86"/>
                </a:solidFill>
              </a:defRPr>
            </a:pPr>
            <a:r>
              <a:t>Historical data</a:t>
            </a:r>
          </a:p>
          <a:p>
            <a:pPr algn="ctr">
              <a:defRPr sz="800">
                <a:solidFill>
                  <a:srgbClr val="5B6B86"/>
                </a:solidFill>
              </a:defRPr>
            </a:pPr>
            <a:r>
              <a:t>(≈ 1 month, already consolidated)</a:t>
            </a:r>
          </a:p>
        </p:txBody>
      </p:sp>
      <p:sp>
        <p:nvSpPr>
          <p:cNvPr id="770" name="Rounded Rectangle 10"/>
          <p:cNvSpPr/>
          <p:nvPr/>
        </p:nvSpPr>
        <p:spPr>
          <a:xfrm>
            <a:off x="3401567" y="2103120"/>
            <a:ext cx="2377441" cy="123444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1" name="TextBox 11"/>
          <p:cNvSpPr txBox="1"/>
          <p:nvPr/>
        </p:nvSpPr>
        <p:spPr>
          <a:xfrm>
            <a:off x="3538728" y="2337738"/>
            <a:ext cx="21031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A275C"/>
                </a:solidFill>
              </a:defRPr>
            </a:lvl1pPr>
          </a:lstStyle>
          <a:p>
            <a:pPr/>
            <a:r>
              <a:t>Export</a:t>
            </a:r>
          </a:p>
        </p:txBody>
      </p:sp>
      <p:sp>
        <p:nvSpPr>
          <p:cNvPr id="772" name="TextBox 12"/>
          <p:cNvSpPr txBox="1"/>
          <p:nvPr/>
        </p:nvSpPr>
        <p:spPr>
          <a:xfrm>
            <a:off x="3511296" y="2578607"/>
            <a:ext cx="2157985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solidFill>
                  <a:srgbClr val="5B6B86"/>
                </a:solidFill>
              </a:defRPr>
            </a:pPr>
            <a:r>
              <a:t>Anonymized datasets</a:t>
            </a:r>
          </a:p>
          <a:p>
            <a:pPr algn="ctr">
              <a:defRPr sz="800">
                <a:solidFill>
                  <a:srgbClr val="5B6B86"/>
                </a:solidFill>
              </a:defRPr>
            </a:pPr>
            <a:r>
              <a:t>(no personal data)</a:t>
            </a:r>
          </a:p>
        </p:txBody>
      </p:sp>
      <p:sp>
        <p:nvSpPr>
          <p:cNvPr id="773" name="Rounded Rectangle 13"/>
          <p:cNvSpPr/>
          <p:nvPr/>
        </p:nvSpPr>
        <p:spPr>
          <a:xfrm>
            <a:off x="6355079" y="1828800"/>
            <a:ext cx="5330954" cy="1874519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4" name="TextBox 14"/>
          <p:cNvSpPr txBox="1"/>
          <p:nvPr/>
        </p:nvSpPr>
        <p:spPr>
          <a:xfrm>
            <a:off x="6492240" y="1883664"/>
            <a:ext cx="5029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265FF"/>
                </a:solidFill>
              </a:defRPr>
            </a:lvl1pPr>
          </a:lstStyle>
          <a:p>
            <a:pPr/>
            <a:r>
              <a:t>FUTURE SPACE CONTROLLED ENVIRONMENT</a:t>
            </a:r>
          </a:p>
        </p:txBody>
      </p:sp>
      <p:sp>
        <p:nvSpPr>
          <p:cNvPr id="775" name="Rounded Rectangle 15"/>
          <p:cNvSpPr/>
          <p:nvPr/>
        </p:nvSpPr>
        <p:spPr>
          <a:xfrm>
            <a:off x="6537959" y="2103120"/>
            <a:ext cx="2468881" cy="1234441"/>
          </a:xfrm>
          <a:prstGeom prst="roundRect">
            <a:avLst>
              <a:gd name="adj" fmla="val 10000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TextBox 16"/>
          <p:cNvSpPr txBox="1"/>
          <p:nvPr/>
        </p:nvSpPr>
        <p:spPr>
          <a:xfrm>
            <a:off x="6675119" y="2337738"/>
            <a:ext cx="219456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Structural Intelligence</a:t>
            </a:r>
          </a:p>
        </p:txBody>
      </p:sp>
      <p:sp>
        <p:nvSpPr>
          <p:cNvPr id="777" name="TextBox 17"/>
          <p:cNvSpPr txBox="1"/>
          <p:nvPr/>
        </p:nvSpPr>
        <p:spPr>
          <a:xfrm>
            <a:off x="6647688" y="2578607"/>
            <a:ext cx="2249424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solidFill>
                  <a:srgbClr val="D2E0FB"/>
                </a:solidFill>
              </a:defRPr>
            </a:pPr>
            <a:r>
              <a:t>Model over the service</a:t>
            </a:r>
          </a:p>
          <a:p>
            <a:pPr algn="ctr">
              <a:defRPr sz="800">
                <a:solidFill>
                  <a:srgbClr val="D2E0FB"/>
                </a:solidFill>
              </a:defRPr>
            </a:pPr>
            <a:r>
              <a:t>graph</a:t>
            </a:r>
          </a:p>
        </p:txBody>
      </p:sp>
      <p:sp>
        <p:nvSpPr>
          <p:cNvPr id="778" name="Rounded Rectangle 18"/>
          <p:cNvSpPr/>
          <p:nvPr/>
        </p:nvSpPr>
        <p:spPr>
          <a:xfrm>
            <a:off x="9144000" y="2103120"/>
            <a:ext cx="2423161" cy="1234441"/>
          </a:xfrm>
          <a:prstGeom prst="roundRect">
            <a:avLst>
              <a:gd name="adj" fmla="val 10000"/>
            </a:avLst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9" name="TextBox 19"/>
          <p:cNvSpPr txBox="1"/>
          <p:nvPr/>
        </p:nvSpPr>
        <p:spPr>
          <a:xfrm>
            <a:off x="9281159" y="2337738"/>
            <a:ext cx="21488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780" name="TextBox 20"/>
          <p:cNvSpPr txBox="1"/>
          <p:nvPr/>
        </p:nvSpPr>
        <p:spPr>
          <a:xfrm>
            <a:off x="9253728" y="2578607"/>
            <a:ext cx="2203705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800">
                <a:solidFill>
                  <a:srgbClr val="8FB0F5"/>
                </a:solidFill>
              </a:defRPr>
            </a:pPr>
            <a:r>
              <a:t>Dashboards &amp; reports</a:t>
            </a:r>
          </a:p>
          <a:p>
            <a:pPr algn="ctr">
              <a:defRPr sz="800">
                <a:solidFill>
                  <a:srgbClr val="8FB0F5"/>
                </a:solidFill>
              </a:defRPr>
            </a:pPr>
            <a:r>
              <a:t>for Telefónica</a:t>
            </a:r>
          </a:p>
        </p:txBody>
      </p:sp>
      <p:sp>
        <p:nvSpPr>
          <p:cNvPr id="781" name="Right Arrow 21"/>
          <p:cNvSpPr/>
          <p:nvPr/>
        </p:nvSpPr>
        <p:spPr>
          <a:xfrm>
            <a:off x="3072383" y="2551176"/>
            <a:ext cx="292609" cy="32918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2" name="Right Arrow 22"/>
          <p:cNvSpPr/>
          <p:nvPr/>
        </p:nvSpPr>
        <p:spPr>
          <a:xfrm>
            <a:off x="5989320" y="2505455"/>
            <a:ext cx="457201" cy="4206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3" name="Right Arrow 23"/>
          <p:cNvSpPr/>
          <p:nvPr/>
        </p:nvSpPr>
        <p:spPr>
          <a:xfrm>
            <a:off x="8988552" y="2551176"/>
            <a:ext cx="292609" cy="32918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4" name="TextBox 24"/>
          <p:cNvSpPr txBox="1"/>
          <p:nvPr/>
        </p:nvSpPr>
        <p:spPr>
          <a:xfrm>
            <a:off x="5669279" y="2999232"/>
            <a:ext cx="1097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1265FF"/>
                </a:solidFill>
              </a:defRPr>
            </a:lvl1pPr>
          </a:lstStyle>
          <a:p>
            <a:pPr/>
            <a:r>
              <a:t>export</a:t>
            </a:r>
          </a:p>
        </p:txBody>
      </p:sp>
      <p:sp>
        <p:nvSpPr>
          <p:cNvPr id="785" name="TextBox 25"/>
          <p:cNvSpPr txBox="1"/>
          <p:nvPr/>
        </p:nvSpPr>
        <p:spPr>
          <a:xfrm>
            <a:off x="502919" y="3977638"/>
            <a:ext cx="10972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5B6B86"/>
                </a:solidFill>
              </a:defRPr>
            </a:lvl1pPr>
          </a:lstStyle>
          <a:p>
            <a:pPr/>
            <a:r>
              <a:t>←  Delivery of reports and operational recommendations to Telefónica</a:t>
            </a:r>
          </a:p>
        </p:txBody>
      </p:sp>
      <p:sp>
        <p:nvSpPr>
          <p:cNvPr id="786" name="Rounded Rectangle 26"/>
          <p:cNvSpPr/>
          <p:nvPr/>
        </p:nvSpPr>
        <p:spPr>
          <a:xfrm>
            <a:off x="502919" y="4572000"/>
            <a:ext cx="11183113" cy="960120"/>
          </a:xfrm>
          <a:prstGeom prst="roundRect">
            <a:avLst>
              <a:gd name="adj" fmla="val 10000"/>
            </a:avLst>
          </a:prstGeom>
          <a:solidFill>
            <a:srgbClr val="1025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7" name="TextBox 27"/>
          <p:cNvSpPr txBox="1"/>
          <p:nvPr/>
        </p:nvSpPr>
        <p:spPr>
          <a:xfrm>
            <a:off x="822960" y="4973627"/>
            <a:ext cx="10515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8FB0F5"/>
                </a:solidFill>
              </a:defRPr>
            </a:pPr>
            <a:r>
              <a:t>Key message:  </a:t>
            </a:r>
            <a:r>
              <a:rPr b="0">
                <a:solidFill>
                  <a:srgbClr val="FFFFFF"/>
                </a:solidFill>
              </a:rPr>
              <a:t>no integration into operational systems — just an export of already-stored data. Fast start, minimal security friction, no licence cost.</a:t>
            </a:r>
          </a:p>
        </p:txBody>
      </p:sp>
      <p:grpSp>
        <p:nvGrpSpPr>
          <p:cNvPr id="790" name="Rounded Rectangle 28"/>
          <p:cNvGrpSpPr/>
          <p:nvPr/>
        </p:nvGrpSpPr>
        <p:grpSpPr>
          <a:xfrm>
            <a:off x="502919" y="5715000"/>
            <a:ext cx="1463041" cy="219457"/>
            <a:chOff x="0" y="0"/>
            <a:chExt cx="1463039" cy="219456"/>
          </a:xfrm>
        </p:grpSpPr>
        <p:sp>
          <p:nvSpPr>
            <p:cNvPr id="788" name="Rounded Rectangle"/>
            <p:cNvSpPr/>
            <p:nvPr/>
          </p:nvSpPr>
          <p:spPr>
            <a:xfrm>
              <a:off x="0" y="0"/>
              <a:ext cx="1463040" cy="219457"/>
            </a:xfrm>
            <a:prstGeom prst="roundRect">
              <a:avLst>
                <a:gd name="adj" fmla="val 30000"/>
              </a:avLst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89" name="FAST START"/>
            <p:cNvSpPr txBox="1"/>
            <p:nvPr/>
          </p:nvSpPr>
          <p:spPr>
            <a:xfrm>
              <a:off x="485085" y="46228"/>
              <a:ext cx="49287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FAST START</a:t>
              </a:r>
            </a:p>
          </p:txBody>
        </p:sp>
      </p:grpSp>
      <p:grpSp>
        <p:nvGrpSpPr>
          <p:cNvPr id="793" name="Rounded Rectangle 30"/>
          <p:cNvGrpSpPr/>
          <p:nvPr/>
        </p:nvGrpSpPr>
        <p:grpSpPr>
          <a:xfrm>
            <a:off x="2088999" y="5716248"/>
            <a:ext cx="1737361" cy="219457"/>
            <a:chOff x="0" y="0"/>
            <a:chExt cx="1737360" cy="219456"/>
          </a:xfrm>
        </p:grpSpPr>
        <p:sp>
          <p:nvSpPr>
            <p:cNvPr id="791" name="Rounded Rectangle"/>
            <p:cNvSpPr/>
            <p:nvPr/>
          </p:nvSpPr>
          <p:spPr>
            <a:xfrm>
              <a:off x="0" y="0"/>
              <a:ext cx="1737361" cy="219457"/>
            </a:xfrm>
            <a:prstGeom prst="roundRect">
              <a:avLst>
                <a:gd name="adj" fmla="val 30000"/>
              </a:avLst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92" name="ANONYMIZED DATA"/>
            <p:cNvSpPr txBox="1"/>
            <p:nvPr/>
          </p:nvSpPr>
          <p:spPr>
            <a:xfrm>
              <a:off x="443775" y="46228"/>
              <a:ext cx="849810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ANONYMIZED DATA</a:t>
              </a:r>
            </a:p>
          </p:txBody>
        </p:sp>
      </p:grpSp>
      <p:sp>
        <p:nvSpPr>
          <p:cNvPr id="794" name="TextBox 31"/>
          <p:cNvSpPr txBox="1"/>
          <p:nvPr/>
        </p:nvSpPr>
        <p:spPr>
          <a:xfrm>
            <a:off x="502919" y="6455664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795" name="TextBox 32"/>
          <p:cNvSpPr txBox="1"/>
          <p:nvPr/>
        </p:nvSpPr>
        <p:spPr>
          <a:xfrm>
            <a:off x="9875519" y="645566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N2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TextBox 2"/>
          <p:cNvSpPr txBox="1"/>
          <p:nvPr/>
        </p:nvSpPr>
        <p:spPr>
          <a:xfrm>
            <a:off x="502919" y="310895"/>
            <a:ext cx="111556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INTEGRATION POINTS · THE PRINCIPLE</a:t>
            </a:r>
          </a:p>
        </p:txBody>
      </p:sp>
      <p:sp>
        <p:nvSpPr>
          <p:cNvPr id="799" name="TextBox 3"/>
          <p:cNvSpPr txBox="1"/>
          <p:nvPr/>
        </p:nvSpPr>
        <p:spPr>
          <a:xfrm>
            <a:off x="502919" y="566927"/>
            <a:ext cx="111556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500">
                <a:solidFill>
                  <a:srgbClr val="0A275C"/>
                </a:solidFill>
              </a:defRPr>
            </a:lvl1pPr>
          </a:lstStyle>
          <a:p>
            <a:pPr/>
            <a:r>
              <a:t>A single collection point — not STB by STB</a:t>
            </a:r>
          </a:p>
        </p:txBody>
      </p:sp>
      <p:sp>
        <p:nvSpPr>
          <p:cNvPr id="800" name="TextBox 4"/>
          <p:cNvSpPr txBox="1"/>
          <p:nvPr/>
        </p:nvSpPr>
        <p:spPr>
          <a:xfrm>
            <a:off x="502919" y="1078991"/>
            <a:ext cx="11155682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5B6B86"/>
                </a:solidFill>
              </a:defRPr>
            </a:lvl1pPr>
          </a:lstStyle>
          <a:p>
            <a:pPr/>
            <a:r>
              <a:t>Telemetry already converges inside Telefónica before it reaches us. We connect where it is already gathered — ideally a single point — accepting a small lag. SI runs on intervals, so a small lag has no impact.</a:t>
            </a:r>
          </a:p>
        </p:txBody>
      </p:sp>
      <p:sp>
        <p:nvSpPr>
          <p:cNvPr id="801" name="Rounded Rectangle 5"/>
          <p:cNvSpPr/>
          <p:nvPr/>
        </p:nvSpPr>
        <p:spPr>
          <a:xfrm>
            <a:off x="502919" y="1783079"/>
            <a:ext cx="2788922" cy="3611881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2" name="TextBox 6"/>
          <p:cNvSpPr txBox="1"/>
          <p:nvPr/>
        </p:nvSpPr>
        <p:spPr>
          <a:xfrm>
            <a:off x="685799" y="1865376"/>
            <a:ext cx="24231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5B6B86"/>
                </a:solidFill>
              </a:defRPr>
            </a:lvl1pPr>
          </a:lstStyle>
          <a:p>
            <a:pPr/>
            <a:r>
              <a:t>ELEMENTS (MILLIONS)</a:t>
            </a:r>
          </a:p>
        </p:txBody>
      </p:sp>
      <p:sp>
        <p:nvSpPr>
          <p:cNvPr id="803" name="Rounded Rectangle 7"/>
          <p:cNvSpPr/>
          <p:nvPr/>
        </p:nvSpPr>
        <p:spPr>
          <a:xfrm>
            <a:off x="667512" y="2157983"/>
            <a:ext cx="2459736" cy="49377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4" name="TextBox 8"/>
          <p:cNvSpPr txBox="1"/>
          <p:nvPr/>
        </p:nvSpPr>
        <p:spPr>
          <a:xfrm>
            <a:off x="813816" y="2194560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275C"/>
                </a:solidFill>
              </a:defRPr>
            </a:lvl1pPr>
          </a:lstStyle>
          <a:p>
            <a:pPr/>
            <a:r>
              <a:t>Millions of STBs</a:t>
            </a:r>
          </a:p>
        </p:txBody>
      </p:sp>
      <p:sp>
        <p:nvSpPr>
          <p:cNvPr id="805" name="TextBox 9"/>
          <p:cNvSpPr txBox="1"/>
          <p:nvPr/>
        </p:nvSpPr>
        <p:spPr>
          <a:xfrm>
            <a:off x="813816" y="2432304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events, reboots, QoE</a:t>
            </a:r>
          </a:p>
        </p:txBody>
      </p:sp>
      <p:sp>
        <p:nvSpPr>
          <p:cNvPr id="806" name="Rounded Rectangle 10"/>
          <p:cNvSpPr/>
          <p:nvPr/>
        </p:nvSpPr>
        <p:spPr>
          <a:xfrm>
            <a:off x="667512" y="2743200"/>
            <a:ext cx="2459736" cy="49377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7" name="TextBox 11"/>
          <p:cNvSpPr txBox="1"/>
          <p:nvPr/>
        </p:nvSpPr>
        <p:spPr>
          <a:xfrm>
            <a:off x="813816" y="2779776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275C"/>
                </a:solidFill>
              </a:defRPr>
            </a:lvl1pPr>
          </a:lstStyle>
          <a:p>
            <a:pPr/>
            <a:r>
              <a:t>Routers / homes</a:t>
            </a:r>
          </a:p>
        </p:txBody>
      </p:sp>
      <p:sp>
        <p:nvSpPr>
          <p:cNvPr id="808" name="TextBox 12"/>
          <p:cNvSpPr txBox="1"/>
          <p:nvPr/>
        </p:nvSpPr>
        <p:spPr>
          <a:xfrm>
            <a:off x="813816" y="3017520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Wi-Fi, gateway, WAN</a:t>
            </a:r>
          </a:p>
        </p:txBody>
      </p:sp>
      <p:sp>
        <p:nvSpPr>
          <p:cNvPr id="809" name="Rounded Rectangle 13"/>
          <p:cNvSpPr/>
          <p:nvPr/>
        </p:nvSpPr>
        <p:spPr>
          <a:xfrm>
            <a:off x="667512" y="3328415"/>
            <a:ext cx="2459736" cy="49377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0" name="TextBox 14"/>
          <p:cNvSpPr txBox="1"/>
          <p:nvPr/>
        </p:nvSpPr>
        <p:spPr>
          <a:xfrm>
            <a:off x="813816" y="3364991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275C"/>
                </a:solidFill>
              </a:defRPr>
            </a:lvl1pPr>
          </a:lstStyle>
          <a:p>
            <a:pPr/>
            <a:r>
              <a:t>Access: OLT / DSLAM</a:t>
            </a:r>
          </a:p>
        </p:txBody>
      </p:sp>
      <p:sp>
        <p:nvSpPr>
          <p:cNvPr id="811" name="TextBox 15"/>
          <p:cNvSpPr txBox="1"/>
          <p:nvPr/>
        </p:nvSpPr>
        <p:spPr>
          <a:xfrm>
            <a:off x="813816" y="3602735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line, ports</a:t>
            </a:r>
          </a:p>
        </p:txBody>
      </p:sp>
      <p:sp>
        <p:nvSpPr>
          <p:cNvPr id="812" name="Rounded Rectangle 16"/>
          <p:cNvSpPr/>
          <p:nvPr/>
        </p:nvSpPr>
        <p:spPr>
          <a:xfrm>
            <a:off x="667512" y="3913632"/>
            <a:ext cx="2459736" cy="49377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3" name="TextBox 17"/>
          <p:cNvSpPr txBox="1"/>
          <p:nvPr/>
        </p:nvSpPr>
        <p:spPr>
          <a:xfrm>
            <a:off x="813816" y="3950208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275C"/>
                </a:solidFill>
              </a:defRPr>
            </a:lvl1pPr>
          </a:lstStyle>
          <a:p>
            <a:pPr/>
            <a:r>
              <a:t>Core / BNG</a:t>
            </a:r>
          </a:p>
        </p:txBody>
      </p:sp>
      <p:sp>
        <p:nvSpPr>
          <p:cNvPr id="814" name="TextBox 18"/>
          <p:cNvSpPr txBox="1"/>
          <p:nvPr/>
        </p:nvSpPr>
        <p:spPr>
          <a:xfrm>
            <a:off x="813816" y="4187952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load, routes, multicast</a:t>
            </a:r>
          </a:p>
        </p:txBody>
      </p:sp>
      <p:sp>
        <p:nvSpPr>
          <p:cNvPr id="815" name="Rounded Rectangle 19"/>
          <p:cNvSpPr/>
          <p:nvPr/>
        </p:nvSpPr>
        <p:spPr>
          <a:xfrm>
            <a:off x="667512" y="4498847"/>
            <a:ext cx="2459736" cy="49377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6" name="TextBox 20"/>
          <p:cNvSpPr txBox="1"/>
          <p:nvPr/>
        </p:nvSpPr>
        <p:spPr>
          <a:xfrm>
            <a:off x="813816" y="4535423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275C"/>
                </a:solidFill>
              </a:defRPr>
            </a:lvl1pPr>
          </a:lstStyle>
          <a:p>
            <a:pPr/>
            <a:r>
              <a:t>CDN / platform</a:t>
            </a:r>
          </a:p>
        </p:txBody>
      </p:sp>
      <p:sp>
        <p:nvSpPr>
          <p:cNvPr id="817" name="TextBox 21"/>
          <p:cNvSpPr txBox="1"/>
          <p:nvPr/>
        </p:nvSpPr>
        <p:spPr>
          <a:xfrm>
            <a:off x="813816" y="4773167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cache, encoder</a:t>
            </a:r>
          </a:p>
        </p:txBody>
      </p:sp>
      <p:sp>
        <p:nvSpPr>
          <p:cNvPr id="818" name="Rounded Rectangle 22"/>
          <p:cNvSpPr/>
          <p:nvPr/>
        </p:nvSpPr>
        <p:spPr>
          <a:xfrm>
            <a:off x="3703320" y="1783079"/>
            <a:ext cx="2788921" cy="3611881"/>
          </a:xfrm>
          <a:prstGeom prst="roundRect">
            <a:avLst>
              <a:gd name="adj" fmla="val 10000"/>
            </a:avLst>
          </a:prstGeom>
          <a:solidFill>
            <a:srgbClr val="D2E0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9" name="TextBox 23"/>
          <p:cNvSpPr txBox="1"/>
          <p:nvPr/>
        </p:nvSpPr>
        <p:spPr>
          <a:xfrm>
            <a:off x="3886199" y="1865376"/>
            <a:ext cx="24231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0A275C"/>
                </a:solidFill>
              </a:defRPr>
            </a:lvl1pPr>
          </a:lstStyle>
          <a:p>
            <a:pPr/>
            <a:r>
              <a:t>ALREADY CONCENTRATED IN TELEFÓNICA</a:t>
            </a:r>
          </a:p>
        </p:txBody>
      </p:sp>
      <p:sp>
        <p:nvSpPr>
          <p:cNvPr id="820" name="Rounded Rectangle 24"/>
          <p:cNvSpPr/>
          <p:nvPr/>
        </p:nvSpPr>
        <p:spPr>
          <a:xfrm>
            <a:off x="3867911" y="2194560"/>
            <a:ext cx="2459737" cy="131673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1" name="TextBox 25"/>
          <p:cNvSpPr txBox="1"/>
          <p:nvPr/>
        </p:nvSpPr>
        <p:spPr>
          <a:xfrm>
            <a:off x="4032503" y="2340864"/>
            <a:ext cx="214884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STB platform</a:t>
            </a:r>
          </a:p>
        </p:txBody>
      </p:sp>
      <p:sp>
        <p:nvSpPr>
          <p:cNvPr id="822" name="TextBox 26"/>
          <p:cNvSpPr txBox="1"/>
          <p:nvPr/>
        </p:nvSpPr>
        <p:spPr>
          <a:xfrm>
            <a:off x="4032503" y="2798064"/>
            <a:ext cx="2148841" cy="257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defRPr sz="900">
                <a:solidFill>
                  <a:srgbClr val="5B6B86"/>
                </a:solidFill>
              </a:defRPr>
            </a:lvl1pPr>
          </a:lstStyle>
          <a:p>
            <a:pPr/>
            <a:r>
              <a:t>telemetry from EVERY STB already arrives here in real time — never box by box</a:t>
            </a:r>
          </a:p>
        </p:txBody>
      </p:sp>
      <p:sp>
        <p:nvSpPr>
          <p:cNvPr id="823" name="Rounded Rectangle 27"/>
          <p:cNvSpPr/>
          <p:nvPr/>
        </p:nvSpPr>
        <p:spPr>
          <a:xfrm>
            <a:off x="3867911" y="3657600"/>
            <a:ext cx="2459737" cy="131673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4" name="TextBox 28"/>
          <p:cNvSpPr txBox="1"/>
          <p:nvPr/>
        </p:nvSpPr>
        <p:spPr>
          <a:xfrm>
            <a:off x="4032503" y="3803903"/>
            <a:ext cx="21488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OSS bus / network telemetry</a:t>
            </a:r>
          </a:p>
        </p:txBody>
      </p:sp>
      <p:sp>
        <p:nvSpPr>
          <p:cNvPr id="825" name="TextBox 29"/>
          <p:cNvSpPr txBox="1"/>
          <p:nvPr/>
        </p:nvSpPr>
        <p:spPr>
          <a:xfrm>
            <a:off x="4032503" y="4261103"/>
            <a:ext cx="2148841" cy="257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defRPr sz="900">
                <a:solidFill>
                  <a:srgbClr val="5B6B86"/>
                </a:solidFill>
              </a:defRPr>
            </a:lvl1pPr>
          </a:lstStyle>
          <a:p>
            <a:pPr/>
            <a:r>
              <a:t>SNMP/gNMI from access, core and CDN already aggregated</a:t>
            </a:r>
          </a:p>
        </p:txBody>
      </p:sp>
      <p:sp>
        <p:nvSpPr>
          <p:cNvPr id="826" name="Rounded Rectangle 30"/>
          <p:cNvSpPr/>
          <p:nvPr/>
        </p:nvSpPr>
        <p:spPr>
          <a:xfrm>
            <a:off x="6903719" y="2148839"/>
            <a:ext cx="2423161" cy="2880361"/>
          </a:xfrm>
          <a:prstGeom prst="roundRect">
            <a:avLst>
              <a:gd name="adj" fmla="val 10000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7" name="TextBox 31"/>
          <p:cNvSpPr txBox="1"/>
          <p:nvPr/>
        </p:nvSpPr>
        <p:spPr>
          <a:xfrm>
            <a:off x="7104888" y="2331720"/>
            <a:ext cx="2020824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SINGLE COLLECTION POINT</a:t>
            </a:r>
          </a:p>
        </p:txBody>
      </p:sp>
      <p:sp>
        <p:nvSpPr>
          <p:cNvPr id="828" name="TextBox 32"/>
          <p:cNvSpPr txBox="1"/>
          <p:nvPr/>
        </p:nvSpPr>
        <p:spPr>
          <a:xfrm>
            <a:off x="7104888" y="2887571"/>
            <a:ext cx="2020824" cy="259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ct val="104999"/>
              </a:lnSpc>
              <a:defRPr sz="900">
                <a:solidFill>
                  <a:srgbClr val="D2E0FB"/>
                </a:solidFill>
              </a:defRPr>
            </a:lvl1pPr>
          </a:lstStyle>
          <a:p>
            <a:pPr/>
            <a:r>
              <a:t>Data platform / streaming bus  (live CKBO-style)</a:t>
            </a:r>
          </a:p>
        </p:txBody>
      </p:sp>
      <p:sp>
        <p:nvSpPr>
          <p:cNvPr id="829" name="Rounded Rectangle 33"/>
          <p:cNvSpPr/>
          <p:nvPr/>
        </p:nvSpPr>
        <p:spPr>
          <a:xfrm>
            <a:off x="7104888" y="3429000"/>
            <a:ext cx="2020824" cy="1371600"/>
          </a:xfrm>
          <a:prstGeom prst="roundRect">
            <a:avLst>
              <a:gd name="adj" fmla="val 10000"/>
            </a:avLst>
          </a:prstGeom>
          <a:solidFill>
            <a:srgbClr val="1025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TextBox 34"/>
          <p:cNvSpPr txBox="1"/>
          <p:nvPr/>
        </p:nvSpPr>
        <p:spPr>
          <a:xfrm>
            <a:off x="7214616" y="3529584"/>
            <a:ext cx="18013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8FB0F5"/>
                </a:solidFill>
              </a:defRPr>
            </a:lvl1pPr>
          </a:lstStyle>
          <a:p>
            <a:pPr/>
            <a:r>
              <a:t>normalized to 4 fields:</a:t>
            </a:r>
          </a:p>
        </p:txBody>
      </p:sp>
      <p:sp>
        <p:nvSpPr>
          <p:cNvPr id="831" name="TextBox 35"/>
          <p:cNvSpPr txBox="1"/>
          <p:nvPr/>
        </p:nvSpPr>
        <p:spPr>
          <a:xfrm>
            <a:off x="7214616" y="3803903"/>
            <a:ext cx="1801369" cy="140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8FB0F5"/>
                </a:solidFill>
              </a:defRPr>
            </a:pPr>
            <a:r>
              <a:t>•  </a:t>
            </a:r>
            <a:r>
              <a:rPr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entity_src</a:t>
            </a:r>
          </a:p>
        </p:txBody>
      </p:sp>
      <p:sp>
        <p:nvSpPr>
          <p:cNvPr id="832" name="TextBox 36"/>
          <p:cNvSpPr txBox="1"/>
          <p:nvPr/>
        </p:nvSpPr>
        <p:spPr>
          <a:xfrm>
            <a:off x="7214616" y="4037076"/>
            <a:ext cx="1801369" cy="140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8FB0F5"/>
                </a:solidFill>
              </a:defRPr>
            </a:pPr>
            <a:r>
              <a:t>•  </a:t>
            </a:r>
            <a:r>
              <a:rPr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entity_dst</a:t>
            </a:r>
          </a:p>
        </p:txBody>
      </p:sp>
      <p:sp>
        <p:nvSpPr>
          <p:cNvPr id="833" name="TextBox 37"/>
          <p:cNvSpPr txBox="1"/>
          <p:nvPr/>
        </p:nvSpPr>
        <p:spPr>
          <a:xfrm>
            <a:off x="7214616" y="4270247"/>
            <a:ext cx="1801369" cy="140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8FB0F5"/>
                </a:solidFill>
              </a:defRPr>
            </a:pPr>
            <a:r>
              <a:t>•  </a:t>
            </a:r>
            <a:r>
              <a:rPr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timestamp</a:t>
            </a:r>
          </a:p>
        </p:txBody>
      </p:sp>
      <p:sp>
        <p:nvSpPr>
          <p:cNvPr id="834" name="TextBox 38"/>
          <p:cNvSpPr txBox="1"/>
          <p:nvPr/>
        </p:nvSpPr>
        <p:spPr>
          <a:xfrm>
            <a:off x="7214616" y="4503420"/>
            <a:ext cx="18013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900">
                <a:solidFill>
                  <a:srgbClr val="8FB0F5"/>
                </a:solidFill>
              </a:defRPr>
            </a:pPr>
            <a:r>
              <a:t>•  </a:t>
            </a:r>
            <a:r>
              <a:rPr>
                <a:solidFill>
                  <a:srgbClr val="FFFFFF"/>
                </a:solidFill>
              </a:rPr>
              <a:t>magnitude</a:t>
            </a:r>
          </a:p>
        </p:txBody>
      </p:sp>
      <p:sp>
        <p:nvSpPr>
          <p:cNvPr id="835" name="Rounded Rectangle 39"/>
          <p:cNvSpPr/>
          <p:nvPr/>
        </p:nvSpPr>
        <p:spPr>
          <a:xfrm>
            <a:off x="9646919" y="2606039"/>
            <a:ext cx="2039113" cy="1965961"/>
          </a:xfrm>
          <a:prstGeom prst="roundRect">
            <a:avLst>
              <a:gd name="adj" fmla="val 10000"/>
            </a:avLst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6" name="TextBox 40"/>
          <p:cNvSpPr txBox="1"/>
          <p:nvPr/>
        </p:nvSpPr>
        <p:spPr>
          <a:xfrm>
            <a:off x="9829800" y="2834639"/>
            <a:ext cx="167335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Structural Intelligence</a:t>
            </a:r>
          </a:p>
        </p:txBody>
      </p:sp>
      <p:sp>
        <p:nvSpPr>
          <p:cNvPr id="837" name="TextBox 41"/>
          <p:cNvSpPr txBox="1"/>
          <p:nvPr/>
        </p:nvSpPr>
        <p:spPr>
          <a:xfrm>
            <a:off x="9829800" y="3611879"/>
            <a:ext cx="1673351" cy="25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04999"/>
              </a:lnSpc>
              <a:defRPr sz="900">
                <a:solidFill>
                  <a:srgbClr val="8FB0F5"/>
                </a:solidFill>
              </a:defRPr>
            </a:lvl1pPr>
          </a:lstStyle>
          <a:p>
            <a:pPr/>
            <a:r>
              <a:t>a single subscription; recomputes the graph each interval</a:t>
            </a:r>
          </a:p>
        </p:txBody>
      </p:sp>
      <p:sp>
        <p:nvSpPr>
          <p:cNvPr id="838" name="Right Arrow 42"/>
          <p:cNvSpPr/>
          <p:nvPr/>
        </p:nvSpPr>
        <p:spPr>
          <a:xfrm>
            <a:off x="3310128" y="3438144"/>
            <a:ext cx="365761" cy="29260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Right Arrow 43"/>
          <p:cNvSpPr/>
          <p:nvPr/>
        </p:nvSpPr>
        <p:spPr>
          <a:xfrm>
            <a:off x="6510528" y="3438144"/>
            <a:ext cx="365761" cy="29260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0" name="Right Arrow 44"/>
          <p:cNvSpPr/>
          <p:nvPr/>
        </p:nvSpPr>
        <p:spPr>
          <a:xfrm>
            <a:off x="9345168" y="3438144"/>
            <a:ext cx="274321" cy="29260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1" name="Rounded Rectangle 45"/>
          <p:cNvSpPr/>
          <p:nvPr/>
        </p:nvSpPr>
        <p:spPr>
          <a:xfrm>
            <a:off x="502919" y="5541264"/>
            <a:ext cx="11183113" cy="868681"/>
          </a:xfrm>
          <a:prstGeom prst="roundRect">
            <a:avLst>
              <a:gd name="adj" fmla="val 10000"/>
            </a:avLst>
          </a:prstGeom>
          <a:solidFill>
            <a:srgbClr val="1025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2" name="TextBox 46"/>
          <p:cNvSpPr txBox="1"/>
          <p:nvPr/>
        </p:nvSpPr>
        <p:spPr>
          <a:xfrm>
            <a:off x="822960" y="5801921"/>
            <a:ext cx="1051560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8FB0F5"/>
                </a:solidFill>
              </a:defRPr>
            </a:pPr>
            <a:r>
              <a:t>Design principle:  </a:t>
            </a:r>
            <a:r>
              <a:rPr b="0">
                <a:solidFill>
                  <a:srgbClr val="FFFFFF"/>
                </a:solidFill>
              </a:rPr>
              <a:t>the minimum number of integration points. Ideally </a:t>
            </a:r>
            <a:r>
              <a:rPr>
                <a:solidFill>
                  <a:srgbClr val="FFFFFF"/>
                </a:solidFill>
              </a:rPr>
              <a:t>just one</a:t>
            </a:r>
            <a:r>
              <a:rPr b="0">
                <a:solidFill>
                  <a:srgbClr val="FFFFFF"/>
                </a:solidFill>
              </a:rPr>
              <a:t> — the live data bus where everything already converges — with a small acceptable lag. One integration, one security review, one schema.</a:t>
            </a:r>
          </a:p>
        </p:txBody>
      </p:sp>
      <p:sp>
        <p:nvSpPr>
          <p:cNvPr id="843" name="TextBox 47"/>
          <p:cNvSpPr txBox="1"/>
          <p:nvPr/>
        </p:nvSpPr>
        <p:spPr>
          <a:xfrm>
            <a:off x="502919" y="6455664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844" name="TextBox 48"/>
          <p:cNvSpPr txBox="1"/>
          <p:nvPr/>
        </p:nvSpPr>
        <p:spPr>
          <a:xfrm>
            <a:off x="9875519" y="645566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N3a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7" name="TextBox 2"/>
          <p:cNvSpPr txBox="1"/>
          <p:nvPr/>
        </p:nvSpPr>
        <p:spPr>
          <a:xfrm>
            <a:off x="502919" y="310895"/>
            <a:ext cx="111556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INTEGRATION POINTS · SCENARIOS</a:t>
            </a:r>
          </a:p>
        </p:txBody>
      </p:sp>
      <p:sp>
        <p:nvSpPr>
          <p:cNvPr id="848" name="TextBox 3"/>
          <p:cNvSpPr txBox="1"/>
          <p:nvPr/>
        </p:nvSpPr>
        <p:spPr>
          <a:xfrm>
            <a:off x="502919" y="566927"/>
            <a:ext cx="11155682" cy="32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500">
                <a:solidFill>
                  <a:srgbClr val="0A275C"/>
                </a:solidFill>
              </a:defRPr>
            </a:lvl1pPr>
          </a:lstStyle>
          <a:p>
            <a:pPr/>
            <a:r>
              <a:t>One if already unified; two at most</a:t>
            </a:r>
          </a:p>
        </p:txBody>
      </p:sp>
      <p:sp>
        <p:nvSpPr>
          <p:cNvPr id="849" name="TextBox 4"/>
          <p:cNvSpPr txBox="1"/>
          <p:nvPr/>
        </p:nvSpPr>
        <p:spPr>
          <a:xfrm>
            <a:off x="502919" y="1078991"/>
            <a:ext cx="111556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100">
                <a:solidFill>
                  <a:srgbClr val="5B6B86"/>
                </a:solidFill>
              </a:defRPr>
            </a:lvl1pPr>
          </a:lstStyle>
          <a:p>
            <a:pPr/>
            <a:r>
              <a:t>How many integrations are needed depends only on whether STB and network telemetry are already unified into a single real-time stream. In no case do we integrate element by element.</a:t>
            </a:r>
          </a:p>
        </p:txBody>
      </p:sp>
      <p:sp>
        <p:nvSpPr>
          <p:cNvPr id="850" name="Rounded Rectangle 5"/>
          <p:cNvSpPr/>
          <p:nvPr/>
        </p:nvSpPr>
        <p:spPr>
          <a:xfrm>
            <a:off x="502919" y="1783079"/>
            <a:ext cx="5440681" cy="338328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1" name="Rounded Rectangle 6"/>
          <p:cNvSpPr/>
          <p:nvPr/>
        </p:nvSpPr>
        <p:spPr>
          <a:xfrm>
            <a:off x="502919" y="1783079"/>
            <a:ext cx="5440681" cy="868681"/>
          </a:xfrm>
          <a:prstGeom prst="roundRect">
            <a:avLst>
              <a:gd name="adj" fmla="val 10000"/>
            </a:avLst>
          </a:prstGeom>
          <a:solidFill>
            <a:srgbClr val="1E9E6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Rectangle 7"/>
          <p:cNvSpPr/>
          <p:nvPr/>
        </p:nvSpPr>
        <p:spPr>
          <a:xfrm>
            <a:off x="502920" y="2212848"/>
            <a:ext cx="5440680" cy="438913"/>
          </a:xfrm>
          <a:prstGeom prst="rect">
            <a:avLst/>
          </a:prstGeom>
          <a:solidFill>
            <a:srgbClr val="1E9E6A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3" name="TextBox 8"/>
          <p:cNvSpPr txBox="1"/>
          <p:nvPr/>
        </p:nvSpPr>
        <p:spPr>
          <a:xfrm>
            <a:off x="758952" y="1938527"/>
            <a:ext cx="492861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IDEAL SCENARIO</a:t>
            </a:r>
          </a:p>
        </p:txBody>
      </p:sp>
      <p:sp>
        <p:nvSpPr>
          <p:cNvPr id="854" name="TextBox 9"/>
          <p:cNvSpPr txBox="1"/>
          <p:nvPr/>
        </p:nvSpPr>
        <p:spPr>
          <a:xfrm>
            <a:off x="758952" y="2310192"/>
            <a:ext cx="4928616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1 integration point</a:t>
            </a:r>
          </a:p>
        </p:txBody>
      </p:sp>
      <p:sp>
        <p:nvSpPr>
          <p:cNvPr id="855" name="TextBox 10"/>
          <p:cNvSpPr txBox="1"/>
          <p:nvPr/>
        </p:nvSpPr>
        <p:spPr>
          <a:xfrm>
            <a:off x="758952" y="2834639"/>
            <a:ext cx="4928616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defRPr i="1" sz="1000">
                <a:solidFill>
                  <a:srgbClr val="5B6B86"/>
                </a:solidFill>
              </a:defRPr>
            </a:lvl1pPr>
          </a:lstStyle>
          <a:p>
            <a:pPr/>
            <a:r>
              <a:t>If STB + network already coexist on a live data bus / platform.</a:t>
            </a:r>
          </a:p>
        </p:txBody>
      </p:sp>
      <p:sp>
        <p:nvSpPr>
          <p:cNvPr id="856" name="TextBox 11"/>
          <p:cNvSpPr txBox="1"/>
          <p:nvPr/>
        </p:nvSpPr>
        <p:spPr>
          <a:xfrm>
            <a:off x="914400" y="3550901"/>
            <a:ext cx="4754880" cy="14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E9E6A"/>
                </a:solidFill>
              </a:defRPr>
            </a:pPr>
            <a:r>
              <a:t>•  </a:t>
            </a:r>
            <a:r>
              <a:rPr b="0" sz="1000">
                <a:solidFill>
                  <a:srgbClr val="0A275C"/>
                </a:solidFill>
              </a:rPr>
              <a:t>One subscription to the data bus (live CKBO-style)</a:t>
            </a:r>
          </a:p>
        </p:txBody>
      </p:sp>
      <p:sp>
        <p:nvSpPr>
          <p:cNvPr id="857" name="TextBox 12"/>
          <p:cNvSpPr txBox="1"/>
          <p:nvPr/>
        </p:nvSpPr>
        <p:spPr>
          <a:xfrm>
            <a:off x="914400" y="3971525"/>
            <a:ext cx="4754880" cy="14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E9E6A"/>
                </a:solidFill>
              </a:defRPr>
            </a:pPr>
            <a:r>
              <a:t>•  </a:t>
            </a:r>
            <a:r>
              <a:rPr b="0" sz="1000">
                <a:solidFill>
                  <a:srgbClr val="0A275C"/>
                </a:solidFill>
              </a:rPr>
              <a:t>Covers STB, home, access, core and CDN at once</a:t>
            </a:r>
          </a:p>
        </p:txBody>
      </p:sp>
      <p:sp>
        <p:nvSpPr>
          <p:cNvPr id="858" name="TextBox 13"/>
          <p:cNvSpPr txBox="1"/>
          <p:nvPr/>
        </p:nvSpPr>
        <p:spPr>
          <a:xfrm>
            <a:off x="914400" y="4392149"/>
            <a:ext cx="4754880" cy="14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E9E6A"/>
                </a:solidFill>
              </a:defRPr>
            </a:pPr>
            <a:r>
              <a:t>•  </a:t>
            </a:r>
            <a:r>
              <a:rPr b="0" sz="1000">
                <a:solidFill>
                  <a:srgbClr val="0A275C"/>
                </a:solidFill>
              </a:rPr>
              <a:t>Small lag, irrelevant to SI</a:t>
            </a:r>
          </a:p>
        </p:txBody>
      </p:sp>
      <p:sp>
        <p:nvSpPr>
          <p:cNvPr id="859" name="Rounded Rectangle 14"/>
          <p:cNvSpPr/>
          <p:nvPr/>
        </p:nvSpPr>
        <p:spPr>
          <a:xfrm>
            <a:off x="758951" y="4590288"/>
            <a:ext cx="4928617" cy="411481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0" name="TextBox 15"/>
          <p:cNvSpPr txBox="1"/>
          <p:nvPr/>
        </p:nvSpPr>
        <p:spPr>
          <a:xfrm>
            <a:off x="914399" y="4727492"/>
            <a:ext cx="46634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E9E6A"/>
                </a:solidFill>
              </a:defRPr>
            </a:lvl1pPr>
          </a:lstStyle>
          <a:p>
            <a:pPr/>
            <a:r>
              <a:t>Preferred — minimal friction</a:t>
            </a:r>
          </a:p>
        </p:txBody>
      </p:sp>
      <p:sp>
        <p:nvSpPr>
          <p:cNvPr id="861" name="Rounded Rectangle 16"/>
          <p:cNvSpPr/>
          <p:nvPr/>
        </p:nvSpPr>
        <p:spPr>
          <a:xfrm>
            <a:off x="6263640" y="1783079"/>
            <a:ext cx="5422393" cy="338328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2" name="Rounded Rectangle 17"/>
          <p:cNvSpPr/>
          <p:nvPr/>
        </p:nvSpPr>
        <p:spPr>
          <a:xfrm>
            <a:off x="6263640" y="1783079"/>
            <a:ext cx="5422393" cy="868681"/>
          </a:xfrm>
          <a:prstGeom prst="roundRect">
            <a:avLst>
              <a:gd name="adj" fmla="val 10000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3" name="Rectangle 18"/>
          <p:cNvSpPr/>
          <p:nvPr/>
        </p:nvSpPr>
        <p:spPr>
          <a:xfrm>
            <a:off x="6263640" y="2212848"/>
            <a:ext cx="5422393" cy="438913"/>
          </a:xfrm>
          <a:prstGeom prst="rect">
            <a:avLst/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4" name="TextBox 19"/>
          <p:cNvSpPr txBox="1"/>
          <p:nvPr/>
        </p:nvSpPr>
        <p:spPr>
          <a:xfrm>
            <a:off x="6519671" y="1938527"/>
            <a:ext cx="491032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REALISTIC SCENARIO</a:t>
            </a:r>
          </a:p>
        </p:txBody>
      </p:sp>
      <p:sp>
        <p:nvSpPr>
          <p:cNvPr id="865" name="TextBox 20"/>
          <p:cNvSpPr txBox="1"/>
          <p:nvPr/>
        </p:nvSpPr>
        <p:spPr>
          <a:xfrm>
            <a:off x="6519671" y="2310192"/>
            <a:ext cx="491032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2 integration points</a:t>
            </a:r>
          </a:p>
        </p:txBody>
      </p:sp>
      <p:sp>
        <p:nvSpPr>
          <p:cNvPr id="866" name="TextBox 21"/>
          <p:cNvSpPr txBox="1"/>
          <p:nvPr/>
        </p:nvSpPr>
        <p:spPr>
          <a:xfrm>
            <a:off x="6519671" y="2834639"/>
            <a:ext cx="4910329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defRPr i="1" sz="1000">
                <a:solidFill>
                  <a:srgbClr val="5B6B86"/>
                </a:solidFill>
              </a:defRPr>
            </a:lvl1pPr>
          </a:lstStyle>
          <a:p>
            <a:pPr/>
            <a:r>
              <a:t>If STB and network telemetry are not yet unified.</a:t>
            </a:r>
          </a:p>
        </p:txBody>
      </p:sp>
      <p:sp>
        <p:nvSpPr>
          <p:cNvPr id="867" name="TextBox 22"/>
          <p:cNvSpPr txBox="1"/>
          <p:nvPr/>
        </p:nvSpPr>
        <p:spPr>
          <a:xfrm>
            <a:off x="6675119" y="3550901"/>
            <a:ext cx="4736593" cy="14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265FF"/>
                </a:solidFill>
              </a:defRPr>
            </a:pPr>
            <a:r>
              <a:t>•  </a:t>
            </a:r>
            <a:r>
              <a:rPr b="0" sz="1000">
                <a:solidFill>
                  <a:srgbClr val="0A275C"/>
                </a:solidFill>
              </a:rPr>
              <a:t>Point 1: STB platform (the entire STB fleet)</a:t>
            </a:r>
          </a:p>
        </p:txBody>
      </p:sp>
      <p:sp>
        <p:nvSpPr>
          <p:cNvPr id="868" name="TextBox 23"/>
          <p:cNvSpPr txBox="1"/>
          <p:nvPr/>
        </p:nvSpPr>
        <p:spPr>
          <a:xfrm>
            <a:off x="6675119" y="3971525"/>
            <a:ext cx="4736593" cy="14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265FF"/>
                </a:solidFill>
              </a:defRPr>
            </a:pPr>
            <a:r>
              <a:t>•  </a:t>
            </a:r>
            <a:r>
              <a:rPr b="0" sz="1000">
                <a:solidFill>
                  <a:srgbClr val="0A275C"/>
                </a:solidFill>
              </a:rPr>
              <a:t>Point 2: OSS bus / network telemetry</a:t>
            </a:r>
          </a:p>
        </p:txBody>
      </p:sp>
      <p:sp>
        <p:nvSpPr>
          <p:cNvPr id="869" name="TextBox 24"/>
          <p:cNvSpPr txBox="1"/>
          <p:nvPr/>
        </p:nvSpPr>
        <p:spPr>
          <a:xfrm>
            <a:off x="6675119" y="4392149"/>
            <a:ext cx="4736593" cy="14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265FF"/>
                </a:solidFill>
              </a:defRPr>
            </a:pPr>
            <a:r>
              <a:t>•  </a:t>
            </a:r>
            <a:r>
              <a:rPr b="0" sz="1000">
                <a:solidFill>
                  <a:srgbClr val="0A275C"/>
                </a:solidFill>
              </a:rPr>
              <a:t>Never per element — just two concentrators</a:t>
            </a:r>
          </a:p>
        </p:txBody>
      </p:sp>
      <p:sp>
        <p:nvSpPr>
          <p:cNvPr id="870" name="Rounded Rectangle 25"/>
          <p:cNvSpPr/>
          <p:nvPr/>
        </p:nvSpPr>
        <p:spPr>
          <a:xfrm>
            <a:off x="6519671" y="4590288"/>
            <a:ext cx="4910329" cy="411481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1" name="TextBox 26"/>
          <p:cNvSpPr txBox="1"/>
          <p:nvPr/>
        </p:nvSpPr>
        <p:spPr>
          <a:xfrm>
            <a:off x="6675119" y="4727492"/>
            <a:ext cx="464515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265FF"/>
                </a:solidFill>
              </a:defRPr>
            </a:lvl1pPr>
          </a:lstStyle>
          <a:p>
            <a:pPr/>
            <a:r>
              <a:t>Realistic floor — still very contained</a:t>
            </a:r>
          </a:p>
        </p:txBody>
      </p:sp>
      <p:sp>
        <p:nvSpPr>
          <p:cNvPr id="872" name="Rectangle 27"/>
          <p:cNvSpPr/>
          <p:nvPr/>
        </p:nvSpPr>
        <p:spPr>
          <a:xfrm>
            <a:off x="502919" y="5434329"/>
            <a:ext cx="11183113" cy="12701"/>
          </a:xfrm>
          <a:prstGeom prst="rect">
            <a:avLst/>
          </a:pr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3" name="TextBox 29"/>
          <p:cNvSpPr txBox="1"/>
          <p:nvPr/>
        </p:nvSpPr>
        <p:spPr>
          <a:xfrm>
            <a:off x="502919" y="6455664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874" name="TextBox 30"/>
          <p:cNvSpPr txBox="1"/>
          <p:nvPr/>
        </p:nvSpPr>
        <p:spPr>
          <a:xfrm>
            <a:off x="9875519" y="645566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N3b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77" name="TextBox 2"/>
          <p:cNvSpPr txBox="1"/>
          <p:nvPr/>
        </p:nvSpPr>
        <p:spPr>
          <a:xfrm>
            <a:off x="502919" y="310895"/>
            <a:ext cx="111556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PILOT SCOPE</a:t>
            </a:r>
          </a:p>
        </p:txBody>
      </p:sp>
      <p:sp>
        <p:nvSpPr>
          <p:cNvPr id="878" name="TextBox 3"/>
          <p:cNvSpPr txBox="1"/>
          <p:nvPr/>
        </p:nvSpPr>
        <p:spPr>
          <a:xfrm>
            <a:off x="502919" y="566927"/>
            <a:ext cx="1115568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0A275C"/>
                </a:solidFill>
              </a:defRPr>
            </a:lvl1pPr>
          </a:lstStyle>
          <a:p>
            <a:pPr/>
            <a:r>
              <a:t>Use cases, data, duration and deliverables</a:t>
            </a:r>
          </a:p>
        </p:txBody>
      </p:sp>
      <p:sp>
        <p:nvSpPr>
          <p:cNvPr id="879" name="Rounded Rectangle 4"/>
          <p:cNvSpPr/>
          <p:nvPr/>
        </p:nvSpPr>
        <p:spPr>
          <a:xfrm>
            <a:off x="502919" y="1417319"/>
            <a:ext cx="5532122" cy="352044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0" name="Rounded Rectangle 5"/>
          <p:cNvSpPr/>
          <p:nvPr/>
        </p:nvSpPr>
        <p:spPr>
          <a:xfrm>
            <a:off x="502919" y="1417319"/>
            <a:ext cx="5532122" cy="566929"/>
          </a:xfrm>
          <a:prstGeom prst="roundRect">
            <a:avLst>
              <a:gd name="adj" fmla="val 10000"/>
            </a:avLst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Rectangle 6"/>
          <p:cNvSpPr/>
          <p:nvPr/>
        </p:nvSpPr>
        <p:spPr>
          <a:xfrm>
            <a:off x="502919" y="1700783"/>
            <a:ext cx="5532122" cy="283465"/>
          </a:xfrm>
          <a:prstGeom prst="rect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884" name="Rounded Rectangle 7"/>
          <p:cNvGrpSpPr/>
          <p:nvPr/>
        </p:nvGrpSpPr>
        <p:grpSpPr>
          <a:xfrm>
            <a:off x="704087" y="1591055"/>
            <a:ext cx="1371601" cy="219457"/>
            <a:chOff x="0" y="0"/>
            <a:chExt cx="1371600" cy="219456"/>
          </a:xfrm>
        </p:grpSpPr>
        <p:sp>
          <p:nvSpPr>
            <p:cNvPr id="882" name="Rounded Rectangle"/>
            <p:cNvSpPr/>
            <p:nvPr/>
          </p:nvSpPr>
          <p:spPr>
            <a:xfrm>
              <a:off x="0" y="0"/>
              <a:ext cx="1371600" cy="219457"/>
            </a:xfrm>
            <a:prstGeom prst="roundRect">
              <a:avLst>
                <a:gd name="adj" fmla="val 30000"/>
              </a:avLst>
            </a:prstGeom>
            <a:solidFill>
              <a:srgbClr val="8FB0F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83" name="OPTION 1"/>
            <p:cNvSpPr txBox="1"/>
            <p:nvPr/>
          </p:nvSpPr>
          <p:spPr>
            <a:xfrm>
              <a:off x="474464" y="46228"/>
              <a:ext cx="42267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800">
                  <a:solidFill>
                    <a:srgbClr val="0A275C"/>
                  </a:solidFill>
                </a:defRPr>
              </a:lvl1pPr>
            </a:lstStyle>
            <a:p>
              <a:pPr/>
              <a:r>
                <a:t>OPTION 1</a:t>
              </a:r>
            </a:p>
          </p:txBody>
        </p:sp>
      </p:grpSp>
      <p:sp>
        <p:nvSpPr>
          <p:cNvPr id="885" name="TextBox 8"/>
          <p:cNvSpPr txBox="1"/>
          <p:nvPr/>
        </p:nvSpPr>
        <p:spPr>
          <a:xfrm>
            <a:off x="2194559" y="1622351"/>
            <a:ext cx="37033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Offline PoC — on historical data</a:t>
            </a:r>
          </a:p>
        </p:txBody>
      </p:sp>
      <p:sp>
        <p:nvSpPr>
          <p:cNvPr id="886" name="TextBox 9"/>
          <p:cNvSpPr txBox="1"/>
          <p:nvPr/>
        </p:nvSpPr>
        <p:spPr>
          <a:xfrm>
            <a:off x="758951" y="2194560"/>
            <a:ext cx="50200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265FF"/>
                </a:solidFill>
              </a:defRPr>
            </a:lvl1pPr>
          </a:lstStyle>
          <a:p>
            <a:pPr/>
            <a:r>
              <a:t>USE CASES</a:t>
            </a:r>
          </a:p>
        </p:txBody>
      </p:sp>
      <p:sp>
        <p:nvSpPr>
          <p:cNvPr id="887" name="TextBox 10"/>
          <p:cNvSpPr txBox="1"/>
          <p:nvPr/>
        </p:nvSpPr>
        <p:spPr>
          <a:xfrm>
            <a:off x="914399" y="2450592"/>
            <a:ext cx="48463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FB0F5"/>
                </a:solidFill>
              </a:defRPr>
            </a:pPr>
            <a:r>
              <a:t>•  </a:t>
            </a:r>
            <a:r>
              <a:rPr b="0">
                <a:solidFill>
                  <a:srgbClr val="0A275C"/>
                </a:solidFill>
              </a:rPr>
              <a:t>STB/set-top box degradation (pixelation, dropouts)</a:t>
            </a:r>
          </a:p>
        </p:txBody>
      </p:sp>
      <p:sp>
        <p:nvSpPr>
          <p:cNvPr id="888" name="TextBox 11"/>
          <p:cNvSpPr txBox="1"/>
          <p:nvPr/>
        </p:nvSpPr>
        <p:spPr>
          <a:xfrm>
            <a:off x="914399" y="2702051"/>
            <a:ext cx="4846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FB0F5"/>
                </a:solidFill>
              </a:defRPr>
            </a:pPr>
            <a:r>
              <a:t>•  </a:t>
            </a:r>
            <a:r>
              <a:rPr b="0">
                <a:solidFill>
                  <a:srgbClr val="0A275C"/>
                </a:solidFill>
              </a:rPr>
              <a:t>Optional: fixed broadband degradation</a:t>
            </a:r>
          </a:p>
        </p:txBody>
      </p:sp>
      <p:sp>
        <p:nvSpPr>
          <p:cNvPr id="889" name="TextBox 12"/>
          <p:cNvSpPr txBox="1"/>
          <p:nvPr/>
        </p:nvSpPr>
        <p:spPr>
          <a:xfrm>
            <a:off x="758951" y="3026664"/>
            <a:ext cx="50200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265FF"/>
                </a:solidFill>
              </a:defRPr>
            </a:lvl1pPr>
          </a:lstStyle>
          <a:p>
            <a:pPr/>
            <a:r>
              <a:t>DATA REQUIRED</a:t>
            </a:r>
          </a:p>
        </p:txBody>
      </p:sp>
      <p:sp>
        <p:nvSpPr>
          <p:cNvPr id="890" name="TextBox 13"/>
          <p:cNvSpPr txBox="1"/>
          <p:nvPr/>
        </p:nvSpPr>
        <p:spPr>
          <a:xfrm>
            <a:off x="914399" y="3139493"/>
            <a:ext cx="4846322" cy="652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FB0F5"/>
                </a:solidFill>
              </a:defRPr>
            </a:pPr>
            <a:endParaRPr b="0">
              <a:solidFill>
                <a:srgbClr val="0A275C"/>
              </a:solidFill>
            </a:endParaRPr>
          </a:p>
          <a:p>
            <a:pPr marL="100263" indent="-100263">
              <a:buSzPct val="100000"/>
              <a:buChar char="•"/>
              <a:defRPr sz="1000"/>
            </a:pPr>
            <a:r>
              <a:t>Per-entity telemetry sampled at intervals — quality KPIs + event rates</a:t>
            </a:r>
          </a:p>
          <a:p>
            <a:pPr marL="100263" indent="-100263">
              <a:buSzPct val="100000"/>
              <a:buChar char="•"/>
              <a:defRPr sz="1000"/>
            </a:pPr>
            <a:r>
              <a:t>Topology / path identity + entity &amp; time keys · ≈1 month · anonymized</a:t>
            </a:r>
            <a:endParaRPr>
              <a:solidFill>
                <a:srgbClr val="0A275C"/>
              </a:solidFill>
            </a:endParaRPr>
          </a:p>
        </p:txBody>
      </p:sp>
      <p:sp>
        <p:nvSpPr>
          <p:cNvPr id="891" name="TextBox 14"/>
          <p:cNvSpPr txBox="1"/>
          <p:nvPr/>
        </p:nvSpPr>
        <p:spPr>
          <a:xfrm>
            <a:off x="845819" y="4658404"/>
            <a:ext cx="4846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FB0F5"/>
                </a:solidFill>
              </a:defRPr>
            </a:pPr>
            <a:r>
              <a:t>•  </a:t>
            </a:r>
            <a:r>
              <a:rPr b="0">
                <a:solidFill>
                  <a:srgbClr val="0A275C"/>
                </a:solidFill>
              </a:rPr>
              <a:t>≈ 1 month of history · anonymized</a:t>
            </a:r>
          </a:p>
        </p:txBody>
      </p:sp>
      <p:sp>
        <p:nvSpPr>
          <p:cNvPr id="892" name="TextBox 15"/>
          <p:cNvSpPr txBox="1"/>
          <p:nvPr/>
        </p:nvSpPr>
        <p:spPr>
          <a:xfrm>
            <a:off x="758951" y="3858767"/>
            <a:ext cx="50200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265FF"/>
                </a:solidFill>
              </a:defRPr>
            </a:lvl1pPr>
          </a:lstStyle>
          <a:p>
            <a:pPr/>
            <a:r>
              <a:t>DURATION</a:t>
            </a:r>
          </a:p>
        </p:txBody>
      </p:sp>
      <p:sp>
        <p:nvSpPr>
          <p:cNvPr id="893" name="TextBox 16"/>
          <p:cNvSpPr txBox="1"/>
          <p:nvPr/>
        </p:nvSpPr>
        <p:spPr>
          <a:xfrm>
            <a:off x="914399" y="4114799"/>
            <a:ext cx="4846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FB0F5"/>
                </a:solidFill>
              </a:defRPr>
            </a:pPr>
            <a:r>
              <a:t>•  </a:t>
            </a:r>
            <a:r>
              <a:rPr b="0">
                <a:solidFill>
                  <a:srgbClr val="0A275C"/>
                </a:solidFill>
              </a:rPr>
              <a:t>4–8 weeks from data receipt  (indicative)</a:t>
            </a:r>
          </a:p>
        </p:txBody>
      </p:sp>
      <p:sp>
        <p:nvSpPr>
          <p:cNvPr id="894" name="Rounded Rectangle 17"/>
          <p:cNvSpPr/>
          <p:nvPr/>
        </p:nvSpPr>
        <p:spPr>
          <a:xfrm>
            <a:off x="6355079" y="1417319"/>
            <a:ext cx="5330954" cy="352044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5" name="Rounded Rectangle 18"/>
          <p:cNvSpPr/>
          <p:nvPr/>
        </p:nvSpPr>
        <p:spPr>
          <a:xfrm>
            <a:off x="6355079" y="1417319"/>
            <a:ext cx="5330954" cy="566929"/>
          </a:xfrm>
          <a:prstGeom prst="roundRect">
            <a:avLst>
              <a:gd name="adj" fmla="val 10000"/>
            </a:avLst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6" name="Rectangle 19"/>
          <p:cNvSpPr/>
          <p:nvPr/>
        </p:nvSpPr>
        <p:spPr>
          <a:xfrm>
            <a:off x="6355079" y="1700783"/>
            <a:ext cx="5330953" cy="283465"/>
          </a:xfrm>
          <a:prstGeom prst="rect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899" name="Rounded Rectangle 20"/>
          <p:cNvGrpSpPr/>
          <p:nvPr/>
        </p:nvGrpSpPr>
        <p:grpSpPr>
          <a:xfrm>
            <a:off x="6556247" y="1591055"/>
            <a:ext cx="1371601" cy="219457"/>
            <a:chOff x="0" y="0"/>
            <a:chExt cx="1371600" cy="219456"/>
          </a:xfrm>
        </p:grpSpPr>
        <p:sp>
          <p:nvSpPr>
            <p:cNvPr id="897" name="Rounded Rectangle"/>
            <p:cNvSpPr/>
            <p:nvPr/>
          </p:nvSpPr>
          <p:spPr>
            <a:xfrm>
              <a:off x="0" y="0"/>
              <a:ext cx="1371600" cy="219457"/>
            </a:xfrm>
            <a:prstGeom prst="roundRect">
              <a:avLst>
                <a:gd name="adj" fmla="val 30000"/>
              </a:avLst>
            </a:prstGeom>
            <a:solidFill>
              <a:srgbClr val="8FB0F5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98" name="OPTION 2"/>
            <p:cNvSpPr txBox="1"/>
            <p:nvPr/>
          </p:nvSpPr>
          <p:spPr>
            <a:xfrm>
              <a:off x="474464" y="46228"/>
              <a:ext cx="42267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800">
                  <a:solidFill>
                    <a:srgbClr val="0A275C"/>
                  </a:solidFill>
                </a:defRPr>
              </a:lvl1pPr>
            </a:lstStyle>
            <a:p>
              <a:pPr/>
              <a:r>
                <a:t>OPTION 2</a:t>
              </a:r>
            </a:p>
          </p:txBody>
        </p:sp>
      </p:grpSp>
      <p:sp>
        <p:nvSpPr>
          <p:cNvPr id="900" name="TextBox 21"/>
          <p:cNvSpPr txBox="1"/>
          <p:nvPr/>
        </p:nvSpPr>
        <p:spPr>
          <a:xfrm>
            <a:off x="8046719" y="1622351"/>
            <a:ext cx="350215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Integrated pilot — on-prem</a:t>
            </a:r>
          </a:p>
        </p:txBody>
      </p:sp>
      <p:sp>
        <p:nvSpPr>
          <p:cNvPr id="901" name="TextBox 22"/>
          <p:cNvSpPr txBox="1"/>
          <p:nvPr/>
        </p:nvSpPr>
        <p:spPr>
          <a:xfrm>
            <a:off x="6611111" y="2194560"/>
            <a:ext cx="48188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265FF"/>
                </a:solidFill>
              </a:defRPr>
            </a:lvl1pPr>
          </a:lstStyle>
          <a:p>
            <a:pPr/>
            <a:r>
              <a:t>USE CASES</a:t>
            </a:r>
          </a:p>
        </p:txBody>
      </p:sp>
      <p:sp>
        <p:nvSpPr>
          <p:cNvPr id="902" name="TextBox 23"/>
          <p:cNvSpPr txBox="1"/>
          <p:nvPr/>
        </p:nvSpPr>
        <p:spPr>
          <a:xfrm>
            <a:off x="6766559" y="2450592"/>
            <a:ext cx="464515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FB0F5"/>
                </a:solidFill>
              </a:defRPr>
            </a:pPr>
            <a:r>
              <a:t>•  </a:t>
            </a:r>
            <a:r>
              <a:rPr b="0">
                <a:solidFill>
                  <a:srgbClr val="0A275C"/>
                </a:solidFill>
              </a:rPr>
              <a:t>The same, on (near) real-time telemetry</a:t>
            </a:r>
          </a:p>
        </p:txBody>
      </p:sp>
      <p:sp>
        <p:nvSpPr>
          <p:cNvPr id="903" name="TextBox 24"/>
          <p:cNvSpPr txBox="1"/>
          <p:nvPr/>
        </p:nvSpPr>
        <p:spPr>
          <a:xfrm>
            <a:off x="6766559" y="2702051"/>
            <a:ext cx="464515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FB0F5"/>
                </a:solidFill>
              </a:defRPr>
            </a:pPr>
            <a:r>
              <a:t>•  </a:t>
            </a:r>
            <a:r>
              <a:rPr b="0">
                <a:solidFill>
                  <a:srgbClr val="0A275C"/>
                </a:solidFill>
              </a:rPr>
              <a:t>Basis to scale to more use cases</a:t>
            </a:r>
          </a:p>
        </p:txBody>
      </p:sp>
      <p:sp>
        <p:nvSpPr>
          <p:cNvPr id="904" name="TextBox 25"/>
          <p:cNvSpPr txBox="1"/>
          <p:nvPr/>
        </p:nvSpPr>
        <p:spPr>
          <a:xfrm>
            <a:off x="6611111" y="3026664"/>
            <a:ext cx="48188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265FF"/>
                </a:solidFill>
              </a:defRPr>
            </a:lvl1pPr>
          </a:lstStyle>
          <a:p>
            <a:pPr/>
            <a:r>
              <a:t>DATA REQUIRED</a:t>
            </a:r>
          </a:p>
        </p:txBody>
      </p:sp>
      <p:sp>
        <p:nvSpPr>
          <p:cNvPr id="905" name="TextBox 26"/>
          <p:cNvSpPr txBox="1"/>
          <p:nvPr/>
        </p:nvSpPr>
        <p:spPr>
          <a:xfrm>
            <a:off x="6766559" y="3282696"/>
            <a:ext cx="464515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FB0F5"/>
                </a:solidFill>
              </a:defRPr>
            </a:pPr>
            <a:r>
              <a:t>•  </a:t>
            </a:r>
            <a:r>
              <a:rPr b="0">
                <a:solidFill>
                  <a:srgbClr val="0A275C"/>
                </a:solidFill>
              </a:rPr>
              <a:t>Continuous telemetry per layer (STB→access→core→CDN)</a:t>
            </a:r>
          </a:p>
        </p:txBody>
      </p:sp>
      <p:sp>
        <p:nvSpPr>
          <p:cNvPr id="906" name="TextBox 27"/>
          <p:cNvSpPr txBox="1"/>
          <p:nvPr/>
        </p:nvSpPr>
        <p:spPr>
          <a:xfrm>
            <a:off x="6766559" y="3534155"/>
            <a:ext cx="464515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FB0F5"/>
                </a:solidFill>
              </a:defRPr>
            </a:pPr>
            <a:r>
              <a:t>•  </a:t>
            </a:r>
            <a:r>
              <a:rPr b="0">
                <a:solidFill>
                  <a:srgbClr val="0A275C"/>
                </a:solidFill>
              </a:rPr>
              <a:t>Deployment inside Telefónica</a:t>
            </a:r>
          </a:p>
        </p:txBody>
      </p:sp>
      <p:sp>
        <p:nvSpPr>
          <p:cNvPr id="907" name="TextBox 28"/>
          <p:cNvSpPr txBox="1"/>
          <p:nvPr/>
        </p:nvSpPr>
        <p:spPr>
          <a:xfrm>
            <a:off x="6611111" y="3858767"/>
            <a:ext cx="48188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265FF"/>
                </a:solidFill>
              </a:defRPr>
            </a:lvl1pPr>
          </a:lstStyle>
          <a:p>
            <a:pPr/>
            <a:r>
              <a:t>DURATION</a:t>
            </a:r>
          </a:p>
        </p:txBody>
      </p:sp>
      <p:sp>
        <p:nvSpPr>
          <p:cNvPr id="908" name="TextBox 29"/>
          <p:cNvSpPr txBox="1"/>
          <p:nvPr/>
        </p:nvSpPr>
        <p:spPr>
          <a:xfrm>
            <a:off x="6766559" y="4114799"/>
            <a:ext cx="464515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000">
                <a:solidFill>
                  <a:srgbClr val="8FB0F5"/>
                </a:solidFill>
              </a:defRPr>
            </a:pPr>
            <a:r>
              <a:t>•  </a:t>
            </a:r>
            <a:r>
              <a:rPr b="0">
                <a:solidFill>
                  <a:srgbClr val="0A275C"/>
                </a:solidFill>
              </a:rPr>
              <a:t>Pilot + integration window  (indicative)</a:t>
            </a:r>
          </a:p>
        </p:txBody>
      </p:sp>
      <p:sp>
        <p:nvSpPr>
          <p:cNvPr id="909" name="Rounded Rectangle 30"/>
          <p:cNvSpPr/>
          <p:nvPr/>
        </p:nvSpPr>
        <p:spPr>
          <a:xfrm>
            <a:off x="502919" y="5120640"/>
            <a:ext cx="11183113" cy="914401"/>
          </a:xfrm>
          <a:prstGeom prst="roundRect">
            <a:avLst>
              <a:gd name="adj" fmla="val 10000"/>
            </a:avLst>
          </a:prstGeom>
          <a:solidFill>
            <a:srgbClr val="D2E0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0" name="TextBox 31"/>
          <p:cNvSpPr txBox="1"/>
          <p:nvPr/>
        </p:nvSpPr>
        <p:spPr>
          <a:xfrm>
            <a:off x="731519" y="5212079"/>
            <a:ext cx="10972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265FF"/>
                </a:solidFill>
              </a:defRPr>
            </a:lvl1pPr>
          </a:lstStyle>
          <a:p>
            <a:pPr/>
            <a:r>
              <a:t>DELIVERABLES (BOTH OPTIONS)</a:t>
            </a:r>
          </a:p>
        </p:txBody>
      </p:sp>
      <p:sp>
        <p:nvSpPr>
          <p:cNvPr id="911" name="TextBox 32"/>
          <p:cNvSpPr txBox="1"/>
          <p:nvPr/>
        </p:nvSpPr>
        <p:spPr>
          <a:xfrm>
            <a:off x="731519" y="5468111"/>
            <a:ext cx="10972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Degradation-prediction accuracy report   ·   lista de recomendaciones operativas   ·   proposal for the next phase (production / real-time integration)</a:t>
            </a:r>
          </a:p>
        </p:txBody>
      </p:sp>
      <p:sp>
        <p:nvSpPr>
          <p:cNvPr id="912" name="TextBox 33"/>
          <p:cNvSpPr txBox="1"/>
          <p:nvPr/>
        </p:nvSpPr>
        <p:spPr>
          <a:xfrm>
            <a:off x="502919" y="6455664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913" name="TextBox 34"/>
          <p:cNvSpPr txBox="1"/>
          <p:nvPr/>
        </p:nvSpPr>
        <p:spPr>
          <a:xfrm>
            <a:off x="9875519" y="645566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N4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2F6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6" name="TextBox 2"/>
          <p:cNvSpPr txBox="1"/>
          <p:nvPr/>
        </p:nvSpPr>
        <p:spPr>
          <a:xfrm>
            <a:off x="502919" y="310895"/>
            <a:ext cx="111556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SUCCESS &amp; ENGAGEMENT MODEL</a:t>
            </a:r>
          </a:p>
        </p:txBody>
      </p:sp>
      <p:sp>
        <p:nvSpPr>
          <p:cNvPr id="917" name="TextBox 3"/>
          <p:cNvSpPr txBox="1"/>
          <p:nvPr/>
        </p:nvSpPr>
        <p:spPr>
          <a:xfrm>
            <a:off x="502919" y="566927"/>
            <a:ext cx="1115568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0A275C"/>
                </a:solidFill>
              </a:defRPr>
            </a:lvl1pPr>
          </a:lstStyle>
          <a:p>
            <a:pPr/>
            <a:r>
              <a:t>What we consider a successful pilot — and the cost</a:t>
            </a:r>
          </a:p>
        </p:txBody>
      </p:sp>
      <p:sp>
        <p:nvSpPr>
          <p:cNvPr id="918" name="Rounded Rectangle 4"/>
          <p:cNvSpPr/>
          <p:nvPr/>
        </p:nvSpPr>
        <p:spPr>
          <a:xfrm>
            <a:off x="502919" y="1417319"/>
            <a:ext cx="5532122" cy="278892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TextBox 5"/>
          <p:cNvSpPr txBox="1"/>
          <p:nvPr/>
        </p:nvSpPr>
        <p:spPr>
          <a:xfrm>
            <a:off x="777240" y="1572767"/>
            <a:ext cx="502920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WHAT COUNTS AS A SUCCESSFUL OUTCOME?</a:t>
            </a:r>
          </a:p>
        </p:txBody>
      </p:sp>
      <p:grpSp>
        <p:nvGrpSpPr>
          <p:cNvPr id="922" name="Oval 6"/>
          <p:cNvGrpSpPr/>
          <p:nvPr/>
        </p:nvGrpSpPr>
        <p:grpSpPr>
          <a:xfrm>
            <a:off x="813816" y="2084832"/>
            <a:ext cx="201169" cy="201169"/>
            <a:chOff x="0" y="0"/>
            <a:chExt cx="201168" cy="201168"/>
          </a:xfrm>
        </p:grpSpPr>
        <p:sp>
          <p:nvSpPr>
            <p:cNvPr id="920" name="Circle"/>
            <p:cNvSpPr/>
            <p:nvPr/>
          </p:nvSpPr>
          <p:spPr>
            <a:xfrm>
              <a:off x="-1" y="-1"/>
              <a:ext cx="201170" cy="201170"/>
            </a:xfrm>
            <a:prstGeom prst="ellipse">
              <a:avLst/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21" name="✓"/>
            <p:cNvSpPr txBox="1"/>
            <p:nvPr/>
          </p:nvSpPr>
          <p:spPr>
            <a:xfrm>
              <a:off x="29459" y="5333"/>
              <a:ext cx="142250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✓</a:t>
              </a:r>
            </a:p>
          </p:txBody>
        </p:sp>
      </p:grpSp>
      <p:sp>
        <p:nvSpPr>
          <p:cNvPr id="923" name="TextBox 7"/>
          <p:cNvSpPr txBox="1"/>
          <p:nvPr/>
        </p:nvSpPr>
        <p:spPr>
          <a:xfrm>
            <a:off x="1143000" y="2121452"/>
            <a:ext cx="470916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30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STB degradation prediction with demonstrable accuracy over the month of data.</a:t>
            </a:r>
          </a:p>
        </p:txBody>
      </p:sp>
      <p:grpSp>
        <p:nvGrpSpPr>
          <p:cNvPr id="926" name="Oval 8"/>
          <p:cNvGrpSpPr/>
          <p:nvPr/>
        </p:nvGrpSpPr>
        <p:grpSpPr>
          <a:xfrm>
            <a:off x="813816" y="2651760"/>
            <a:ext cx="201169" cy="201169"/>
            <a:chOff x="0" y="0"/>
            <a:chExt cx="201168" cy="201168"/>
          </a:xfrm>
        </p:grpSpPr>
        <p:sp>
          <p:nvSpPr>
            <p:cNvPr id="924" name="Circle"/>
            <p:cNvSpPr/>
            <p:nvPr/>
          </p:nvSpPr>
          <p:spPr>
            <a:xfrm>
              <a:off x="-1" y="-1"/>
              <a:ext cx="201170" cy="201170"/>
            </a:xfrm>
            <a:prstGeom prst="ellipse">
              <a:avLst/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25" name="✓"/>
            <p:cNvSpPr txBox="1"/>
            <p:nvPr/>
          </p:nvSpPr>
          <p:spPr>
            <a:xfrm>
              <a:off x="29459" y="5333"/>
              <a:ext cx="142250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✓</a:t>
              </a:r>
            </a:p>
          </p:txBody>
        </p:sp>
      </p:grpSp>
      <p:sp>
        <p:nvSpPr>
          <p:cNvPr id="927" name="TextBox 9"/>
          <p:cNvSpPr txBox="1"/>
          <p:nvPr/>
        </p:nvSpPr>
        <p:spPr>
          <a:xfrm>
            <a:off x="1143000" y="2688380"/>
            <a:ext cx="470916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30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Useful lead time: flag the problem before the customer complains.</a:t>
            </a:r>
          </a:p>
        </p:txBody>
      </p:sp>
      <p:grpSp>
        <p:nvGrpSpPr>
          <p:cNvPr id="930" name="Oval 10"/>
          <p:cNvGrpSpPr/>
          <p:nvPr/>
        </p:nvGrpSpPr>
        <p:grpSpPr>
          <a:xfrm>
            <a:off x="813816" y="3218688"/>
            <a:ext cx="201169" cy="201169"/>
            <a:chOff x="0" y="0"/>
            <a:chExt cx="201168" cy="201168"/>
          </a:xfrm>
        </p:grpSpPr>
        <p:sp>
          <p:nvSpPr>
            <p:cNvPr id="928" name="Circle"/>
            <p:cNvSpPr/>
            <p:nvPr/>
          </p:nvSpPr>
          <p:spPr>
            <a:xfrm>
              <a:off x="-1" y="-1"/>
              <a:ext cx="201170" cy="201170"/>
            </a:xfrm>
            <a:prstGeom prst="ellipse">
              <a:avLst/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29" name="✓"/>
            <p:cNvSpPr txBox="1"/>
            <p:nvPr/>
          </p:nvSpPr>
          <p:spPr>
            <a:xfrm>
              <a:off x="29459" y="5333"/>
              <a:ext cx="142250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✓</a:t>
              </a:r>
            </a:p>
          </p:txBody>
        </p:sp>
      </p:grpSp>
      <p:sp>
        <p:nvSpPr>
          <p:cNvPr id="931" name="TextBox 11"/>
          <p:cNvSpPr txBox="1"/>
          <p:nvPr/>
        </p:nvSpPr>
        <p:spPr>
          <a:xfrm>
            <a:off x="1143000" y="3255308"/>
            <a:ext cx="470916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30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Fault localization to its true layer (home / access / core / content).</a:t>
            </a:r>
          </a:p>
        </p:txBody>
      </p:sp>
      <p:grpSp>
        <p:nvGrpSpPr>
          <p:cNvPr id="934" name="Oval 12"/>
          <p:cNvGrpSpPr/>
          <p:nvPr/>
        </p:nvGrpSpPr>
        <p:grpSpPr>
          <a:xfrm>
            <a:off x="813816" y="3785615"/>
            <a:ext cx="201169" cy="201169"/>
            <a:chOff x="0" y="0"/>
            <a:chExt cx="201168" cy="201168"/>
          </a:xfrm>
        </p:grpSpPr>
        <p:sp>
          <p:nvSpPr>
            <p:cNvPr id="932" name="Circle"/>
            <p:cNvSpPr/>
            <p:nvPr/>
          </p:nvSpPr>
          <p:spPr>
            <a:xfrm>
              <a:off x="-1" y="-1"/>
              <a:ext cx="201170" cy="201170"/>
            </a:xfrm>
            <a:prstGeom prst="ellipse">
              <a:avLst/>
            </a:prstGeom>
            <a:solidFill>
              <a:srgbClr val="1E9E6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33" name="✓"/>
            <p:cNvSpPr txBox="1"/>
            <p:nvPr/>
          </p:nvSpPr>
          <p:spPr>
            <a:xfrm>
              <a:off x="29459" y="5333"/>
              <a:ext cx="142250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✓</a:t>
              </a:r>
            </a:p>
          </p:txBody>
        </p:sp>
      </p:grpSp>
      <p:sp>
        <p:nvSpPr>
          <p:cNvPr id="935" name="TextBox 13"/>
          <p:cNvSpPr txBox="1"/>
          <p:nvPr/>
        </p:nvSpPr>
        <p:spPr>
          <a:xfrm>
            <a:off x="1143000" y="3822236"/>
            <a:ext cx="470916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3000"/>
              </a:lnSpc>
              <a:defRPr sz="1000">
                <a:solidFill>
                  <a:srgbClr val="0A275C"/>
                </a:solidFill>
              </a:defRPr>
            </a:lvl1pPr>
          </a:lstStyle>
          <a:p>
            <a:pPr/>
            <a:r>
              <a:t>Actionable operational recommendations, validated with the Telefónica team.</a:t>
            </a:r>
          </a:p>
        </p:txBody>
      </p:sp>
      <p:sp>
        <p:nvSpPr>
          <p:cNvPr id="936" name="Rounded Rectangle 14"/>
          <p:cNvSpPr/>
          <p:nvPr/>
        </p:nvSpPr>
        <p:spPr>
          <a:xfrm>
            <a:off x="6355079" y="1417319"/>
            <a:ext cx="5330954" cy="278892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7" name="TextBox 15"/>
          <p:cNvSpPr txBox="1"/>
          <p:nvPr/>
        </p:nvSpPr>
        <p:spPr>
          <a:xfrm>
            <a:off x="6629399" y="1572767"/>
            <a:ext cx="484632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265FF"/>
                </a:solidFill>
              </a:defRPr>
            </a:lvl1pPr>
          </a:lstStyle>
          <a:p>
            <a:pPr/>
            <a:r>
              <a:t>ENGAGEMENT MODEL &amp; COST</a:t>
            </a:r>
          </a:p>
        </p:txBody>
      </p:sp>
      <p:sp>
        <p:nvSpPr>
          <p:cNvPr id="938" name="Rounded Rectangle 16"/>
          <p:cNvSpPr/>
          <p:nvPr/>
        </p:nvSpPr>
        <p:spPr>
          <a:xfrm>
            <a:off x="6629400" y="1938527"/>
            <a:ext cx="4800600" cy="960121"/>
          </a:xfrm>
          <a:prstGeom prst="roundRect">
            <a:avLst>
              <a:gd name="adj" fmla="val 10000"/>
            </a:avLst>
          </a:prstGeom>
          <a:solidFill>
            <a:srgbClr val="EAF1F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TextBox 17"/>
          <p:cNvSpPr txBox="1"/>
          <p:nvPr/>
        </p:nvSpPr>
        <p:spPr>
          <a:xfrm>
            <a:off x="6812280" y="2011679"/>
            <a:ext cx="4480561" cy="140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0A275C"/>
                </a:solidFill>
              </a:defRPr>
            </a:pPr>
            <a:r>
              <a:t>Opción 1 · PoC offline   </a:t>
            </a:r>
            <a:r>
              <a:rPr sz="1000">
                <a:solidFill>
                  <a:srgbClr val="1E9E6A"/>
                </a:solidFill>
              </a:rPr>
              <a:t>no licence cost</a:t>
            </a:r>
          </a:p>
        </p:txBody>
      </p:sp>
      <p:sp>
        <p:nvSpPr>
          <p:cNvPr id="940" name="TextBox 18"/>
          <p:cNvSpPr txBox="1"/>
          <p:nvPr/>
        </p:nvSpPr>
        <p:spPr>
          <a:xfrm>
            <a:off x="6812280" y="2286000"/>
            <a:ext cx="4480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900">
                <a:solidFill>
                  <a:srgbClr val="5B6B86"/>
                </a:solidFill>
              </a:defRPr>
            </a:lvl1pPr>
          </a:lstStyle>
          <a:p>
            <a:pPr/>
            <a:r>
              <a:t>Effort focused on analysis and reporting. Goal: prove value fast and build confidence.</a:t>
            </a:r>
          </a:p>
        </p:txBody>
      </p:sp>
      <p:sp>
        <p:nvSpPr>
          <p:cNvPr id="941" name="Rounded Rectangle 19"/>
          <p:cNvSpPr/>
          <p:nvPr/>
        </p:nvSpPr>
        <p:spPr>
          <a:xfrm>
            <a:off x="6629400" y="2999232"/>
            <a:ext cx="4800600" cy="1097281"/>
          </a:xfrm>
          <a:prstGeom prst="roundRect">
            <a:avLst>
              <a:gd name="adj" fmla="val 10000"/>
            </a:avLst>
          </a:prstGeom>
          <a:solidFill>
            <a:srgbClr val="D2E0FB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2" name="TextBox 20"/>
          <p:cNvSpPr txBox="1"/>
          <p:nvPr/>
        </p:nvSpPr>
        <p:spPr>
          <a:xfrm>
            <a:off x="6812280" y="3072383"/>
            <a:ext cx="448056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0A275C"/>
                </a:solidFill>
              </a:defRPr>
            </a:lvl1pPr>
          </a:lstStyle>
          <a:p>
            <a:pPr/>
            <a:r>
              <a:t>Option 2 · Integrated pilot / on-prem</a:t>
            </a:r>
          </a:p>
        </p:txBody>
      </p:sp>
      <p:sp>
        <p:nvSpPr>
          <p:cNvPr id="943" name="TextBox 21"/>
          <p:cNvSpPr txBox="1"/>
          <p:nvPr/>
        </p:nvSpPr>
        <p:spPr>
          <a:xfrm>
            <a:off x="6812280" y="3346703"/>
            <a:ext cx="448056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900">
                <a:solidFill>
                  <a:srgbClr val="5B6B86"/>
                </a:solidFill>
              </a:defRPr>
            </a:pPr>
            <a:r>
              <a:t>Deployment &amp; integration: </a:t>
            </a:r>
            <a:r>
              <a:rPr b="1" sz="1000">
                <a:solidFill>
                  <a:srgbClr val="0A275C"/>
                </a:solidFill>
              </a:rPr>
              <a:t>≈12–13 k€</a:t>
            </a:r>
            <a:r>
              <a:t> (order of magnitude. Potential  de scale a </a:t>
            </a:r>
            <a:r>
              <a:rPr b="1" sz="1000">
                <a:solidFill>
                  <a:srgbClr val="0A275C"/>
                </a:solidFill>
              </a:rPr>
              <a:t>up to 200 k€/year</a:t>
            </a:r>
            <a:r>
              <a:t> with more use cases. Data stays inside Telefónica.</a:t>
            </a:r>
          </a:p>
        </p:txBody>
      </p:sp>
      <p:sp>
        <p:nvSpPr>
          <p:cNvPr id="944" name="TextBox 22"/>
          <p:cNvSpPr txBox="1"/>
          <p:nvPr/>
        </p:nvSpPr>
        <p:spPr>
          <a:xfrm>
            <a:off x="502919" y="4343399"/>
            <a:ext cx="10972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5B6B86"/>
                </a:solidFill>
              </a:defRPr>
            </a:lvl1pPr>
          </a:lstStyle>
          <a:p>
            <a:pPr/>
            <a:r>
              <a:t>Indicative figures, to be confirmed once the final pilot scope is set.</a:t>
            </a:r>
          </a:p>
        </p:txBody>
      </p:sp>
      <p:sp>
        <p:nvSpPr>
          <p:cNvPr id="945" name="Rounded Rectangle 23"/>
          <p:cNvSpPr/>
          <p:nvPr/>
        </p:nvSpPr>
        <p:spPr>
          <a:xfrm>
            <a:off x="502919" y="4754879"/>
            <a:ext cx="11183113" cy="960121"/>
          </a:xfrm>
          <a:prstGeom prst="roundRect">
            <a:avLst>
              <a:gd name="adj" fmla="val 10000"/>
            </a:avLst>
          </a:prstGeom>
          <a:solidFill>
            <a:srgbClr val="1025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6" name="TextBox 24"/>
          <p:cNvSpPr txBox="1"/>
          <p:nvPr/>
        </p:nvSpPr>
        <p:spPr>
          <a:xfrm>
            <a:off x="822960" y="5156507"/>
            <a:ext cx="10515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8FB0F5"/>
                </a:solidFill>
              </a:defRPr>
            </a:pPr>
            <a:r>
              <a:t>Narrative:  </a:t>
            </a:r>
            <a:r>
              <a:rPr b="0">
                <a:solidFill>
                  <a:srgbClr val="FFFFFF"/>
                </a:solidFill>
              </a:rPr>
              <a:t>we're confident enough in the technology to start with a no-licence-cost PoC on existing data. If it proves value, we scale to the integrated pilot in production.</a:t>
            </a:r>
          </a:p>
        </p:txBody>
      </p:sp>
      <p:sp>
        <p:nvSpPr>
          <p:cNvPr id="947" name="TextBox 25"/>
          <p:cNvSpPr txBox="1"/>
          <p:nvPr/>
        </p:nvSpPr>
        <p:spPr>
          <a:xfrm>
            <a:off x="502919" y="6455664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948" name="TextBox 26"/>
          <p:cNvSpPr txBox="1"/>
          <p:nvPr/>
        </p:nvSpPr>
        <p:spPr>
          <a:xfrm>
            <a:off x="9875519" y="645566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5B6B86"/>
                </a:solidFill>
              </a:defRPr>
            </a:lvl1pPr>
          </a:lstStyle>
          <a:p>
            <a:pPr/>
            <a:r>
              <a:t>Future Space SA   ·   N5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A275C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1" name="TextBox 2"/>
          <p:cNvSpPr txBox="1"/>
          <p:nvPr/>
        </p:nvSpPr>
        <p:spPr>
          <a:xfrm>
            <a:off x="502919" y="310895"/>
            <a:ext cx="1115568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8FB0F5"/>
                </a:solidFill>
              </a:defRPr>
            </a:lvl1pPr>
          </a:lstStyle>
          <a:p>
            <a:pPr/>
            <a:r>
              <a:t>NEXT STEPS</a:t>
            </a:r>
          </a:p>
        </p:txBody>
      </p:sp>
      <p:sp>
        <p:nvSpPr>
          <p:cNvPr id="952" name="TextBox 3"/>
          <p:cNvSpPr txBox="1"/>
          <p:nvPr/>
        </p:nvSpPr>
        <p:spPr>
          <a:xfrm>
            <a:off x="502919" y="566927"/>
            <a:ext cx="11155682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From approval to deployment proposal</a:t>
            </a:r>
          </a:p>
        </p:txBody>
      </p:sp>
      <p:sp>
        <p:nvSpPr>
          <p:cNvPr id="953" name="TextBox 4"/>
          <p:cNvSpPr txBox="1"/>
          <p:nvPr/>
        </p:nvSpPr>
        <p:spPr>
          <a:xfrm>
            <a:off x="502919" y="1142999"/>
            <a:ext cx="1115568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200">
                <a:solidFill>
                  <a:srgbClr val="8FB0F5"/>
                </a:solidFill>
              </a:defRPr>
            </a:lvl1pPr>
          </a:lstStyle>
          <a:p>
            <a:pPr/>
            <a:r>
              <a:t>A clear, low-risk path, aligned with Telefónica's budget cycle.</a:t>
            </a:r>
          </a:p>
        </p:txBody>
      </p:sp>
      <p:sp>
        <p:nvSpPr>
          <p:cNvPr id="954" name="Rectangle 5"/>
          <p:cNvSpPr/>
          <p:nvPr/>
        </p:nvSpPr>
        <p:spPr>
          <a:xfrm>
            <a:off x="822959" y="2331720"/>
            <a:ext cx="10607042" cy="27941"/>
          </a:xfrm>
          <a:prstGeom prst="rect">
            <a:avLst/>
          </a:prstGeom>
          <a:solidFill>
            <a:srgbClr val="8FB0F5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957" name="Oval 6"/>
          <p:cNvGrpSpPr/>
          <p:nvPr/>
        </p:nvGrpSpPr>
        <p:grpSpPr>
          <a:xfrm>
            <a:off x="658367" y="2029967"/>
            <a:ext cx="603506" cy="603505"/>
            <a:chOff x="0" y="0"/>
            <a:chExt cx="603504" cy="603504"/>
          </a:xfrm>
        </p:grpSpPr>
        <p:sp>
          <p:nvSpPr>
            <p:cNvPr id="955" name="Circle"/>
            <p:cNvSpPr/>
            <p:nvPr/>
          </p:nvSpPr>
          <p:spPr>
            <a:xfrm>
              <a:off x="-1" y="-1"/>
              <a:ext cx="603506" cy="603506"/>
            </a:xfrm>
            <a:prstGeom prst="ellipse">
              <a:avLst/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56" name="1"/>
            <p:cNvSpPr txBox="1"/>
            <p:nvPr/>
          </p:nvSpPr>
          <p:spPr>
            <a:xfrm>
              <a:off x="88380" y="223319"/>
              <a:ext cx="426744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958" name="Rounded Rectangle 7"/>
          <p:cNvSpPr/>
          <p:nvPr/>
        </p:nvSpPr>
        <p:spPr>
          <a:xfrm>
            <a:off x="502919" y="2834639"/>
            <a:ext cx="2658619" cy="2103122"/>
          </a:xfrm>
          <a:prstGeom prst="roundRect">
            <a:avLst>
              <a:gd name="adj" fmla="val 10000"/>
            </a:avLst>
          </a:prstGeom>
          <a:solidFill>
            <a:srgbClr val="1025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TextBox 8"/>
          <p:cNvSpPr txBox="1"/>
          <p:nvPr/>
        </p:nvSpPr>
        <p:spPr>
          <a:xfrm>
            <a:off x="731520" y="3035807"/>
            <a:ext cx="2201418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Conceptual approval</a:t>
            </a:r>
          </a:p>
        </p:txBody>
      </p:sp>
      <p:sp>
        <p:nvSpPr>
          <p:cNvPr id="960" name="TextBox 9"/>
          <p:cNvSpPr txBox="1"/>
          <p:nvPr/>
        </p:nvSpPr>
        <p:spPr>
          <a:xfrm>
            <a:off x="731520" y="3703320"/>
            <a:ext cx="2201418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D2E0FB"/>
                </a:solidFill>
              </a:defRPr>
            </a:lvl1pPr>
          </a:lstStyle>
          <a:p>
            <a:pPr/>
            <a:r>
              <a:t>Sign-off on the offline PoC (Option 1).</a:t>
            </a:r>
          </a:p>
        </p:txBody>
      </p:sp>
      <p:grpSp>
        <p:nvGrpSpPr>
          <p:cNvPr id="963" name="Oval 10"/>
          <p:cNvGrpSpPr/>
          <p:nvPr/>
        </p:nvGrpSpPr>
        <p:grpSpPr>
          <a:xfrm>
            <a:off x="3499865" y="2029967"/>
            <a:ext cx="603505" cy="603505"/>
            <a:chOff x="0" y="0"/>
            <a:chExt cx="603504" cy="603504"/>
          </a:xfrm>
        </p:grpSpPr>
        <p:sp>
          <p:nvSpPr>
            <p:cNvPr id="961" name="Circle"/>
            <p:cNvSpPr/>
            <p:nvPr/>
          </p:nvSpPr>
          <p:spPr>
            <a:xfrm>
              <a:off x="-1" y="-1"/>
              <a:ext cx="603506" cy="603506"/>
            </a:xfrm>
            <a:prstGeom prst="ellipse">
              <a:avLst/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62" name="2"/>
            <p:cNvSpPr txBox="1"/>
            <p:nvPr/>
          </p:nvSpPr>
          <p:spPr>
            <a:xfrm>
              <a:off x="88380" y="223319"/>
              <a:ext cx="426744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964" name="Rounded Rectangle 11"/>
          <p:cNvSpPr/>
          <p:nvPr/>
        </p:nvSpPr>
        <p:spPr>
          <a:xfrm>
            <a:off x="3344417" y="2834639"/>
            <a:ext cx="2658619" cy="2103122"/>
          </a:xfrm>
          <a:prstGeom prst="roundRect">
            <a:avLst>
              <a:gd name="adj" fmla="val 10000"/>
            </a:avLst>
          </a:prstGeom>
          <a:solidFill>
            <a:srgbClr val="1025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5" name="TextBox 12"/>
          <p:cNvSpPr txBox="1"/>
          <p:nvPr/>
        </p:nvSpPr>
        <p:spPr>
          <a:xfrm>
            <a:off x="3573017" y="3035807"/>
            <a:ext cx="22014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1-month dataset</a:t>
            </a:r>
          </a:p>
        </p:txBody>
      </p:sp>
      <p:sp>
        <p:nvSpPr>
          <p:cNvPr id="966" name="TextBox 13"/>
          <p:cNvSpPr txBox="1"/>
          <p:nvPr/>
        </p:nvSpPr>
        <p:spPr>
          <a:xfrm>
            <a:off x="3573017" y="3703320"/>
            <a:ext cx="2201419" cy="313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D2E0FB"/>
                </a:solidFill>
              </a:defRPr>
            </a:lvl1pPr>
          </a:lstStyle>
          <a:p>
            <a:pPr/>
            <a:r>
              <a:t>Definition and delivery from CKBO, with a designated technical contact.</a:t>
            </a:r>
          </a:p>
        </p:txBody>
      </p:sp>
      <p:grpSp>
        <p:nvGrpSpPr>
          <p:cNvPr id="969" name="Oval 14"/>
          <p:cNvGrpSpPr/>
          <p:nvPr/>
        </p:nvGrpSpPr>
        <p:grpSpPr>
          <a:xfrm>
            <a:off x="6341364" y="2029967"/>
            <a:ext cx="603505" cy="603505"/>
            <a:chOff x="0" y="0"/>
            <a:chExt cx="603504" cy="603504"/>
          </a:xfrm>
        </p:grpSpPr>
        <p:sp>
          <p:nvSpPr>
            <p:cNvPr id="967" name="Circle"/>
            <p:cNvSpPr/>
            <p:nvPr/>
          </p:nvSpPr>
          <p:spPr>
            <a:xfrm>
              <a:off x="-1" y="-1"/>
              <a:ext cx="603506" cy="603506"/>
            </a:xfrm>
            <a:prstGeom prst="ellipse">
              <a:avLst/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68" name="3"/>
            <p:cNvSpPr txBox="1"/>
            <p:nvPr/>
          </p:nvSpPr>
          <p:spPr>
            <a:xfrm>
              <a:off x="88380" y="223319"/>
              <a:ext cx="426744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970" name="Rounded Rectangle 15"/>
          <p:cNvSpPr/>
          <p:nvPr/>
        </p:nvSpPr>
        <p:spPr>
          <a:xfrm>
            <a:off x="6185915" y="2834639"/>
            <a:ext cx="2658619" cy="2103122"/>
          </a:xfrm>
          <a:prstGeom prst="roundRect">
            <a:avLst>
              <a:gd name="adj" fmla="val 10000"/>
            </a:avLst>
          </a:prstGeom>
          <a:solidFill>
            <a:srgbClr val="1025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1" name="TextBox 16"/>
          <p:cNvSpPr txBox="1"/>
          <p:nvPr/>
        </p:nvSpPr>
        <p:spPr>
          <a:xfrm>
            <a:off x="6414515" y="3035807"/>
            <a:ext cx="22014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Pilot execution</a:t>
            </a:r>
          </a:p>
        </p:txBody>
      </p:sp>
      <p:sp>
        <p:nvSpPr>
          <p:cNvPr id="972" name="TextBox 17"/>
          <p:cNvSpPr txBox="1"/>
          <p:nvPr/>
        </p:nvSpPr>
        <p:spPr>
          <a:xfrm>
            <a:off x="6414515" y="3703320"/>
            <a:ext cx="2201419" cy="313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D2E0FB"/>
                </a:solidFill>
              </a:defRPr>
            </a:lvl1pPr>
          </a:lstStyle>
          <a:p>
            <a:pPr/>
            <a:r>
              <a:t>4–8 weeks (indicative) on the data received.</a:t>
            </a:r>
          </a:p>
        </p:txBody>
      </p:sp>
      <p:grpSp>
        <p:nvGrpSpPr>
          <p:cNvPr id="975" name="Oval 18"/>
          <p:cNvGrpSpPr/>
          <p:nvPr/>
        </p:nvGrpSpPr>
        <p:grpSpPr>
          <a:xfrm>
            <a:off x="9182861" y="2029967"/>
            <a:ext cx="603505" cy="603505"/>
            <a:chOff x="0" y="0"/>
            <a:chExt cx="603504" cy="603504"/>
          </a:xfrm>
        </p:grpSpPr>
        <p:sp>
          <p:nvSpPr>
            <p:cNvPr id="973" name="Circle"/>
            <p:cNvSpPr/>
            <p:nvPr/>
          </p:nvSpPr>
          <p:spPr>
            <a:xfrm>
              <a:off x="-1" y="-1"/>
              <a:ext cx="603506" cy="603506"/>
            </a:xfrm>
            <a:prstGeom prst="ellipse">
              <a:avLst/>
            </a:prstGeom>
            <a:solidFill>
              <a:srgbClr val="1265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4" name="4"/>
            <p:cNvSpPr txBox="1"/>
            <p:nvPr/>
          </p:nvSpPr>
          <p:spPr>
            <a:xfrm>
              <a:off x="88380" y="223319"/>
              <a:ext cx="426744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200">
                  <a:solidFill>
                    <a:srgbClr val="FFFFFF"/>
                  </a:solidFill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976" name="Rounded Rectangle 19"/>
          <p:cNvSpPr/>
          <p:nvPr/>
        </p:nvSpPr>
        <p:spPr>
          <a:xfrm>
            <a:off x="9027414" y="2834639"/>
            <a:ext cx="2658619" cy="2103122"/>
          </a:xfrm>
          <a:prstGeom prst="roundRect">
            <a:avLst>
              <a:gd name="adj" fmla="val 10000"/>
            </a:avLst>
          </a:prstGeom>
          <a:solidFill>
            <a:srgbClr val="10254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7" name="TextBox 20"/>
          <p:cNvSpPr txBox="1"/>
          <p:nvPr/>
        </p:nvSpPr>
        <p:spPr>
          <a:xfrm>
            <a:off x="9256014" y="3035807"/>
            <a:ext cx="2201419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Results + proposal</a:t>
            </a:r>
          </a:p>
        </p:txBody>
      </p:sp>
      <p:sp>
        <p:nvSpPr>
          <p:cNvPr id="978" name="TextBox 21"/>
          <p:cNvSpPr txBox="1"/>
          <p:nvPr/>
        </p:nvSpPr>
        <p:spPr>
          <a:xfrm>
            <a:off x="9256014" y="3703320"/>
            <a:ext cx="2201419" cy="489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8000"/>
              </a:lnSpc>
              <a:defRPr sz="1000">
                <a:solidFill>
                  <a:srgbClr val="D2E0FB"/>
                </a:solidFill>
              </a:defRPr>
            </a:lvl1pPr>
          </a:lstStyle>
          <a:p>
            <a:pPr/>
            <a:r>
              <a:t>Results presentation and deployment proposal (Option 2) with an indicative annual figure.</a:t>
            </a:r>
          </a:p>
        </p:txBody>
      </p:sp>
      <p:sp>
        <p:nvSpPr>
          <p:cNvPr id="979" name="Rounded Rectangle 22"/>
          <p:cNvSpPr/>
          <p:nvPr/>
        </p:nvSpPr>
        <p:spPr>
          <a:xfrm>
            <a:off x="502919" y="5212079"/>
            <a:ext cx="11183113" cy="868681"/>
          </a:xfrm>
          <a:prstGeom prst="roundRect">
            <a:avLst>
              <a:gd name="adj" fmla="val 10000"/>
            </a:avLst>
          </a:prstGeom>
          <a:solidFill>
            <a:srgbClr val="1265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0" name="TextBox 23"/>
          <p:cNvSpPr txBox="1"/>
          <p:nvPr/>
        </p:nvSpPr>
        <p:spPr>
          <a:xfrm>
            <a:off x="822960" y="5567987"/>
            <a:ext cx="105156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Timing opportunity:  </a:t>
            </a:r>
            <a:r>
              <a:rPr b="0"/>
              <a:t>the offline PoC can start immediately with this year's budget, while Option 2 is planned for next year's budget.</a:t>
            </a:r>
          </a:p>
        </p:txBody>
      </p:sp>
      <p:sp>
        <p:nvSpPr>
          <p:cNvPr id="981" name="TextBox 24"/>
          <p:cNvSpPr txBox="1"/>
          <p:nvPr/>
        </p:nvSpPr>
        <p:spPr>
          <a:xfrm>
            <a:off x="502919" y="6455664"/>
            <a:ext cx="7315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8FB0F5"/>
                </a:solidFill>
              </a:defRPr>
            </a:lvl1pPr>
          </a:lstStyle>
          <a:p>
            <a:pPr/>
            <a:r>
              <a:t>Movistar Service Intelligence Twin   ·   Commercial in Confidence</a:t>
            </a:r>
          </a:p>
        </p:txBody>
      </p:sp>
      <p:sp>
        <p:nvSpPr>
          <p:cNvPr id="982" name="TextBox 25"/>
          <p:cNvSpPr txBox="1"/>
          <p:nvPr/>
        </p:nvSpPr>
        <p:spPr>
          <a:xfrm>
            <a:off x="9875519" y="645566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8FB0F5"/>
                </a:solidFill>
              </a:defRPr>
            </a:lvl1pPr>
          </a:lstStyle>
          <a:p>
            <a:pPr/>
            <a:r>
              <a:t>Future Space SA   ·   N6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